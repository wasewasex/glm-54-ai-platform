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and thank you for joining us for the AI Platform Q3 2023 investor update. Before we dive in, one framing thought: this quarter's story is about accelerating growth while maintaining strong unit economics — we are growing faster than ever without letting efficiency slip. You can see a preview of that on screen: twelve point three million dollars of ARR, three hundred and forty-two customers, one hundred and forty-five percent net revenue retention, and eighteen months of runway. Here is the agenda for the next twenty minutes. First, progress — the key metrics that define the quarter. Second, strategy — how we are going to market and where the product is headed. Third, risks — what we are watching and how we mitigate it. And finally, the ask — the capital we are raising to accelerate this trajectory. Let's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quarter in one view: exceptional growth across all of our key metrics. Starting with revenue — twelve point three million dollars in ARR, up eighty-five percent year-over-year. In practical terms, revenue has nearly doubled compared to last year. Customer growth was just as strong: one hundred and twenty new enterprise customers joined the platform this quarter, and retention remains one of our structural advantages. On product, we launched three new AI modules, bringing the platform to twelve in total — that expanding roadmap is directly strengthening our competitive position and is a big reason win rates keep improving. And our market position now stands at number two in enterprise AI platforms with eighteen percent market share, while remaining the fastest-growing company in the segment. The line at the bottom says it all: we are accelerating AI adoption for enterprise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financial detail behind those headlines. Quarterly performance is accelerating: Q3 revenue was three point one million dollars, up twenty-two percent quarter-over-quarter — and as the trajectory chart shows, every quarter in the last two years has built on the last. ARR now stands at twelve point three million, up eighty-five percent year-over-year. Two things matter about the quality of this growth. First, gross margin is seventy-eight percent and stable — we are delivering healthy gross margins while still investing aggressively in sales and R&amp;D, so growth is not being bought with unprofitable revenue. Second, discipline on burn: we have eighteen months of runway at the current burn rate, and the milestone card on the right is the one I would highlight — we are on track to reach profitability by Q1 2025, and on the current trajectory, ahead of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customer metrics show we are expanding the enterprise base while retaining and growing it at the same time. Total customers reached three hundred and forty-two, up sixty-eight percent year-over-year, with one hundred and twenty new logos in the quarter alone. Enterprise customers grew even faster — one hundred and eighty-seven, up ninety-two percent — so enterprises are now the majority of our base. Average contract value climbed to sixty-five thousand dollars, up fifteen percent, as customers deploy more of the platform across their organizations. Retention is the foundation underneath: net revenue retention of one hundred and forty-five percent demonstrates the increasing value customers derive as their usage expands — on average, existing customers spend forty-five percent more with us each year. Churn fell to five point two percent, down from eight point one percent a year ago, and forty-five percent of total revenue now comes from expansion.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product engine behind these numbers — these innovations directly impact our value proposition. We launched three new modules this quarter: the Advanced NLP Processing Engine, Multi-Model AI Orchestration, and a Real-time Analytics Dashboard. Each addresses key customer needs we heard consistently across enterprise deals — deeper language understanding, the flexibility to route work across models, and live operational insight. Just as important are the platform-level improvements: our proprietary inference engine has cut compute costs by thirty percent, and API latency improved by forty percent. These performance gains enhance unit economics directly — every dollar of revenue now costs less to serve. We also expanded our security framework to FedRAMP compliance, which opens doors in regulated industries. And customers are noticing: a ninety-four percent satisfaction score and an average four point seven out of five rating on G2.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 opportunity in front of us is expanding rapidly. Enterprise AI platforms alone are on track to reach eighty-nine billion dollars by 2026, compounding at thirty-two percent a year, with AI professional services adding another forty-five billion. As enterprises accelerate AI adoption, they are consolidating around comprehensive, trusted platforms — and that is exactly where we play. We hold the number-two position in enterprise AI platforms with eighteen percent market share, and critically, our forty-five percent year-over-year growth means we are outpacing the market itself. In a crowded field, differentiation is durable: we offer the most comprehensive enterprise AI solution and the highest customer satisfaction in our segment. Scale plus satisfaction gives us a reinforcing advantage — the bigger we get, the better the product becomes, and the harder it is to displace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expanded sales and marketing aggressively this quarter to capture new opportunities — but importantly, we did it while improving efficiency, not at its expense. On the sales side, we grew the enterprise team by forty percent, entered two new verticals in Healthcare and Financial Services, and cut the average sales cycle by twenty-five percent, so more sellers are closing deals faster. On the marketing side, brand awareness is up sixty percent on share of voice, and marketing efficiency stands at a one-dollar-twenty CAC-to-LTV ratio, which validates that spend is disciplined. Channel partnerships are becoming an increasingly important part of our growth engine: fifteen new strategic partnerships signed this period, and channels now contribute thirty percent of revenue. The funnel you see on the left is healthy end to end — more leads, sharper qualification, and faster conversion into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roadmap balances near-term execution with a clear long-term vision. Over the next two quarters we will launch industry-specific AI solutions, expand into European markets, and complete a full overhaul of our API platform — deepening the core while opening new segments. Through the remainder of 2024 we take the next step: launching the AI marketplace, integrating our strategic acquisition target, and expanding internationally into APAC. The acquisition is deliberately sequenced to accelerate capabilities we would otherwise need years to build in-house. Long term, the ambition is singular: to become the definitive enterprise AI platform, with one hundred million dollars in ARR by 2026. Every initiative on this page ladders up to that goal — industry-specific solutions, global reach, and a continuously enhanced core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transparent about risk. We have identified the key risks facing the business, and each one is paired with a comprehensive mitigation. Market competition is our highest-impact risk, and we meet it by differentiating through industry-specific solutions rather than competing on breadth alone. Talent acquisition, regulatory changes, and technology obsolescence are rated medium; we are addressing them with expanded university partnerships and competitive compensation, a proactive compliance framework backed by a dedicated legal team, and continuous R&amp;D investment on a modular architecture. Economic downturn is our lowest-impact risk, thanks to a diversified customer base and flexible pricing models. This proactive approach to risk management positions the company to navigate challenges while maintaining our growth trajectory — risk awareness is built into how we operate, not bolted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we are seeking twenty-five million dollars in Series C capital to accelerate growth and solidify our market leadership. The allocation is deliberate — forty percent into product development, thirty-five percent into sales and marketing expansion, fifteen percent into international expansion, and ten percent into talent acquisition. This investment expands our product offerings and takes us into new markets, exactly where the roadmap demands capital. In return, we are targeting one hundred percent growth in ARR over the next eighteen months: reaching twenty-five million in ARR by the end of 2024, expanding past five hundred enterprise customers, and achieving profitability by the first quarter of 2025. We invite you to join us in shaping the future of enterprise AI, and we would welcome a follow-up discussion to explore how this partnership can create substantial returns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929063" y="-3071812"/>
            <a:ext cx="7000875" cy="7000875"/>
          </a:xfrm>
          <a:prstGeom prst="rect">
            <a:avLst/>
          </a:prstGeom>
        </p:spPr>
      </p:pic>
      <p:sp>
        <p:nvSpPr>
          <p:cNvPr id="3" name="Text 0"/>
          <p:cNvSpPr/>
          <p:nvPr/>
        </p:nvSpPr>
        <p:spPr>
          <a:xfrm>
            <a:off x="3929063" y="-3071812"/>
            <a:ext cx="7000875" cy="7000875"/>
          </a:xfrm>
          <a:prstGeom prst="ellipse">
            <a:avLst/>
          </a:prstGeom>
          <a:solidFill>
            <a:srgbClr val="8B5CF6">
              <a:alpha val="10000"/>
            </a:srgbClr>
          </a:solidFill>
          <a:ln/>
        </p:spPr>
        <p:txBody>
          <a:bodyPr wrap="square" rtlCol="0" anchor="ctr"/>
          <a:lstStyle/>
          <a:p>
            <a:pPr indent="0" marL="0">
              <a:buNone/>
            </a:pPr>
            <a:endParaRPr lang="en-US" dirty="0"/>
          </a:p>
        </p:txBody>
      </p:sp>
      <p:pic>
        <p:nvPicPr>
          <p:cNvPr id="4" name="Image 1" descr="preencoded.png">    </p:cNvPr>
          <p:cNvPicPr>
            <a:picLocks noChangeAspect="1"/>
          </p:cNvPicPr>
          <p:nvPr/>
        </p:nvPicPr>
        <p:blipFill>
          <a:blip r:embed="rId2"/>
          <a:stretch>
            <a:fillRect/>
          </a:stretch>
        </p:blipFill>
        <p:spPr>
          <a:xfrm>
            <a:off x="-2286000" y="2571750"/>
            <a:ext cx="5429250" cy="5429250"/>
          </a:xfrm>
          <a:prstGeom prst="rect">
            <a:avLst/>
          </a:prstGeom>
        </p:spPr>
      </p:pic>
      <p:sp>
        <p:nvSpPr>
          <p:cNvPr id="5" name="Text 1"/>
          <p:cNvSpPr/>
          <p:nvPr/>
        </p:nvSpPr>
        <p:spPr>
          <a:xfrm>
            <a:off x="-2286000" y="2571750"/>
            <a:ext cx="5429250" cy="5429250"/>
          </a:xfrm>
          <a:prstGeom prst="ellipse">
            <a:avLst/>
          </a:prstGeom>
          <a:solidFill>
            <a:srgbClr val="FFFFFF">
              <a:alpha val="0"/>
            </a:srgbClr>
          </a:solidFill>
          <a:ln/>
        </p:spPr>
        <p:txBody>
          <a:bodyPr wrap="square" rtlCol="0" anchor="ctr"/>
          <a:lstStyle/>
          <a:p>
            <a:pPr indent="0" marL="0">
              <a:buNone/>
            </a:pPr>
            <a:endParaRPr lang="en-US" dirty="0"/>
          </a:p>
        </p:txBody>
      </p:sp>
      <p:sp>
        <p:nvSpPr>
          <p:cNvPr id="6" name="Text 2"/>
          <p:cNvSpPr/>
          <p:nvPr/>
        </p:nvSpPr>
        <p:spPr>
          <a:xfrm>
            <a:off x="4999025" y="-371475"/>
            <a:ext cx="4144975" cy="2468880"/>
          </a:xfrm>
          <a:prstGeom prst="rect">
            <a:avLst/>
          </a:prstGeom>
          <a:noFill/>
          <a:ln/>
        </p:spPr>
        <p:txBody>
          <a:bodyPr wrap="none" lIns="0" tIns="0" rIns="0" bIns="0" rtlCol="0" anchor="t"/>
          <a:lstStyle/>
          <a:p>
            <a:pPr algn="l" indent="0" marL="0">
              <a:lnSpc>
                <a:spcPts val="18000"/>
              </a:lnSpc>
              <a:buNone/>
            </a:pPr>
            <a:r>
              <a:rPr lang="en-US" sz="18000" b="1" spc="-720" kern="0" dirty="0">
                <a:solidFill>
                  <a:srgbClr val="FFFFFF">
                    <a:alpha val="0"/>
                  </a:srgbClr>
                </a:solidFill>
                <a:latin typeface="Liberation Sans Narrow" pitchFamily="34" charset="0"/>
                <a:ea typeface="Liberation Sans Narrow" pitchFamily="34" charset="-122"/>
                <a:cs typeface="Liberation Sans Narrow" pitchFamily="34" charset="-120"/>
              </a:rPr>
              <a:t>Q3</a:t>
            </a:r>
            <a:endParaRPr lang="en-US" sz="18000" dirty="0"/>
          </a:p>
        </p:txBody>
      </p:sp>
      <p:pic>
        <p:nvPicPr>
          <p:cNvPr id="7" name="Image 2" descr="preencoded.png">    </p:cNvPr>
          <p:cNvPicPr>
            <a:picLocks noChangeAspect="1"/>
          </p:cNvPicPr>
          <p:nvPr/>
        </p:nvPicPr>
        <p:blipFill>
          <a:blip r:embed="rId3"/>
          <a:stretch>
            <a:fillRect/>
          </a:stretch>
        </p:blipFill>
        <p:spPr>
          <a:xfrm>
            <a:off x="0" y="0"/>
            <a:ext cx="35719" cy="5143500"/>
          </a:xfrm>
          <a:prstGeom prst="rect">
            <a:avLst/>
          </a:prstGeom>
        </p:spPr>
      </p:pic>
      <p:sp>
        <p:nvSpPr>
          <p:cNvPr id="8" name="Shape 3"/>
          <p:cNvSpPr/>
          <p:nvPr/>
        </p:nvSpPr>
        <p:spPr>
          <a:xfrm>
            <a:off x="2452092" y="4188023"/>
            <a:ext cx="0" cy="171450"/>
          </a:xfrm>
          <a:prstGeom prst="line">
            <a:avLst/>
          </a:prstGeom>
          <a:noFill/>
          <a:ln w="7144">
            <a:solidFill>
              <a:srgbClr val="A7B0CE"/>
            </a:solidFill>
            <a:prstDash val="solid"/>
          </a:ln>
        </p:spPr>
      </p:sp>
      <p:sp>
        <p:nvSpPr>
          <p:cNvPr id="9" name="Shape 4"/>
          <p:cNvSpPr/>
          <p:nvPr/>
        </p:nvSpPr>
        <p:spPr>
          <a:xfrm>
            <a:off x="4493419" y="4188023"/>
            <a:ext cx="0" cy="171450"/>
          </a:xfrm>
          <a:prstGeom prst="line">
            <a:avLst/>
          </a:prstGeom>
          <a:noFill/>
          <a:ln w="7144">
            <a:solidFill>
              <a:srgbClr val="A7B0CE"/>
            </a:solidFill>
            <a:prstDash val="solid"/>
          </a:ln>
        </p:spPr>
      </p:sp>
      <p:sp>
        <p:nvSpPr>
          <p:cNvPr id="10" name="Shape 5"/>
          <p:cNvSpPr/>
          <p:nvPr/>
        </p:nvSpPr>
        <p:spPr>
          <a:xfrm>
            <a:off x="6534745" y="4188023"/>
            <a:ext cx="0" cy="171450"/>
          </a:xfrm>
          <a:prstGeom prst="line">
            <a:avLst/>
          </a:prstGeom>
          <a:noFill/>
          <a:ln w="7144">
            <a:solidFill>
              <a:srgbClr val="A7B0CE"/>
            </a:solidFill>
            <a:prstDash val="solid"/>
          </a:ln>
        </p:spPr>
      </p:sp>
      <p:sp>
        <p:nvSpPr>
          <p:cNvPr id="11" name="Text 6"/>
          <p:cNvSpPr/>
          <p:nvPr/>
        </p:nvSpPr>
        <p:spPr>
          <a:xfrm>
            <a:off x="571500" y="485775"/>
            <a:ext cx="71438" cy="71438"/>
          </a:xfrm>
          <a:prstGeom prst="roundRect">
            <a:avLst>
              <a:gd name="adj" fmla="val 40000"/>
            </a:avLst>
          </a:prstGeom>
          <a:solidFill>
            <a:srgbClr val="8B5CF6"/>
          </a:solidFill>
          <a:ln/>
        </p:spPr>
        <p:txBody>
          <a:bodyPr wrap="square" rtlCol="0" anchor="ctr"/>
          <a:lstStyle/>
          <a:p>
            <a:pPr indent="0" marL="0">
              <a:buNone/>
            </a:pPr>
            <a:endParaRPr lang="en-US" dirty="0"/>
          </a:p>
        </p:txBody>
      </p:sp>
      <p:sp>
        <p:nvSpPr>
          <p:cNvPr id="12" name="Text 7"/>
          <p:cNvSpPr/>
          <p:nvPr/>
        </p:nvSpPr>
        <p:spPr>
          <a:xfrm>
            <a:off x="742950" y="457200"/>
            <a:ext cx="7829550" cy="164592"/>
          </a:xfrm>
          <a:prstGeom prst="rect">
            <a:avLst/>
          </a:prstGeom>
          <a:noFill/>
          <a:ln/>
        </p:spPr>
        <p:txBody>
          <a:bodyPr wrap="none" lIns="0" tIns="0" rIns="0" bIns="0" rtlCol="0" anchor="t"/>
          <a:lstStyle/>
          <a:p>
            <a:pPr algn="l" indent="0" marL="0">
              <a:lnSpc>
                <a:spcPts val="1013"/>
              </a:lnSpc>
              <a:buNone/>
            </a:pPr>
            <a:r>
              <a:rPr lang="en-US" sz="800" spc="149" kern="0" dirty="0">
                <a:solidFill>
                  <a:srgbClr val="8B5CF6"/>
                </a:solidFill>
                <a:latin typeface="Liberation Sans Narrow" pitchFamily="34" charset="0"/>
                <a:ea typeface="Liberation Sans Narrow" pitchFamily="34" charset="-122"/>
                <a:cs typeface="Liberation Sans Narrow" pitchFamily="34" charset="-120"/>
              </a:rPr>
              <a:t>Q3 2023 INVESTOR UPDATE</a:t>
            </a:r>
            <a:endParaRPr lang="en-US" sz="800" dirty="0"/>
          </a:p>
        </p:txBody>
      </p:sp>
      <p:sp>
        <p:nvSpPr>
          <p:cNvPr id="13" name="Text 8"/>
          <p:cNvSpPr/>
          <p:nvPr/>
        </p:nvSpPr>
        <p:spPr>
          <a:xfrm>
            <a:off x="571500" y="1000125"/>
            <a:ext cx="542925" cy="21431"/>
          </a:xfrm>
          <a:prstGeom prst="roundRect">
            <a:avLst>
              <a:gd name="adj" fmla="val 88890"/>
            </a:avLst>
          </a:prstGeom>
          <a:solidFill>
            <a:srgbClr val="8B5CF6"/>
          </a:solidFill>
          <a:ln/>
        </p:spPr>
        <p:txBody>
          <a:bodyPr wrap="square" rtlCol="0" anchor="ctr"/>
          <a:lstStyle/>
          <a:p>
            <a:pPr indent="0" marL="0">
              <a:buNone/>
            </a:pPr>
            <a:endParaRPr lang="en-US" dirty="0"/>
          </a:p>
        </p:txBody>
      </p:sp>
      <p:sp>
        <p:nvSpPr>
          <p:cNvPr id="14" name="Text 9"/>
          <p:cNvSpPr/>
          <p:nvPr/>
        </p:nvSpPr>
        <p:spPr>
          <a:xfrm>
            <a:off x="571500" y="1207294"/>
            <a:ext cx="8572500" cy="780566"/>
          </a:xfrm>
          <a:prstGeom prst="rect">
            <a:avLst/>
          </a:prstGeom>
          <a:noFill/>
          <a:ln/>
        </p:spPr>
        <p:txBody>
          <a:bodyPr wrap="none" lIns="0" tIns="0" rIns="0" bIns="0" rtlCol="0" anchor="t"/>
          <a:lstStyle/>
          <a:p>
            <a:pPr algn="l" indent="0" marL="0">
              <a:lnSpc>
                <a:spcPts val="5692"/>
              </a:lnSpc>
              <a:buNone/>
            </a:pPr>
            <a:r>
              <a:rPr lang="en-US" sz="5580" b="1" spc="-195" kern="0" dirty="0">
                <a:solidFill>
                  <a:srgbClr val="EDEFF9"/>
                </a:solidFill>
                <a:latin typeface="Carlito" pitchFamily="34" charset="0"/>
                <a:ea typeface="Carlito" pitchFamily="34" charset="-122"/>
                <a:cs typeface="Carlito" pitchFamily="34" charset="-120"/>
              </a:rPr>
              <a:t>AI Platform</a:t>
            </a:r>
            <a:pPr algn="l" indent="0" marL="0">
              <a:lnSpc>
                <a:spcPts val="5692"/>
              </a:lnSpc>
              <a:buNone/>
            </a:pPr>
            <a:r>
              <a:rPr lang="en-US" sz="5580" b="1" spc="-195" kern="0" dirty="0">
                <a:solidFill>
                  <a:srgbClr val="8B5CF6"/>
                </a:solidFill>
                <a:latin typeface="Carlito" pitchFamily="34" charset="0"/>
                <a:ea typeface="Carlito" pitchFamily="34" charset="-122"/>
                <a:cs typeface="Carlito" pitchFamily="34" charset="-120"/>
              </a:rPr>
              <a:t>.</a:t>
            </a:r>
            <a:endParaRPr lang="en-US" sz="5580" dirty="0"/>
          </a:p>
        </p:txBody>
      </p:sp>
      <p:sp>
        <p:nvSpPr>
          <p:cNvPr id="15" name="Text 10"/>
          <p:cNvSpPr/>
          <p:nvPr/>
        </p:nvSpPr>
        <p:spPr>
          <a:xfrm>
            <a:off x="571500" y="2058628"/>
            <a:ext cx="8001000" cy="300895"/>
          </a:xfrm>
          <a:prstGeom prst="rect">
            <a:avLst/>
          </a:prstGeom>
          <a:noFill/>
          <a:ln/>
        </p:spPr>
        <p:txBody>
          <a:bodyPr wrap="square" lIns="0" tIns="0" rIns="0" bIns="0" rtlCol="0" anchor="t"/>
          <a:lstStyle/>
          <a:p>
            <a:pPr algn="l" indent="0" marL="0">
              <a:lnSpc>
                <a:spcPts val="2194"/>
              </a:lnSpc>
              <a:buNone/>
            </a:pPr>
            <a:r>
              <a:rPr lang="en-US" sz="1463" spc="7" kern="0" dirty="0">
                <a:solidFill>
                  <a:srgbClr val="A7B0CE"/>
                </a:solidFill>
                <a:latin typeface="Carlito" pitchFamily="34" charset="0"/>
                <a:ea typeface="Carlito" pitchFamily="34" charset="-122"/>
                <a:cs typeface="Carlito" pitchFamily="34" charset="-120"/>
              </a:rPr>
              <a:t>Accelerating AI adoption for enterprise customers</a:t>
            </a:r>
            <a:endParaRPr lang="en-US" sz="1463" dirty="0"/>
          </a:p>
        </p:txBody>
      </p:sp>
      <p:sp>
        <p:nvSpPr>
          <p:cNvPr id="16" name="Text 11"/>
          <p:cNvSpPr/>
          <p:nvPr/>
        </p:nvSpPr>
        <p:spPr>
          <a:xfrm>
            <a:off x="575072" y="2712281"/>
            <a:ext cx="1119671" cy="573286"/>
          </a:xfrm>
          <a:prstGeom prst="roundRect">
            <a:avLst>
              <a:gd name="adj" fmla="val 19938"/>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17" name="Text 12"/>
          <p:cNvSpPr/>
          <p:nvPr/>
        </p:nvSpPr>
        <p:spPr>
          <a:xfrm>
            <a:off x="669105" y="2815865"/>
            <a:ext cx="931605" cy="219885"/>
          </a:xfrm>
          <a:prstGeom prst="rect">
            <a:avLst/>
          </a:prstGeom>
          <a:noFill/>
          <a:ln/>
        </p:spPr>
        <p:txBody>
          <a:bodyPr wrap="none" lIns="0" tIns="0" rIns="0" bIns="0" rtlCol="0" anchor="t"/>
          <a:lstStyle/>
          <a:p>
            <a:pPr algn="l" indent="0" marL="0">
              <a:lnSpc>
                <a:spcPts val="1603"/>
              </a:lnSpc>
              <a:buNone/>
            </a:pPr>
            <a:r>
              <a:rPr lang="en-US" sz="1069" dirty="0">
                <a:solidFill>
                  <a:srgbClr val="EDEFF9"/>
                </a:solidFill>
                <a:latin typeface="Liberation Sans Narrow" pitchFamily="34" charset="0"/>
                <a:ea typeface="Liberation Sans Narrow" pitchFamily="34" charset="-122"/>
                <a:cs typeface="Liberation Sans Narrow" pitchFamily="34" charset="-120"/>
              </a:rPr>
              <a:t>$12.3M ARR</a:t>
            </a:r>
            <a:endParaRPr lang="en-US" sz="1069" dirty="0"/>
          </a:p>
        </p:txBody>
      </p:sp>
      <p:sp>
        <p:nvSpPr>
          <p:cNvPr id="18" name="Text 13"/>
          <p:cNvSpPr/>
          <p:nvPr/>
        </p:nvSpPr>
        <p:spPr>
          <a:xfrm>
            <a:off x="833845" y="3076612"/>
            <a:ext cx="730712" cy="105370"/>
          </a:xfrm>
          <a:prstGeom prst="rect">
            <a:avLst/>
          </a:prstGeom>
          <a:noFill/>
          <a:ln/>
        </p:spPr>
        <p:txBody>
          <a:bodyPr wrap="none" lIns="0" tIns="0" rIns="0" bIns="0" rtlCol="0" anchor="t"/>
          <a:lstStyle/>
          <a:p>
            <a:pPr algn="l" indent="0" marL="0">
              <a:lnSpc>
                <a:spcPts val="886"/>
              </a:lnSpc>
              <a:buNone/>
            </a:pPr>
            <a:r>
              <a:rPr lang="en-US" sz="600" spc="53" kern="0" dirty="0">
                <a:solidFill>
                  <a:srgbClr val="A7B0CE"/>
                </a:solidFill>
                <a:latin typeface="Liberation Sans Narrow" pitchFamily="34" charset="0"/>
                <a:ea typeface="Liberation Sans Narrow" pitchFamily="34" charset="-122"/>
                <a:cs typeface="Liberation Sans Narrow" pitchFamily="34" charset="-120"/>
              </a:rPr>
              <a:t>85% YOY GROWTH</a:t>
            </a:r>
            <a:endParaRPr lang="en-US" sz="600" dirty="0"/>
          </a:p>
        </p:txBody>
      </p:sp>
      <p:sp>
        <p:nvSpPr>
          <p:cNvPr id="19" name="Text 14"/>
          <p:cNvSpPr/>
          <p:nvPr/>
        </p:nvSpPr>
        <p:spPr>
          <a:xfrm>
            <a:off x="707231" y="3079291"/>
            <a:ext cx="92869" cy="92869"/>
          </a:xfrm>
          <a:prstGeom prst="rect">
            <a:avLst/>
          </a:prstGeom>
          <a:noFill/>
          <a:ln/>
        </p:spPr>
        <p:txBody>
          <a:bodyPr wrap="none" lIns="0" tIns="0" rIns="0" bIns="0" rtlCol="0" anchor="ctr"/>
          <a:lstStyle/>
          <a:p>
            <a:pPr algn="ctr" indent="0" marL="0">
              <a:buNone/>
            </a:pPr>
            <a:r>
              <a:rPr lang="en-US" sz="914" dirty="0">
                <a:solidFill>
                  <a:srgbClr val="A7B0CE"/>
                </a:solidFill>
                <a:latin typeface="Segoe UI Symbol" pitchFamily="34" charset="0"/>
                <a:ea typeface="Segoe UI Symbol" pitchFamily="34" charset="-122"/>
                <a:cs typeface="Segoe UI Symbol" pitchFamily="34" charset="-120"/>
              </a:rPr>
              <a:t>↗</a:t>
            </a:r>
            <a:endParaRPr lang="en-US" sz="914" dirty="0"/>
          </a:p>
        </p:txBody>
      </p:sp>
      <p:sp>
        <p:nvSpPr>
          <p:cNvPr id="20" name="Text 15"/>
          <p:cNvSpPr/>
          <p:nvPr/>
        </p:nvSpPr>
        <p:spPr>
          <a:xfrm>
            <a:off x="1801899" y="2712281"/>
            <a:ext cx="1326728" cy="573286"/>
          </a:xfrm>
          <a:prstGeom prst="roundRect">
            <a:avLst>
              <a:gd name="adj" fmla="val 19938"/>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21" name="Text 16"/>
          <p:cNvSpPr/>
          <p:nvPr/>
        </p:nvSpPr>
        <p:spPr>
          <a:xfrm>
            <a:off x="1895355" y="2815865"/>
            <a:ext cx="1139817" cy="219885"/>
          </a:xfrm>
          <a:prstGeom prst="rect">
            <a:avLst/>
          </a:prstGeom>
          <a:noFill/>
          <a:ln/>
        </p:spPr>
        <p:txBody>
          <a:bodyPr wrap="none" lIns="0" tIns="0" rIns="0" bIns="0" rtlCol="0" anchor="t"/>
          <a:lstStyle/>
          <a:p>
            <a:pPr algn="l" indent="0" marL="0">
              <a:lnSpc>
                <a:spcPts val="1603"/>
              </a:lnSpc>
              <a:buNone/>
            </a:pPr>
            <a:r>
              <a:rPr lang="en-US" sz="1069" dirty="0">
                <a:solidFill>
                  <a:srgbClr val="EDEFF9"/>
                </a:solidFill>
                <a:latin typeface="Liberation Sans Narrow" pitchFamily="34" charset="0"/>
                <a:ea typeface="Liberation Sans Narrow" pitchFamily="34" charset="-122"/>
                <a:cs typeface="Liberation Sans Narrow" pitchFamily="34" charset="-120"/>
              </a:rPr>
              <a:t>342 customers</a:t>
            </a:r>
            <a:endParaRPr lang="en-US" sz="1069" dirty="0"/>
          </a:p>
        </p:txBody>
      </p:sp>
      <p:sp>
        <p:nvSpPr>
          <p:cNvPr id="22" name="Text 17"/>
          <p:cNvSpPr/>
          <p:nvPr/>
        </p:nvSpPr>
        <p:spPr>
          <a:xfrm>
            <a:off x="2062646" y="3076612"/>
            <a:ext cx="683432" cy="105370"/>
          </a:xfrm>
          <a:prstGeom prst="rect">
            <a:avLst/>
          </a:prstGeom>
          <a:noFill/>
          <a:ln/>
        </p:spPr>
        <p:txBody>
          <a:bodyPr wrap="none" lIns="0" tIns="0" rIns="0" bIns="0" rtlCol="0" anchor="t"/>
          <a:lstStyle/>
          <a:p>
            <a:pPr algn="l" indent="0" marL="0">
              <a:lnSpc>
                <a:spcPts val="886"/>
              </a:lnSpc>
              <a:buNone/>
            </a:pPr>
            <a:r>
              <a:rPr lang="en-US" sz="800" spc="53" kern="0" dirty="0">
                <a:solidFill>
                  <a:srgbClr val="A7B0CE"/>
                </a:solidFill>
                <a:latin typeface="Liberation Sans Narrow" pitchFamily="34" charset="0"/>
                <a:ea typeface="Liberation Sans Narrow" pitchFamily="34" charset="-122"/>
                <a:cs typeface="Liberation Sans Narrow" pitchFamily="34" charset="-120"/>
              </a:rPr>
              <a:t>UP 68% YOY</a:t>
            </a:r>
            <a:endParaRPr lang="en-US" sz="800" dirty="0"/>
          </a:p>
        </p:txBody>
      </p:sp>
      <p:sp>
        <p:nvSpPr>
          <p:cNvPr id="23" name="Text 18"/>
          <p:cNvSpPr/>
          <p:nvPr/>
        </p:nvSpPr>
        <p:spPr>
          <a:xfrm>
            <a:off x="1934059" y="3079291"/>
            <a:ext cx="92869" cy="92869"/>
          </a:xfrm>
          <a:prstGeom prst="rect">
            <a:avLst/>
          </a:prstGeom>
          <a:noFill/>
          <a:ln/>
        </p:spPr>
        <p:txBody>
          <a:bodyPr wrap="none" lIns="0" tIns="0" rIns="0" bIns="0" rtlCol="0" anchor="ctr"/>
          <a:lstStyle/>
          <a:p>
            <a:pPr algn="ctr" indent="0" marL="0">
              <a:buNone/>
            </a:pPr>
            <a:r>
              <a:rPr lang="en-US" sz="914" dirty="0">
                <a:solidFill>
                  <a:srgbClr val="A7B0CE"/>
                </a:solidFill>
                <a:latin typeface="Segoe UI Symbol" pitchFamily="34" charset="0"/>
                <a:ea typeface="Segoe UI Symbol" pitchFamily="34" charset="-122"/>
                <a:cs typeface="Segoe UI Symbol" pitchFamily="34" charset="-120"/>
              </a:rPr>
              <a:t>↗</a:t>
            </a:r>
            <a:endParaRPr lang="en-US" sz="914" dirty="0"/>
          </a:p>
        </p:txBody>
      </p:sp>
      <p:sp>
        <p:nvSpPr>
          <p:cNvPr id="24" name="Text 19"/>
          <p:cNvSpPr/>
          <p:nvPr/>
        </p:nvSpPr>
        <p:spPr>
          <a:xfrm>
            <a:off x="3235784" y="2712281"/>
            <a:ext cx="1354522" cy="573286"/>
          </a:xfrm>
          <a:prstGeom prst="roundRect">
            <a:avLst>
              <a:gd name="adj" fmla="val 19938"/>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25" name="Text 20"/>
          <p:cNvSpPr/>
          <p:nvPr/>
        </p:nvSpPr>
        <p:spPr>
          <a:xfrm>
            <a:off x="3367943" y="2815865"/>
            <a:ext cx="1090203" cy="219885"/>
          </a:xfrm>
          <a:prstGeom prst="rect">
            <a:avLst/>
          </a:prstGeom>
          <a:noFill/>
          <a:ln/>
        </p:spPr>
        <p:txBody>
          <a:bodyPr wrap="none" lIns="0" tIns="0" rIns="0" bIns="0" rtlCol="0" anchor="t"/>
          <a:lstStyle/>
          <a:p>
            <a:pPr algn="l" indent="0" marL="0">
              <a:lnSpc>
                <a:spcPts val="1603"/>
              </a:lnSpc>
              <a:buNone/>
            </a:pPr>
            <a:r>
              <a:rPr lang="en-US" sz="1069" dirty="0">
                <a:solidFill>
                  <a:srgbClr val="EDEFF9"/>
                </a:solidFill>
                <a:latin typeface="Liberation Sans Narrow" pitchFamily="34" charset="0"/>
                <a:ea typeface="Liberation Sans Narrow" pitchFamily="34" charset="-122"/>
                <a:cs typeface="Liberation Sans Narrow" pitchFamily="34" charset="-120"/>
              </a:rPr>
              <a:t>145% NRR</a:t>
            </a:r>
            <a:endParaRPr lang="en-US" sz="1069" dirty="0"/>
          </a:p>
        </p:txBody>
      </p:sp>
      <p:sp>
        <p:nvSpPr>
          <p:cNvPr id="26" name="Text 21"/>
          <p:cNvSpPr/>
          <p:nvPr/>
        </p:nvSpPr>
        <p:spPr>
          <a:xfrm>
            <a:off x="3367943" y="3069468"/>
            <a:ext cx="1090203" cy="112514"/>
          </a:xfrm>
          <a:prstGeom prst="rect">
            <a:avLst/>
          </a:prstGeom>
          <a:noFill/>
          <a:ln/>
        </p:spPr>
        <p:txBody>
          <a:bodyPr wrap="none" lIns="0" tIns="0" rIns="0" bIns="0" rtlCol="0" anchor="t"/>
          <a:lstStyle/>
          <a:p>
            <a:pPr algn="l" indent="0" marL="0">
              <a:lnSpc>
                <a:spcPts val="886"/>
              </a:lnSpc>
              <a:buNone/>
            </a:pPr>
            <a:r>
              <a:rPr lang="en-US" sz="600" spc="53" kern="0" dirty="0">
                <a:solidFill>
                  <a:srgbClr val="A7B0CE"/>
                </a:solidFill>
                <a:latin typeface="Courier New" pitchFamily="34" charset="0"/>
                <a:ea typeface="Courier New" pitchFamily="34" charset="-122"/>
                <a:cs typeface="Courier New" pitchFamily="34" charset="-120"/>
              </a:rPr>
              <a:t>NET REVENUE RETENTION</a:t>
            </a:r>
            <a:endParaRPr lang="en-US" sz="600" dirty="0"/>
          </a:p>
        </p:txBody>
      </p:sp>
      <p:sp>
        <p:nvSpPr>
          <p:cNvPr id="27" name="Text 22"/>
          <p:cNvSpPr/>
          <p:nvPr/>
        </p:nvSpPr>
        <p:spPr>
          <a:xfrm>
            <a:off x="4697462" y="2712281"/>
            <a:ext cx="1245022" cy="573286"/>
          </a:xfrm>
          <a:prstGeom prst="roundRect">
            <a:avLst>
              <a:gd name="adj" fmla="val 19938"/>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28" name="Text 23"/>
          <p:cNvSpPr/>
          <p:nvPr/>
        </p:nvSpPr>
        <p:spPr>
          <a:xfrm>
            <a:off x="4818935" y="2815865"/>
            <a:ext cx="1002077" cy="219885"/>
          </a:xfrm>
          <a:prstGeom prst="rect">
            <a:avLst/>
          </a:prstGeom>
          <a:noFill/>
          <a:ln/>
        </p:spPr>
        <p:txBody>
          <a:bodyPr wrap="none" lIns="0" tIns="0" rIns="0" bIns="0" rtlCol="0" anchor="t"/>
          <a:lstStyle/>
          <a:p>
            <a:pPr algn="l" indent="0" marL="0">
              <a:lnSpc>
                <a:spcPts val="1603"/>
              </a:lnSpc>
              <a:buNone/>
            </a:pPr>
            <a:r>
              <a:rPr lang="en-US" sz="1069" dirty="0">
                <a:solidFill>
                  <a:srgbClr val="EDEFF9"/>
                </a:solidFill>
                <a:latin typeface="Liberation Sans Narrow" pitchFamily="34" charset="0"/>
                <a:ea typeface="Liberation Sans Narrow" pitchFamily="34" charset="-122"/>
                <a:cs typeface="Liberation Sans Narrow" pitchFamily="34" charset="-120"/>
              </a:rPr>
              <a:t>18 mo runway</a:t>
            </a:r>
            <a:endParaRPr lang="en-US" sz="1069" dirty="0"/>
          </a:p>
        </p:txBody>
      </p:sp>
      <p:sp>
        <p:nvSpPr>
          <p:cNvPr id="29" name="Text 24"/>
          <p:cNvSpPr/>
          <p:nvPr/>
        </p:nvSpPr>
        <p:spPr>
          <a:xfrm>
            <a:off x="4829621" y="3069468"/>
            <a:ext cx="980703" cy="112514"/>
          </a:xfrm>
          <a:prstGeom prst="rect">
            <a:avLst/>
          </a:prstGeom>
          <a:noFill/>
          <a:ln/>
        </p:spPr>
        <p:txBody>
          <a:bodyPr wrap="none" lIns="0" tIns="0" rIns="0" bIns="0" rtlCol="0" anchor="t"/>
          <a:lstStyle/>
          <a:p>
            <a:pPr algn="l" indent="0" marL="0">
              <a:lnSpc>
                <a:spcPts val="886"/>
              </a:lnSpc>
              <a:buNone/>
            </a:pPr>
            <a:r>
              <a:rPr lang="en-US" sz="600" spc="53" kern="0" dirty="0">
                <a:solidFill>
                  <a:srgbClr val="A7B0CE"/>
                </a:solidFill>
                <a:latin typeface="Courier New" pitchFamily="34" charset="0"/>
                <a:ea typeface="Courier New" pitchFamily="34" charset="-122"/>
                <a:cs typeface="Courier New" pitchFamily="34" charset="-120"/>
              </a:rPr>
              <a:t>AT CURRENT BURN</a:t>
            </a:r>
            <a:endParaRPr lang="en-US" sz="600" dirty="0"/>
          </a:p>
        </p:txBody>
      </p:sp>
      <p:sp>
        <p:nvSpPr>
          <p:cNvPr id="30" name="Text 25"/>
          <p:cNvSpPr/>
          <p:nvPr/>
        </p:nvSpPr>
        <p:spPr>
          <a:xfrm>
            <a:off x="571500" y="3961209"/>
            <a:ext cx="533731" cy="164592"/>
          </a:xfrm>
          <a:prstGeom prst="rect">
            <a:avLst/>
          </a:prstGeom>
          <a:noFill/>
          <a:ln/>
        </p:spPr>
        <p:txBody>
          <a:bodyPr wrap="none" lIns="0" tIns="0" rIns="0" bIns="0" rtlCol="0" anchor="t"/>
          <a:lstStyle/>
          <a:p>
            <a:pPr algn="l" indent="0" marL="0">
              <a:lnSpc>
                <a:spcPts val="886"/>
              </a:lnSpc>
              <a:buNone/>
            </a:pPr>
            <a:r>
              <a:rPr lang="en-US" sz="800" spc="130" kern="0" dirty="0">
                <a:solidFill>
                  <a:srgbClr val="A7B0CE"/>
                </a:solidFill>
                <a:latin typeface="Courier New" pitchFamily="34" charset="0"/>
                <a:ea typeface="Courier New" pitchFamily="34" charset="-122"/>
                <a:cs typeface="Courier New" pitchFamily="34" charset="-120"/>
              </a:rPr>
              <a:t>AGENDA</a:t>
            </a:r>
            <a:endParaRPr lang="en-US" sz="800" dirty="0"/>
          </a:p>
        </p:txBody>
      </p:sp>
      <p:sp>
        <p:nvSpPr>
          <p:cNvPr id="31" name="Text 26"/>
          <p:cNvSpPr/>
          <p:nvPr/>
        </p:nvSpPr>
        <p:spPr>
          <a:xfrm>
            <a:off x="1041536" y="4013895"/>
            <a:ext cx="7530964" cy="7144"/>
          </a:xfrm>
          <a:prstGeom prst="rect">
            <a:avLst/>
          </a:prstGeom>
          <a:solidFill>
            <a:srgbClr val="A7B0CE">
              <a:alpha val="18000"/>
            </a:srgbClr>
          </a:solidFill>
          <a:ln/>
        </p:spPr>
        <p:txBody>
          <a:bodyPr wrap="square" rtlCol="0" anchor="ctr"/>
          <a:lstStyle/>
          <a:p>
            <a:pPr indent="0" marL="0">
              <a:buNone/>
            </a:pPr>
            <a:endParaRPr lang="en-US" dirty="0"/>
          </a:p>
        </p:txBody>
      </p:sp>
      <p:sp>
        <p:nvSpPr>
          <p:cNvPr id="32" name="Text 27"/>
          <p:cNvSpPr/>
          <p:nvPr/>
        </p:nvSpPr>
        <p:spPr>
          <a:xfrm>
            <a:off x="565472" y="4216598"/>
            <a:ext cx="184221" cy="164592"/>
          </a:xfrm>
          <a:prstGeom prst="rect">
            <a:avLst/>
          </a:prstGeom>
          <a:noFill/>
          <a:ln/>
        </p:spPr>
        <p:txBody>
          <a:bodyPr wrap="none" lIns="0" tIns="0" rIns="0" bIns="0" rtlCol="0" anchor="t"/>
          <a:lstStyle/>
          <a:p>
            <a:pPr algn="l" indent="0" marL="0">
              <a:lnSpc>
                <a:spcPts val="1055"/>
              </a:lnSpc>
              <a:buNone/>
            </a:pPr>
            <a:r>
              <a:rPr lang="en-US" sz="800" dirty="0">
                <a:solidFill>
                  <a:srgbClr val="8B5CF6"/>
                </a:solidFill>
                <a:latin typeface="Liberation Sans Narrow" pitchFamily="34" charset="0"/>
                <a:ea typeface="Liberation Sans Narrow" pitchFamily="34" charset="-122"/>
                <a:cs typeface="Liberation Sans Narrow" pitchFamily="34" charset="-120"/>
              </a:rPr>
              <a:t>01</a:t>
            </a:r>
            <a:endParaRPr lang="en-US" sz="800" dirty="0"/>
          </a:p>
        </p:txBody>
      </p:sp>
      <p:sp>
        <p:nvSpPr>
          <p:cNvPr id="33" name="Text 28"/>
          <p:cNvSpPr/>
          <p:nvPr/>
        </p:nvSpPr>
        <p:spPr>
          <a:xfrm>
            <a:off x="750540" y="4188023"/>
            <a:ext cx="708705" cy="185166"/>
          </a:xfrm>
          <a:prstGeom prst="rect">
            <a:avLst/>
          </a:prstGeom>
          <a:noFill/>
          <a:ln/>
        </p:spPr>
        <p:txBody>
          <a:bodyPr wrap="none" lIns="0" tIns="0" rIns="0" bIns="0" rtlCol="0" anchor="t"/>
          <a:lstStyle/>
          <a:p>
            <a:pPr algn="l" indent="0" marL="0">
              <a:lnSpc>
                <a:spcPts val="1350"/>
              </a:lnSpc>
              <a:buNone/>
            </a:pPr>
            <a:r>
              <a:rPr lang="en-US" sz="900" dirty="0">
                <a:solidFill>
                  <a:srgbClr val="EDEFF9"/>
                </a:solidFill>
                <a:latin typeface="Carlito" pitchFamily="34" charset="0"/>
                <a:ea typeface="Carlito" pitchFamily="34" charset="-122"/>
                <a:cs typeface="Carlito" pitchFamily="34" charset="-120"/>
              </a:rPr>
              <a:t>Progress</a:t>
            </a:r>
            <a:endParaRPr lang="en-US" sz="900" dirty="0"/>
          </a:p>
        </p:txBody>
      </p:sp>
      <p:sp>
        <p:nvSpPr>
          <p:cNvPr id="34" name="Text 29"/>
          <p:cNvSpPr/>
          <p:nvPr/>
        </p:nvSpPr>
        <p:spPr>
          <a:xfrm>
            <a:off x="1317575" y="4223742"/>
            <a:ext cx="1130945" cy="164592"/>
          </a:xfrm>
          <a:prstGeom prst="rect">
            <a:avLst/>
          </a:prstGeom>
          <a:noFill/>
          <a:ln/>
        </p:spPr>
        <p:txBody>
          <a:bodyPr wrap="square" lIns="0" tIns="0" rIns="0" bIns="0" rtlCol="0" anchor="t"/>
          <a:lstStyle/>
          <a:p>
            <a:pPr algn="l" indent="0" marL="0">
              <a:lnSpc>
                <a:spcPts val="970"/>
              </a:lnSpc>
              <a:buNone/>
            </a:pPr>
            <a:r>
              <a:rPr lang="en-US" sz="800" dirty="0">
                <a:solidFill>
                  <a:srgbClr val="A7B0CE"/>
                </a:solidFill>
                <a:latin typeface="Carlito" pitchFamily="34" charset="0"/>
                <a:ea typeface="Carlito" pitchFamily="34" charset="-122"/>
                <a:cs typeface="Carlito" pitchFamily="34" charset="-120"/>
              </a:rPr>
              <a:t>Metrics &amp; momentum</a:t>
            </a:r>
            <a:endParaRPr lang="en-US" sz="800" dirty="0"/>
          </a:p>
        </p:txBody>
      </p:sp>
      <p:sp>
        <p:nvSpPr>
          <p:cNvPr id="35" name="Text 30"/>
          <p:cNvSpPr/>
          <p:nvPr/>
        </p:nvSpPr>
        <p:spPr>
          <a:xfrm>
            <a:off x="2606798" y="4216598"/>
            <a:ext cx="184221" cy="142875"/>
          </a:xfrm>
          <a:prstGeom prst="rect">
            <a:avLst/>
          </a:prstGeom>
          <a:noFill/>
          <a:ln/>
        </p:spPr>
        <p:txBody>
          <a:bodyPr wrap="none" lIns="0" tIns="0" rIns="0" bIns="0" rtlCol="0" anchor="t"/>
          <a:lstStyle/>
          <a:p>
            <a:pPr algn="l" indent="0" marL="0">
              <a:lnSpc>
                <a:spcPts val="1055"/>
              </a:lnSpc>
              <a:buNone/>
            </a:pPr>
            <a:r>
              <a:rPr lang="en-US" sz="800" dirty="0">
                <a:solidFill>
                  <a:srgbClr val="8B5CF6"/>
                </a:solidFill>
                <a:latin typeface="Liberation Sans Narrow" pitchFamily="34" charset="0"/>
                <a:ea typeface="Liberation Sans Narrow" pitchFamily="34" charset="-122"/>
                <a:cs typeface="Liberation Sans Narrow" pitchFamily="34" charset="-120"/>
              </a:rPr>
              <a:t>02</a:t>
            </a:r>
            <a:endParaRPr lang="en-US" sz="800" dirty="0"/>
          </a:p>
        </p:txBody>
      </p:sp>
      <p:sp>
        <p:nvSpPr>
          <p:cNvPr id="36" name="Text 31"/>
          <p:cNvSpPr/>
          <p:nvPr/>
        </p:nvSpPr>
        <p:spPr>
          <a:xfrm>
            <a:off x="2791867" y="4188023"/>
            <a:ext cx="654115" cy="171450"/>
          </a:xfrm>
          <a:prstGeom prst="rect">
            <a:avLst/>
          </a:prstGeom>
          <a:noFill/>
          <a:ln/>
        </p:spPr>
        <p:txBody>
          <a:bodyPr wrap="none" lIns="0" tIns="0" rIns="0" bIns="0" rtlCol="0" anchor="t"/>
          <a:lstStyle/>
          <a:p>
            <a:pPr algn="l" indent="0" marL="0">
              <a:lnSpc>
                <a:spcPts val="1350"/>
              </a:lnSpc>
              <a:buNone/>
            </a:pPr>
            <a:r>
              <a:rPr lang="en-US" sz="900" dirty="0">
                <a:solidFill>
                  <a:srgbClr val="EDEFF9"/>
                </a:solidFill>
                <a:latin typeface="Carlito" pitchFamily="34" charset="0"/>
                <a:ea typeface="Carlito" pitchFamily="34" charset="-122"/>
                <a:cs typeface="Carlito" pitchFamily="34" charset="-120"/>
              </a:rPr>
              <a:t>Strategy</a:t>
            </a:r>
            <a:endParaRPr lang="en-US" sz="900" dirty="0"/>
          </a:p>
        </p:txBody>
      </p:sp>
      <p:sp>
        <p:nvSpPr>
          <p:cNvPr id="37" name="Text 32"/>
          <p:cNvSpPr/>
          <p:nvPr/>
        </p:nvSpPr>
        <p:spPr>
          <a:xfrm>
            <a:off x="3320728" y="4223742"/>
            <a:ext cx="1169119" cy="135731"/>
          </a:xfrm>
          <a:prstGeom prst="rect">
            <a:avLst/>
          </a:prstGeom>
          <a:noFill/>
          <a:ln/>
        </p:spPr>
        <p:txBody>
          <a:bodyPr wrap="none" lIns="0" tIns="0" rIns="0" bIns="0" rtlCol="0" anchor="t"/>
          <a:lstStyle/>
          <a:p>
            <a:pPr algn="l" indent="0" marL="0">
              <a:lnSpc>
                <a:spcPts val="970"/>
              </a:lnSpc>
              <a:buNone/>
            </a:pPr>
            <a:r>
              <a:rPr lang="en-US" sz="800" dirty="0">
                <a:solidFill>
                  <a:srgbClr val="A7B0CE"/>
                </a:solidFill>
                <a:latin typeface="Carlito" pitchFamily="34" charset="0"/>
                <a:ea typeface="Carlito" pitchFamily="34" charset="-122"/>
                <a:cs typeface="Carlito" pitchFamily="34" charset="-120"/>
              </a:rPr>
              <a:t>GTM &amp; roadmap</a:t>
            </a:r>
            <a:endParaRPr lang="en-US" sz="800" dirty="0"/>
          </a:p>
        </p:txBody>
      </p:sp>
      <p:sp>
        <p:nvSpPr>
          <p:cNvPr id="38" name="Text 33"/>
          <p:cNvSpPr/>
          <p:nvPr/>
        </p:nvSpPr>
        <p:spPr>
          <a:xfrm>
            <a:off x="4648125" y="4216598"/>
            <a:ext cx="184221" cy="142875"/>
          </a:xfrm>
          <a:prstGeom prst="rect">
            <a:avLst/>
          </a:prstGeom>
          <a:noFill/>
          <a:ln/>
        </p:spPr>
        <p:txBody>
          <a:bodyPr wrap="none" lIns="0" tIns="0" rIns="0" bIns="0" rtlCol="0" anchor="t"/>
          <a:lstStyle/>
          <a:p>
            <a:pPr algn="l" indent="0" marL="0">
              <a:lnSpc>
                <a:spcPts val="1055"/>
              </a:lnSpc>
              <a:buNone/>
            </a:pPr>
            <a:r>
              <a:rPr lang="en-US" sz="800" dirty="0">
                <a:solidFill>
                  <a:srgbClr val="8B5CF6"/>
                </a:solidFill>
                <a:latin typeface="Liberation Sans Narrow" pitchFamily="34" charset="0"/>
                <a:ea typeface="Liberation Sans Narrow" pitchFamily="34" charset="-122"/>
                <a:cs typeface="Liberation Sans Narrow" pitchFamily="34" charset="-120"/>
              </a:rPr>
              <a:t>03</a:t>
            </a:r>
            <a:endParaRPr lang="en-US" sz="800" dirty="0"/>
          </a:p>
        </p:txBody>
      </p:sp>
      <p:sp>
        <p:nvSpPr>
          <p:cNvPr id="39" name="Text 34"/>
          <p:cNvSpPr/>
          <p:nvPr/>
        </p:nvSpPr>
        <p:spPr>
          <a:xfrm>
            <a:off x="4833193" y="4188023"/>
            <a:ext cx="488097" cy="171450"/>
          </a:xfrm>
          <a:prstGeom prst="rect">
            <a:avLst/>
          </a:prstGeom>
          <a:noFill/>
          <a:ln/>
        </p:spPr>
        <p:txBody>
          <a:bodyPr wrap="none" lIns="0" tIns="0" rIns="0" bIns="0" rtlCol="0" anchor="t"/>
          <a:lstStyle/>
          <a:p>
            <a:pPr algn="l" indent="0" marL="0">
              <a:lnSpc>
                <a:spcPts val="1350"/>
              </a:lnSpc>
              <a:buNone/>
            </a:pPr>
            <a:r>
              <a:rPr lang="en-US" sz="900" dirty="0">
                <a:solidFill>
                  <a:srgbClr val="EDEFF9"/>
                </a:solidFill>
                <a:latin typeface="Carlito" pitchFamily="34" charset="0"/>
                <a:ea typeface="Carlito" pitchFamily="34" charset="-122"/>
                <a:cs typeface="Carlito" pitchFamily="34" charset="-120"/>
              </a:rPr>
              <a:t>Risks</a:t>
            </a:r>
            <a:endParaRPr lang="en-US" sz="900" dirty="0"/>
          </a:p>
        </p:txBody>
      </p:sp>
      <p:sp>
        <p:nvSpPr>
          <p:cNvPr id="40" name="Text 35"/>
          <p:cNvSpPr/>
          <p:nvPr/>
        </p:nvSpPr>
        <p:spPr>
          <a:xfrm>
            <a:off x="5209691" y="4223742"/>
            <a:ext cx="1321482" cy="135731"/>
          </a:xfrm>
          <a:prstGeom prst="rect">
            <a:avLst/>
          </a:prstGeom>
          <a:noFill/>
          <a:ln/>
        </p:spPr>
        <p:txBody>
          <a:bodyPr wrap="square" lIns="0" tIns="0" rIns="0" bIns="0" rtlCol="0" anchor="t"/>
          <a:lstStyle/>
          <a:p>
            <a:pPr algn="l" indent="0" marL="0">
              <a:lnSpc>
                <a:spcPts val="970"/>
              </a:lnSpc>
              <a:buNone/>
            </a:pPr>
            <a:r>
              <a:rPr lang="en-US" sz="800" dirty="0">
                <a:solidFill>
                  <a:srgbClr val="A7B0CE"/>
                </a:solidFill>
                <a:latin typeface="Carlito" pitchFamily="34" charset="0"/>
                <a:ea typeface="Carlito" pitchFamily="34" charset="-122"/>
                <a:cs typeface="Carlito" pitchFamily="34" charset="-120"/>
              </a:rPr>
              <a:t>Mitigation watchlist</a:t>
            </a:r>
            <a:endParaRPr lang="en-US" sz="800" dirty="0"/>
          </a:p>
        </p:txBody>
      </p:sp>
      <p:sp>
        <p:nvSpPr>
          <p:cNvPr id="41" name="Text 36"/>
          <p:cNvSpPr/>
          <p:nvPr/>
        </p:nvSpPr>
        <p:spPr>
          <a:xfrm>
            <a:off x="6689451" y="4216598"/>
            <a:ext cx="184221" cy="142875"/>
          </a:xfrm>
          <a:prstGeom prst="rect">
            <a:avLst/>
          </a:prstGeom>
          <a:noFill/>
          <a:ln/>
        </p:spPr>
        <p:txBody>
          <a:bodyPr wrap="none" lIns="0" tIns="0" rIns="0" bIns="0" rtlCol="0" anchor="t"/>
          <a:lstStyle/>
          <a:p>
            <a:pPr algn="l" indent="0" marL="0">
              <a:lnSpc>
                <a:spcPts val="1055"/>
              </a:lnSpc>
              <a:buNone/>
            </a:pPr>
            <a:r>
              <a:rPr lang="en-US" sz="800" dirty="0">
                <a:solidFill>
                  <a:srgbClr val="8B5CF6"/>
                </a:solidFill>
                <a:latin typeface="Liberation Sans Narrow" pitchFamily="34" charset="0"/>
                <a:ea typeface="Liberation Sans Narrow" pitchFamily="34" charset="-122"/>
                <a:cs typeface="Liberation Sans Narrow" pitchFamily="34" charset="-120"/>
              </a:rPr>
              <a:t>04</a:t>
            </a:r>
            <a:endParaRPr lang="en-US" sz="800" dirty="0"/>
          </a:p>
        </p:txBody>
      </p:sp>
      <p:sp>
        <p:nvSpPr>
          <p:cNvPr id="42" name="Text 37"/>
          <p:cNvSpPr/>
          <p:nvPr/>
        </p:nvSpPr>
        <p:spPr>
          <a:xfrm>
            <a:off x="6874520" y="4188023"/>
            <a:ext cx="629853" cy="171450"/>
          </a:xfrm>
          <a:prstGeom prst="rect">
            <a:avLst/>
          </a:prstGeom>
          <a:noFill/>
          <a:ln/>
        </p:spPr>
        <p:txBody>
          <a:bodyPr wrap="none" lIns="0" tIns="0" rIns="0" bIns="0" rtlCol="0" anchor="t"/>
          <a:lstStyle/>
          <a:p>
            <a:pPr algn="l" indent="0" marL="0">
              <a:lnSpc>
                <a:spcPts val="1350"/>
              </a:lnSpc>
              <a:buNone/>
            </a:pPr>
            <a:r>
              <a:rPr lang="en-US" sz="900" dirty="0">
                <a:solidFill>
                  <a:srgbClr val="EDEFF9"/>
                </a:solidFill>
                <a:latin typeface="Carlito" pitchFamily="34" charset="0"/>
                <a:ea typeface="Carlito" pitchFamily="34" charset="-122"/>
                <a:cs typeface="Carlito" pitchFamily="34" charset="-120"/>
              </a:rPr>
              <a:t>The Ask</a:t>
            </a:r>
            <a:endParaRPr lang="en-US" sz="900" dirty="0"/>
          </a:p>
        </p:txBody>
      </p:sp>
      <p:sp>
        <p:nvSpPr>
          <p:cNvPr id="43" name="Text 38"/>
          <p:cNvSpPr/>
          <p:nvPr/>
        </p:nvSpPr>
        <p:spPr>
          <a:xfrm>
            <a:off x="7386414" y="4223742"/>
            <a:ext cx="1186086" cy="135731"/>
          </a:xfrm>
          <a:prstGeom prst="rect">
            <a:avLst/>
          </a:prstGeom>
          <a:noFill/>
          <a:ln/>
        </p:spPr>
        <p:txBody>
          <a:bodyPr wrap="none" lIns="0" tIns="0" rIns="0" bIns="0" rtlCol="0" anchor="t"/>
          <a:lstStyle/>
          <a:p>
            <a:pPr algn="l" indent="0" marL="0">
              <a:lnSpc>
                <a:spcPts val="970"/>
              </a:lnSpc>
              <a:buNone/>
            </a:pPr>
            <a:r>
              <a:rPr lang="en-US" sz="800" dirty="0">
                <a:solidFill>
                  <a:srgbClr val="A7B0CE"/>
                </a:solidFill>
                <a:latin typeface="Liberation Sans Narrow" pitchFamily="34" charset="0"/>
                <a:ea typeface="Liberation Sans Narrow" pitchFamily="34" charset="-122"/>
                <a:cs typeface="Liberation Sans Narrow" pitchFamily="34" charset="-120"/>
              </a:rPr>
              <a:t>$25M Series C</a:t>
            </a:r>
            <a:endParaRPr lang="en-US" sz="800" dirty="0"/>
          </a:p>
        </p:txBody>
      </p:sp>
      <p:sp>
        <p:nvSpPr>
          <p:cNvPr id="44" name="Text 39"/>
          <p:cNvSpPr/>
          <p:nvPr/>
        </p:nvSpPr>
        <p:spPr>
          <a:xfrm>
            <a:off x="571500" y="4516636"/>
            <a:ext cx="8001000" cy="7144"/>
          </a:xfrm>
          <a:prstGeom prst="rect">
            <a:avLst/>
          </a:prstGeom>
          <a:solidFill>
            <a:srgbClr val="A7B0CE">
              <a:alpha val="18000"/>
            </a:srgbClr>
          </a:solidFill>
          <a:ln/>
        </p:spPr>
        <p:txBody>
          <a:bodyPr wrap="square" rtlCol="0" anchor="ctr"/>
          <a:lstStyle/>
          <a:p>
            <a:pPr indent="0" marL="0">
              <a:buNone/>
            </a:pPr>
            <a:endParaRPr lang="en-US" dirty="0"/>
          </a:p>
        </p:txBody>
      </p:sp>
      <p:sp>
        <p:nvSpPr>
          <p:cNvPr id="45" name="Text 40"/>
          <p:cNvSpPr/>
          <p:nvPr/>
        </p:nvSpPr>
        <p:spPr>
          <a:xfrm>
            <a:off x="571500" y="4647902"/>
            <a:ext cx="114300" cy="114300"/>
          </a:xfrm>
          <a:prstGeom prst="rect">
            <a:avLst/>
          </a:prstGeom>
          <a:noFill/>
          <a:ln/>
        </p:spPr>
        <p:txBody>
          <a:bodyPr wrap="none" lIns="0" tIns="0" rIns="0" bIns="0" rtlCol="0" anchor="ctr"/>
          <a:lstStyle/>
          <a:p>
            <a:pPr algn="ctr" indent="0" marL="0">
              <a:buNone/>
            </a:pPr>
            <a:r>
              <a:rPr lang="en-US" sz="1125" dirty="0">
                <a:solidFill>
                  <a:srgbClr val="8B5CF6"/>
                </a:solidFill>
                <a:latin typeface="Segoe UI Symbol" pitchFamily="34" charset="0"/>
                <a:ea typeface="Segoe UI Symbol" pitchFamily="34" charset="-122"/>
                <a:cs typeface="Segoe UI Symbol" pitchFamily="34" charset="-120"/>
              </a:rPr>
              <a:t>▦</a:t>
            </a:r>
            <a:endParaRPr lang="en-US" sz="1125" dirty="0"/>
          </a:p>
        </p:txBody>
      </p:sp>
      <p:sp>
        <p:nvSpPr>
          <p:cNvPr id="46" name="Text 41"/>
          <p:cNvSpPr/>
          <p:nvPr/>
        </p:nvSpPr>
        <p:spPr>
          <a:xfrm>
            <a:off x="750094" y="4638080"/>
            <a:ext cx="971600" cy="164592"/>
          </a:xfrm>
          <a:prstGeom prst="rect">
            <a:avLst/>
          </a:prstGeom>
          <a:noFill/>
          <a:ln/>
        </p:spPr>
        <p:txBody>
          <a:bodyPr wrap="none" lIns="0" tIns="0" rIns="0" bIns="0" rtlCol="0" anchor="t"/>
          <a:lstStyle/>
          <a:p>
            <a:pPr algn="l" indent="0" marL="0">
              <a:lnSpc>
                <a:spcPts val="1055"/>
              </a:lnSpc>
              <a:buNone/>
            </a:pPr>
            <a:r>
              <a:rPr lang="en-US" sz="703" dirty="0">
                <a:solidFill>
                  <a:srgbClr val="A7B0CE"/>
                </a:solidFill>
                <a:latin typeface="Carlito" pitchFamily="34" charset="0"/>
                <a:ea typeface="Carlito" pitchFamily="34" charset="-122"/>
                <a:cs typeface="Carlito" pitchFamily="34" charset="-120"/>
              </a:rPr>
              <a:t>Date of presentation:</a:t>
            </a:r>
            <a:endParaRPr lang="en-US" sz="703" dirty="0"/>
          </a:p>
        </p:txBody>
      </p:sp>
      <p:sp>
        <p:nvSpPr>
          <p:cNvPr id="47" name="Text 42"/>
          <p:cNvSpPr/>
          <p:nvPr/>
        </p:nvSpPr>
        <p:spPr>
          <a:xfrm>
            <a:off x="1626729" y="4638080"/>
            <a:ext cx="515112" cy="164592"/>
          </a:xfrm>
          <a:prstGeom prst="rect">
            <a:avLst/>
          </a:prstGeom>
          <a:noFill/>
          <a:ln/>
        </p:spPr>
        <p:txBody>
          <a:bodyPr wrap="none" lIns="0" tIns="0" rIns="0" bIns="0" rtlCol="0" anchor="t"/>
          <a:lstStyle/>
          <a:p>
            <a:pPr algn="l" indent="0" marL="0">
              <a:lnSpc>
                <a:spcPts val="1055"/>
              </a:lnSpc>
              <a:buNone/>
            </a:pPr>
            <a:r>
              <a:rPr lang="en-US" sz="800" dirty="0">
                <a:solidFill>
                  <a:srgbClr val="EDEFF9"/>
                </a:solidFill>
                <a:latin typeface="Liberation Sans Narrow" pitchFamily="34" charset="0"/>
                <a:ea typeface="Liberation Sans Narrow" pitchFamily="34" charset="-122"/>
                <a:cs typeface="Liberation Sans Narrow" pitchFamily="34" charset="-120"/>
              </a:rPr>
              <a:t>Q3 2023</a:t>
            </a:r>
            <a:endParaRPr lang="en-US" sz="800" dirty="0"/>
          </a:p>
        </p:txBody>
      </p:sp>
      <p:sp>
        <p:nvSpPr>
          <p:cNvPr id="48" name="Text 43"/>
          <p:cNvSpPr/>
          <p:nvPr/>
        </p:nvSpPr>
        <p:spPr>
          <a:xfrm>
            <a:off x="6587654" y="4647902"/>
            <a:ext cx="114300" cy="114300"/>
          </a:xfrm>
          <a:prstGeom prst="rect">
            <a:avLst/>
          </a:prstGeom>
          <a:noFill/>
          <a:ln/>
        </p:spPr>
        <p:txBody>
          <a:bodyPr wrap="none" lIns="0" tIns="0" rIns="0" bIns="0" rtlCol="0" anchor="ctr"/>
          <a:lstStyle/>
          <a:p>
            <a:pPr algn="ctr" indent="0" marL="0">
              <a:buNone/>
            </a:pPr>
            <a:r>
              <a:rPr lang="en-US" sz="1125" dirty="0">
                <a:solidFill>
                  <a:srgbClr val="8B5CF6"/>
                </a:solidFill>
                <a:latin typeface="Segoe UI Symbol" pitchFamily="34" charset="0"/>
                <a:ea typeface="Segoe UI Symbol" pitchFamily="34" charset="-122"/>
                <a:cs typeface="Segoe UI Symbol" pitchFamily="34" charset="-120"/>
              </a:rPr>
              <a:t>☻</a:t>
            </a:r>
            <a:endParaRPr lang="en-US" sz="1125" dirty="0"/>
          </a:p>
        </p:txBody>
      </p:sp>
      <p:sp>
        <p:nvSpPr>
          <p:cNvPr id="49" name="Text 44"/>
          <p:cNvSpPr/>
          <p:nvPr/>
        </p:nvSpPr>
        <p:spPr>
          <a:xfrm>
            <a:off x="6716505" y="4638080"/>
            <a:ext cx="582341" cy="164592"/>
          </a:xfrm>
          <a:prstGeom prst="rect">
            <a:avLst/>
          </a:prstGeom>
          <a:noFill/>
          <a:ln/>
        </p:spPr>
        <p:txBody>
          <a:bodyPr wrap="none" lIns="0" tIns="0" rIns="0" bIns="0" rtlCol="0" anchor="t"/>
          <a:lstStyle/>
          <a:p>
            <a:pPr algn="l" indent="0" marL="0">
              <a:lnSpc>
                <a:spcPts val="1055"/>
              </a:lnSpc>
              <a:buNone/>
            </a:pPr>
            <a:r>
              <a:rPr lang="en-US" sz="703" dirty="0">
                <a:solidFill>
                  <a:srgbClr val="A7B0CE"/>
                </a:solidFill>
                <a:latin typeface="Carlito" pitchFamily="34" charset="0"/>
                <a:ea typeface="Carlito" pitchFamily="34" charset="-122"/>
                <a:cs typeface="Carlito" pitchFamily="34" charset="-120"/>
              </a:rPr>
              <a:t>Presenter:</a:t>
            </a:r>
            <a:endParaRPr lang="en-US" sz="703" dirty="0"/>
          </a:p>
        </p:txBody>
      </p:sp>
      <p:sp>
        <p:nvSpPr>
          <p:cNvPr id="50" name="Text 45"/>
          <p:cNvSpPr/>
          <p:nvPr/>
        </p:nvSpPr>
        <p:spPr>
          <a:xfrm>
            <a:off x="7242535" y="4638080"/>
            <a:ext cx="1436363" cy="164592"/>
          </a:xfrm>
          <a:prstGeom prst="rect">
            <a:avLst/>
          </a:prstGeom>
          <a:noFill/>
          <a:ln/>
        </p:spPr>
        <p:txBody>
          <a:bodyPr wrap="square" lIns="0" tIns="0" rIns="0" bIns="0" rtlCol="0" anchor="t"/>
          <a:lstStyle/>
          <a:p>
            <a:pPr algn="l" indent="0" marL="0">
              <a:lnSpc>
                <a:spcPts val="1055"/>
              </a:lnSpc>
              <a:buNone/>
            </a:pPr>
            <a:r>
              <a:rPr lang="en-US" sz="703" dirty="0">
                <a:solidFill>
                  <a:srgbClr val="EDEFF9"/>
                </a:solidFill>
                <a:latin typeface="Carlito" pitchFamily="34" charset="0"/>
                <a:ea typeface="Carlito" pitchFamily="34" charset="-122"/>
                <a:cs typeface="Carlito" pitchFamily="34" charset="-120"/>
              </a:rPr>
              <a:t>[Name], Chief Executive Officer</a:t>
            </a:r>
            <a:endParaRPr lang="en-US" sz="703"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572125" y="-2143125"/>
            <a:ext cx="5143500" cy="5143500"/>
          </a:xfrm>
          <a:prstGeom prst="rect">
            <a:avLst/>
          </a:prstGeom>
        </p:spPr>
      </p:pic>
      <p:sp>
        <p:nvSpPr>
          <p:cNvPr id="3" name="Text 0"/>
          <p:cNvSpPr/>
          <p:nvPr/>
        </p:nvSpPr>
        <p:spPr>
          <a:xfrm>
            <a:off x="5572125" y="-2143125"/>
            <a:ext cx="5143500" cy="5143500"/>
          </a:xfrm>
          <a:prstGeom prst="ellipse">
            <a:avLst/>
          </a:prstGeom>
          <a:solidFill>
            <a:srgbClr val="FFFFFF">
              <a:alpha val="0"/>
            </a:srgbClr>
          </a:solidFill>
          <a:ln/>
        </p:spPr>
        <p:txBody>
          <a:bodyPr wrap="square" rtlCol="0" anchor="ctr"/>
          <a:lstStyle/>
          <a:p>
            <a:pPr indent="0" marL="0">
              <a:buNone/>
            </a:pPr>
            <a:endParaRPr lang="en-US" dirty="0"/>
          </a:p>
        </p:txBody>
      </p:sp>
      <p:sp>
        <p:nvSpPr>
          <p:cNvPr id="4" name="Text 1"/>
          <p:cNvSpPr/>
          <p:nvPr/>
        </p:nvSpPr>
        <p:spPr>
          <a:xfrm>
            <a:off x="6035269" y="-242887"/>
            <a:ext cx="3108731" cy="1851660"/>
          </a:xfrm>
          <a:prstGeom prst="rect">
            <a:avLst/>
          </a:prstGeom>
          <a:noFill/>
          <a:ln/>
        </p:spPr>
        <p:txBody>
          <a:bodyPr wrap="square" lIns="0" tIns="0" rIns="0" bIns="0" rtlCol="0" anchor="t"/>
          <a:lstStyle/>
          <a:p>
            <a:pPr algn="l" indent="0" marL="0">
              <a:lnSpc>
                <a:spcPts val="13500"/>
              </a:lnSpc>
              <a:buNone/>
            </a:pPr>
            <a:r>
              <a:rPr lang="en-US" sz="13500" b="1" spc="-540" kern="0" dirty="0">
                <a:solidFill>
                  <a:srgbClr val="FFFFFF">
                    <a:alpha val="0"/>
                  </a:srgbClr>
                </a:solidFill>
                <a:latin typeface="Liberation Sans Narrow" pitchFamily="34" charset="0"/>
                <a:ea typeface="Liberation Sans Narrow" pitchFamily="34" charset="-122"/>
                <a:cs typeface="Liberation Sans Narrow" pitchFamily="34" charset="-120"/>
              </a:rPr>
              <a:t>01</a:t>
            </a:r>
            <a:endParaRPr lang="en-US" sz="13500" dirty="0"/>
          </a:p>
        </p:txBody>
      </p:sp>
      <p:sp>
        <p:nvSpPr>
          <p:cNvPr id="5" name="Shape 2"/>
          <p:cNvSpPr/>
          <p:nvPr/>
        </p:nvSpPr>
        <p:spPr>
          <a:xfrm>
            <a:off x="514350" y="4384477"/>
            <a:ext cx="8115300" cy="0"/>
          </a:xfrm>
          <a:prstGeom prst="line">
            <a:avLst/>
          </a:prstGeom>
          <a:noFill/>
          <a:ln w="7144">
            <a:solidFill>
              <a:srgbClr val="A7B0CE"/>
            </a:solidFill>
            <a:prstDash val="solid"/>
          </a:ln>
        </p:spPr>
      </p:sp>
      <p:sp>
        <p:nvSpPr>
          <p:cNvPr id="6" name="Shape 3"/>
          <p:cNvSpPr/>
          <p:nvPr/>
        </p:nvSpPr>
        <p:spPr>
          <a:xfrm>
            <a:off x="8626078" y="4380905"/>
            <a:ext cx="0" cy="405408"/>
          </a:xfrm>
          <a:prstGeom prst="line">
            <a:avLst/>
          </a:prstGeom>
          <a:noFill/>
          <a:ln w="7144">
            <a:solidFill>
              <a:srgbClr val="A7B0CE"/>
            </a:solidFill>
            <a:prstDash val="solid"/>
          </a:ln>
        </p:spPr>
      </p:sp>
      <p:sp>
        <p:nvSpPr>
          <p:cNvPr id="7" name="Shape 4"/>
          <p:cNvSpPr/>
          <p:nvPr/>
        </p:nvSpPr>
        <p:spPr>
          <a:xfrm>
            <a:off x="514350" y="4782741"/>
            <a:ext cx="8115300" cy="0"/>
          </a:xfrm>
          <a:prstGeom prst="line">
            <a:avLst/>
          </a:prstGeom>
          <a:noFill/>
          <a:ln w="7144">
            <a:solidFill>
              <a:srgbClr val="A7B0CE"/>
            </a:solidFill>
            <a:prstDash val="solid"/>
          </a:ln>
        </p:spPr>
      </p:sp>
      <p:sp>
        <p:nvSpPr>
          <p:cNvPr id="8" name="Shape 5"/>
          <p:cNvSpPr/>
          <p:nvPr/>
        </p:nvSpPr>
        <p:spPr>
          <a:xfrm>
            <a:off x="525066" y="4380905"/>
            <a:ext cx="0" cy="405408"/>
          </a:xfrm>
          <a:prstGeom prst="line">
            <a:avLst/>
          </a:prstGeom>
          <a:noFill/>
          <a:ln w="21431">
            <a:solidFill>
              <a:srgbClr val="8B5CF6"/>
            </a:solidFill>
            <a:prstDash val="solid"/>
          </a:ln>
        </p:spPr>
      </p:sp>
      <p:sp>
        <p:nvSpPr>
          <p:cNvPr id="9" name="Text 6"/>
          <p:cNvSpPr/>
          <p:nvPr/>
        </p:nvSpPr>
        <p:spPr>
          <a:xfrm>
            <a:off x="514350" y="477738"/>
            <a:ext cx="257175" cy="14288"/>
          </a:xfrm>
          <a:prstGeom prst="rect">
            <a:avLst/>
          </a:prstGeom>
          <a:solidFill>
            <a:srgbClr val="8B5CF6"/>
          </a:solidFill>
          <a:ln/>
        </p:spPr>
        <p:txBody>
          <a:bodyPr wrap="square" rtlCol="0" anchor="ctr"/>
          <a:lstStyle/>
          <a:p>
            <a:pPr indent="0" marL="0">
              <a:buNone/>
            </a:pPr>
            <a:endParaRPr lang="en-US" dirty="0"/>
          </a:p>
        </p:txBody>
      </p:sp>
      <p:sp>
        <p:nvSpPr>
          <p:cNvPr id="10" name="Text 7"/>
          <p:cNvSpPr/>
          <p:nvPr/>
        </p:nvSpPr>
        <p:spPr>
          <a:xfrm>
            <a:off x="857250" y="428625"/>
            <a:ext cx="2014538" cy="164592"/>
          </a:xfrm>
          <a:prstGeom prst="rect">
            <a:avLst/>
          </a:prstGeom>
          <a:noFill/>
          <a:ln/>
        </p:spPr>
        <p:txBody>
          <a:bodyPr wrap="none" lIns="0" tIns="0" rIns="0" bIns="0" rtlCol="0" anchor="t"/>
          <a:lstStyle/>
          <a:p>
            <a:pPr algn="l" indent="0" marL="0">
              <a:lnSpc>
                <a:spcPts val="886"/>
              </a:lnSpc>
              <a:buNone/>
            </a:pPr>
            <a:r>
              <a:rPr lang="en-US" sz="800" spc="130" kern="0" dirty="0">
                <a:solidFill>
                  <a:srgbClr val="8B5CF6"/>
                </a:solidFill>
                <a:latin typeface="Courier New" pitchFamily="34" charset="0"/>
                <a:ea typeface="Courier New" pitchFamily="34" charset="-122"/>
                <a:cs typeface="Courier New" pitchFamily="34" charset="-120"/>
              </a:rPr>
              <a:t>EXECUTIVE SUMMARY</a:t>
            </a:r>
            <a:endParaRPr lang="en-US" sz="800" dirty="0"/>
          </a:p>
        </p:txBody>
      </p:sp>
      <p:sp>
        <p:nvSpPr>
          <p:cNvPr id="11" name="Text 8"/>
          <p:cNvSpPr/>
          <p:nvPr/>
        </p:nvSpPr>
        <p:spPr>
          <a:xfrm>
            <a:off x="514350" y="698302"/>
            <a:ext cx="2357438" cy="1389709"/>
          </a:xfrm>
          <a:prstGeom prst="rect">
            <a:avLst/>
          </a:prstGeom>
          <a:noFill/>
          <a:ln/>
        </p:spPr>
        <p:txBody>
          <a:bodyPr wrap="square" lIns="0" tIns="0" rIns="0" bIns="0" rtlCol="0" anchor="t">
            <a:normAutofit/>
          </a:bodyPr>
          <a:lstStyle/>
          <a:p>
            <a:pPr algn="l" indent="0" marL="0">
              <a:lnSpc>
                <a:spcPts val="2565"/>
              </a:lnSpc>
              <a:buNone/>
            </a:pPr>
            <a:r>
              <a:rPr lang="en-US" sz="2250" b="1" spc="-45" kern="0" dirty="0">
                <a:solidFill>
                  <a:srgbClr val="EDEFF9"/>
                </a:solidFill>
                <a:latin typeface="Carlito" pitchFamily="34" charset="0"/>
                <a:ea typeface="Carlito" pitchFamily="34" charset="-122"/>
                <a:cs typeface="Carlito" pitchFamily="34" charset="-120"/>
              </a:rPr>
              <a:t>Strong Momentum Across Key Metrics</a:t>
            </a:r>
            <a:endParaRPr lang="en-US" sz="2250" dirty="0"/>
          </a:p>
        </p:txBody>
      </p:sp>
      <p:sp>
        <p:nvSpPr>
          <p:cNvPr id="12" name="Text 9"/>
          <p:cNvSpPr/>
          <p:nvPr/>
        </p:nvSpPr>
        <p:spPr>
          <a:xfrm>
            <a:off x="514350" y="2115443"/>
            <a:ext cx="2357438" cy="370332"/>
          </a:xfrm>
          <a:prstGeom prst="rect">
            <a:avLst/>
          </a:prstGeom>
          <a:noFill/>
          <a:ln/>
        </p:spPr>
        <p:txBody>
          <a:bodyPr wrap="square" lIns="0" tIns="0" rIns="0" bIns="0" rtlCol="0" anchor="t"/>
          <a:lstStyle/>
          <a:p>
            <a:pPr algn="l" indent="0" marL="0">
              <a:lnSpc>
                <a:spcPts val="1350"/>
              </a:lnSpc>
              <a:buNone/>
            </a:pPr>
            <a:r>
              <a:rPr lang="en-US" sz="844" dirty="0">
                <a:solidFill>
                  <a:srgbClr val="A7B0CE"/>
                </a:solidFill>
                <a:latin typeface="Liberation Sans Narrow" pitchFamily="34" charset="0"/>
                <a:ea typeface="Liberation Sans Narrow" pitchFamily="34" charset="-122"/>
                <a:cs typeface="Liberation Sans Narrow" pitchFamily="34" charset="-120"/>
              </a:rPr>
              <a:t>Q3 2023</a:t>
            </a:r>
            <a:pPr algn="l" indent="0" marL="0">
              <a:lnSpc>
                <a:spcPts val="1350"/>
              </a:lnSpc>
              <a:buNone/>
            </a:pPr>
            <a:r>
              <a:rPr lang="en-US" sz="844" dirty="0">
                <a:solidFill>
                  <a:srgbClr val="A7B0CE"/>
                </a:solidFill>
                <a:latin typeface="Carlito" pitchFamily="34" charset="0"/>
                <a:ea typeface="Carlito" pitchFamily="34" charset="-122"/>
                <a:cs typeface="Carlito" pitchFamily="34" charset="-120"/>
              </a:rPr>
              <a:t> performance summary — all figures as of quarter end.</a:t>
            </a:r>
            <a:endParaRPr lang="en-US" sz="844" dirty="0"/>
          </a:p>
        </p:txBody>
      </p:sp>
      <p:sp>
        <p:nvSpPr>
          <p:cNvPr id="13" name="Text 10"/>
          <p:cNvSpPr/>
          <p:nvPr/>
        </p:nvSpPr>
        <p:spPr>
          <a:xfrm>
            <a:off x="514350" y="3955852"/>
            <a:ext cx="2357438" cy="7144"/>
          </a:xfrm>
          <a:prstGeom prst="rect">
            <a:avLst/>
          </a:prstGeom>
          <a:solidFill>
            <a:srgbClr val="A7B0CE">
              <a:alpha val="18000"/>
            </a:srgbClr>
          </a:solidFill>
          <a:ln/>
        </p:spPr>
        <p:txBody>
          <a:bodyPr wrap="square" rtlCol="0" anchor="ctr"/>
          <a:lstStyle/>
          <a:p>
            <a:pPr indent="0" marL="0">
              <a:buNone/>
            </a:pPr>
            <a:endParaRPr lang="en-US" dirty="0"/>
          </a:p>
        </p:txBody>
      </p:sp>
      <p:sp>
        <p:nvSpPr>
          <p:cNvPr id="14" name="Text 11"/>
          <p:cNvSpPr/>
          <p:nvPr/>
        </p:nvSpPr>
        <p:spPr>
          <a:xfrm>
            <a:off x="514350" y="4087118"/>
            <a:ext cx="1891531" cy="164592"/>
          </a:xfrm>
          <a:prstGeom prst="rect">
            <a:avLst/>
          </a:prstGeom>
          <a:noFill/>
          <a:ln/>
        </p:spPr>
        <p:txBody>
          <a:bodyPr wrap="none" lIns="0" tIns="0" rIns="0" bIns="0" rtlCol="0" anchor="t"/>
          <a:lstStyle/>
          <a:p>
            <a:pPr algn="l" indent="0" marL="0">
              <a:lnSpc>
                <a:spcPts val="886"/>
              </a:lnSpc>
              <a:buNone/>
            </a:pPr>
            <a:r>
              <a:rPr lang="en-US" sz="800" spc="95" kern="0" dirty="0">
                <a:solidFill>
                  <a:srgbClr val="A7B0CE"/>
                </a:solidFill>
                <a:latin typeface="Courier New" pitchFamily="34" charset="0"/>
                <a:ea typeface="Courier New" pitchFamily="34" charset="-122"/>
                <a:cs typeface="Courier New" pitchFamily="34" charset="-120"/>
              </a:rPr>
              <a:t>REPORTING PERIOD</a:t>
            </a:r>
            <a:endParaRPr lang="en-US" sz="800" dirty="0"/>
          </a:p>
        </p:txBody>
      </p:sp>
      <p:sp>
        <p:nvSpPr>
          <p:cNvPr id="15" name="Text 12"/>
          <p:cNvSpPr/>
          <p:nvPr/>
        </p:nvSpPr>
        <p:spPr>
          <a:xfrm>
            <a:off x="2420169" y="4063008"/>
            <a:ext cx="578072" cy="173593"/>
          </a:xfrm>
          <a:prstGeom prst="rect">
            <a:avLst/>
          </a:prstGeom>
          <a:noFill/>
          <a:ln/>
        </p:spPr>
        <p:txBody>
          <a:bodyPr wrap="none" lIns="0" tIns="0" rIns="0" bIns="0" rtlCol="0" anchor="t"/>
          <a:lstStyle/>
          <a:p>
            <a:pPr algn="l" indent="0" marL="0">
              <a:lnSpc>
                <a:spcPts val="1266"/>
              </a:lnSpc>
              <a:buNone/>
            </a:pPr>
            <a:r>
              <a:rPr lang="en-US" sz="844" dirty="0">
                <a:solidFill>
                  <a:srgbClr val="EDEFF9"/>
                </a:solidFill>
                <a:latin typeface="Liberation Sans Narrow" pitchFamily="34" charset="0"/>
                <a:ea typeface="Liberation Sans Narrow" pitchFamily="34" charset="-122"/>
                <a:cs typeface="Liberation Sans Narrow" pitchFamily="34" charset="-120"/>
              </a:rPr>
              <a:t>Q3 2023</a:t>
            </a:r>
            <a:endParaRPr lang="en-US" sz="844" dirty="0"/>
          </a:p>
        </p:txBody>
      </p:sp>
      <p:sp>
        <p:nvSpPr>
          <p:cNvPr id="16" name="Text 13"/>
          <p:cNvSpPr/>
          <p:nvPr/>
        </p:nvSpPr>
        <p:spPr>
          <a:xfrm>
            <a:off x="3132534" y="432197"/>
            <a:ext cx="2678906" cy="1826121"/>
          </a:xfrm>
          <a:prstGeom prst="roundRect">
            <a:avLst>
              <a:gd name="adj" fmla="val 7302"/>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17" name="Text 14"/>
          <p:cNvSpPr/>
          <p:nvPr/>
        </p:nvSpPr>
        <p:spPr>
          <a:xfrm>
            <a:off x="3307556" y="608112"/>
            <a:ext cx="2171700" cy="164592"/>
          </a:xfrm>
          <a:prstGeom prst="rect">
            <a:avLst/>
          </a:prstGeom>
          <a:noFill/>
          <a:ln/>
        </p:spPr>
        <p:txBody>
          <a:bodyPr wrap="none" lIns="0" tIns="0" rIns="0" bIns="0" rtlCol="0" anchor="t"/>
          <a:lstStyle/>
          <a:p>
            <a:pPr algn="l" indent="0" marL="0">
              <a:lnSpc>
                <a:spcPts val="886"/>
              </a:lnSpc>
              <a:buNone/>
            </a:pPr>
            <a:r>
              <a:rPr lang="en-US" sz="800" spc="95" kern="0" dirty="0">
                <a:solidFill>
                  <a:srgbClr val="A7B0CE"/>
                </a:solidFill>
                <a:latin typeface="Courier New" pitchFamily="34" charset="0"/>
                <a:ea typeface="Courier New" pitchFamily="34" charset="-122"/>
                <a:cs typeface="Courier New" pitchFamily="34" charset="-120"/>
              </a:rPr>
              <a:t>REVENUE</a:t>
            </a:r>
            <a:endParaRPr lang="en-US" sz="800" dirty="0"/>
          </a:p>
        </p:txBody>
      </p:sp>
      <p:sp>
        <p:nvSpPr>
          <p:cNvPr id="18" name="Text 15"/>
          <p:cNvSpPr/>
          <p:nvPr/>
        </p:nvSpPr>
        <p:spPr>
          <a:xfrm>
            <a:off x="5493544" y="592931"/>
            <a:ext cx="142875" cy="142875"/>
          </a:xfrm>
          <a:prstGeom prst="rect">
            <a:avLst/>
          </a:prstGeom>
          <a:noFill/>
          <a:ln/>
        </p:spPr>
        <p:txBody>
          <a:bodyPr wrap="none" lIns="0" tIns="0" rIns="0" bIns="0" rtlCol="0" anchor="ctr"/>
          <a:lstStyle/>
          <a:p>
            <a:pPr algn="ctr" indent="0" marL="0">
              <a:buNone/>
            </a:pPr>
            <a:r>
              <a:rPr lang="en-US" sz="1406" dirty="0">
                <a:solidFill>
                  <a:srgbClr val="8B5CF6"/>
                </a:solidFill>
                <a:latin typeface="Segoe UI Symbol" pitchFamily="34" charset="0"/>
                <a:ea typeface="Segoe UI Symbol" pitchFamily="34" charset="-122"/>
                <a:cs typeface="Segoe UI Symbol" pitchFamily="34" charset="-120"/>
              </a:rPr>
              <a:t>↗</a:t>
            </a:r>
            <a:endParaRPr lang="en-US" sz="1406" dirty="0"/>
          </a:p>
        </p:txBody>
      </p:sp>
      <p:sp>
        <p:nvSpPr>
          <p:cNvPr id="19" name="Text 16"/>
          <p:cNvSpPr/>
          <p:nvPr/>
        </p:nvSpPr>
        <p:spPr>
          <a:xfrm>
            <a:off x="3307556" y="807244"/>
            <a:ext cx="1405176" cy="393478"/>
          </a:xfrm>
          <a:prstGeom prst="rect">
            <a:avLst/>
          </a:prstGeom>
          <a:noFill/>
          <a:ln/>
        </p:spPr>
        <p:txBody>
          <a:bodyPr wrap="none" lIns="0" tIns="0" rIns="0" bIns="0" rtlCol="0" anchor="t"/>
          <a:lstStyle/>
          <a:p>
            <a:pPr algn="l" indent="0" marL="0">
              <a:lnSpc>
                <a:spcPts val="2475"/>
              </a:lnSpc>
              <a:buNone/>
            </a:pPr>
            <a:r>
              <a:rPr lang="en-US" sz="2475" b="1" spc="-49" kern="0" dirty="0">
                <a:solidFill>
                  <a:srgbClr val="EDEFF9"/>
                </a:solidFill>
                <a:latin typeface="Liberation Sans Narrow" pitchFamily="34" charset="0"/>
                <a:ea typeface="Liberation Sans Narrow" pitchFamily="34" charset="-122"/>
                <a:cs typeface="Liberation Sans Narrow" pitchFamily="34" charset="-120"/>
              </a:rPr>
              <a:t>$12.3M</a:t>
            </a:r>
            <a:endParaRPr lang="en-US" sz="2475" dirty="0"/>
          </a:p>
        </p:txBody>
      </p:sp>
      <p:sp>
        <p:nvSpPr>
          <p:cNvPr id="20" name="Text 17"/>
          <p:cNvSpPr/>
          <p:nvPr/>
        </p:nvSpPr>
        <p:spPr>
          <a:xfrm>
            <a:off x="3307556" y="1207294"/>
            <a:ext cx="2328863" cy="190470"/>
          </a:xfrm>
          <a:prstGeom prst="rect">
            <a:avLst/>
          </a:prstGeom>
          <a:noFill/>
          <a:ln/>
        </p:spPr>
        <p:txBody>
          <a:bodyPr wrap="none" lIns="0" tIns="0" rIns="0" bIns="0" rtlCol="0" anchor="t"/>
          <a:lstStyle/>
          <a:p>
            <a:pPr algn="l" indent="0" marL="0">
              <a:lnSpc>
                <a:spcPts val="1389"/>
              </a:lnSpc>
              <a:buNone/>
            </a:pPr>
            <a:r>
              <a:rPr lang="en-US" sz="1069" dirty="0">
                <a:solidFill>
                  <a:srgbClr val="A7B0CE"/>
                </a:solidFill>
                <a:latin typeface="Carlito" pitchFamily="34" charset="0"/>
                <a:ea typeface="Carlito" pitchFamily="34" charset="-122"/>
                <a:cs typeface="Carlito" pitchFamily="34" charset="-120"/>
              </a:rPr>
              <a:t>ARR</a:t>
            </a:r>
            <a:endParaRPr lang="en-US" sz="1069" dirty="0"/>
          </a:p>
        </p:txBody>
      </p:sp>
      <p:sp>
        <p:nvSpPr>
          <p:cNvPr id="21" name="Text 18"/>
          <p:cNvSpPr/>
          <p:nvPr/>
        </p:nvSpPr>
        <p:spPr>
          <a:xfrm>
            <a:off x="3284696" y="1457164"/>
            <a:ext cx="1041715" cy="228029"/>
          </a:xfrm>
          <a:prstGeom prst="roundRect">
            <a:avLst>
              <a:gd name="adj" fmla="val 4172923"/>
            </a:avLst>
          </a:prstGeom>
          <a:solidFill>
            <a:srgbClr val="8B5CF6">
              <a:alpha val="16000"/>
            </a:srgbClr>
          </a:solidFill>
          <a:ln w="7144">
            <a:solidFill>
              <a:srgbClr val="8B5CF6"/>
            </a:solidFill>
            <a:prstDash val="solid"/>
          </a:ln>
        </p:spPr>
        <p:txBody>
          <a:bodyPr wrap="square" rtlCol="0" anchor="ctr"/>
          <a:lstStyle/>
          <a:p>
            <a:pPr indent="0" marL="0">
              <a:buNone/>
            </a:pPr>
            <a:endParaRPr lang="en-US" dirty="0"/>
          </a:p>
        </p:txBody>
      </p:sp>
      <p:sp>
        <p:nvSpPr>
          <p:cNvPr id="22" name="Text 19"/>
          <p:cNvSpPr/>
          <p:nvPr/>
        </p:nvSpPr>
        <p:spPr>
          <a:xfrm>
            <a:off x="3400425" y="1549747"/>
            <a:ext cx="42863" cy="42863"/>
          </a:xfrm>
          <a:prstGeom prst="roundRect">
            <a:avLst>
              <a:gd name="adj" fmla="val 66666"/>
            </a:avLst>
          </a:prstGeom>
          <a:solidFill>
            <a:srgbClr val="8B5CF6"/>
          </a:solidFill>
          <a:ln/>
        </p:spPr>
        <p:txBody>
          <a:bodyPr wrap="square" rtlCol="0" anchor="ctr"/>
          <a:lstStyle/>
          <a:p>
            <a:pPr indent="0" marL="0">
              <a:buNone/>
            </a:pPr>
            <a:endParaRPr lang="en-US" dirty="0"/>
          </a:p>
        </p:txBody>
      </p:sp>
      <p:sp>
        <p:nvSpPr>
          <p:cNvPr id="23" name="Text 20"/>
          <p:cNvSpPr/>
          <p:nvPr/>
        </p:nvSpPr>
        <p:spPr>
          <a:xfrm>
            <a:off x="3307556" y="1469380"/>
            <a:ext cx="995995" cy="203597"/>
          </a:xfrm>
          <a:prstGeom prst="rect">
            <a:avLst/>
          </a:prstGeom>
          <a:noFill/>
          <a:ln/>
        </p:spPr>
        <p:txBody>
          <a:bodyPr wrap="none" lIns="0" tIns="0" rIns="0" bIns="0" rtlCol="0" anchor="ctr"/>
          <a:lstStyle/>
          <a:p>
            <a:pPr algn="ctr" indent="0" marL="0">
              <a:lnSpc>
                <a:spcPts val="928"/>
              </a:lnSpc>
              <a:buNone/>
            </a:pPr>
            <a:r>
              <a:rPr lang="en-US" sz="800" spc="31" kern="0" dirty="0">
                <a:solidFill>
                  <a:srgbClr val="EDEFF9"/>
                </a:solidFill>
                <a:latin typeface="Liberation Sans Narrow" pitchFamily="34" charset="0"/>
                <a:ea typeface="Liberation Sans Narrow" pitchFamily="34" charset="-122"/>
                <a:cs typeface="Liberation Sans Narrow" pitchFamily="34" charset="-120"/>
              </a:rPr>
              <a:t>85% YoY growth</a:t>
            </a:r>
            <a:endParaRPr lang="en-US" sz="800" dirty="0"/>
          </a:p>
        </p:txBody>
      </p:sp>
      <p:sp>
        <p:nvSpPr>
          <p:cNvPr id="24" name="Text 21"/>
          <p:cNvSpPr/>
          <p:nvPr/>
        </p:nvSpPr>
        <p:spPr>
          <a:xfrm>
            <a:off x="3307556" y="1963638"/>
            <a:ext cx="2438591" cy="133945"/>
          </a:xfrm>
          <a:prstGeom prst="rect">
            <a:avLst/>
          </a:prstGeom>
          <a:noFill/>
          <a:ln/>
        </p:spPr>
        <p:txBody>
          <a:bodyPr wrap="square" lIns="0" tIns="0" rIns="0" bIns="0" rtlCol="0" anchor="t"/>
          <a:lstStyle/>
          <a:p>
            <a:pPr algn="l" indent="0" marL="0">
              <a:lnSpc>
                <a:spcPts val="1055"/>
              </a:lnSpc>
              <a:buNone/>
            </a:pPr>
            <a:r>
              <a:rPr lang="en-US" sz="800" dirty="0">
                <a:solidFill>
                  <a:srgbClr val="A7B0CE"/>
                </a:solidFill>
                <a:latin typeface="Liberation Sans Narrow" pitchFamily="34" charset="0"/>
                <a:ea typeface="Liberation Sans Narrow" pitchFamily="34" charset="-122"/>
                <a:cs typeface="Liberation Sans Narrow" pitchFamily="34" charset="-120"/>
              </a:rPr>
              <a:t>Q3 revenue of </a:t>
            </a:r>
            <a:pPr algn="l" indent="0" marL="0">
              <a:lnSpc>
                <a:spcPts val="1055"/>
              </a:lnSpc>
              <a:buNone/>
            </a:pPr>
            <a:r>
              <a:rPr lang="en-US" sz="800" dirty="0">
                <a:solidFill>
                  <a:srgbClr val="2DD4A7"/>
                </a:solidFill>
                <a:latin typeface="Liberation Sans Narrow" pitchFamily="34" charset="0"/>
                <a:ea typeface="Liberation Sans Narrow" pitchFamily="34" charset="-122"/>
                <a:cs typeface="Liberation Sans Narrow" pitchFamily="34" charset="-120"/>
              </a:rPr>
              <a:t>$3.1M</a:t>
            </a:r>
            <a:pPr algn="l" indent="0" marL="0">
              <a:lnSpc>
                <a:spcPts val="1055"/>
              </a:lnSpc>
              <a:buNone/>
            </a:pPr>
            <a:r>
              <a:rPr lang="en-US" sz="800" dirty="0">
                <a:solidFill>
                  <a:srgbClr val="A7B0CE"/>
                </a:solidFill>
                <a:latin typeface="Carlito" pitchFamily="34" charset="0"/>
                <a:ea typeface="Carlito" pitchFamily="34" charset="-122"/>
                <a:cs typeface="Carlito" pitchFamily="34" charset="-120"/>
              </a:rPr>
              <a:t>, up </a:t>
            </a:r>
            <a:pPr algn="l" indent="0" marL="0">
              <a:lnSpc>
                <a:spcPts val="1055"/>
              </a:lnSpc>
              <a:buNone/>
            </a:pPr>
            <a:r>
              <a:rPr lang="en-US" sz="800" dirty="0">
                <a:solidFill>
                  <a:srgbClr val="2DD4A7"/>
                </a:solidFill>
                <a:latin typeface="Liberation Sans Narrow" pitchFamily="34" charset="0"/>
                <a:ea typeface="Liberation Sans Narrow" pitchFamily="34" charset="-122"/>
                <a:cs typeface="Liberation Sans Narrow" pitchFamily="34" charset="-120"/>
              </a:rPr>
              <a:t>22%</a:t>
            </a:r>
            <a:pPr algn="l" indent="0" marL="0">
              <a:lnSpc>
                <a:spcPts val="1055"/>
              </a:lnSpc>
              <a:buNone/>
            </a:pPr>
            <a:r>
              <a:rPr lang="en-US" sz="800" dirty="0">
                <a:solidFill>
                  <a:srgbClr val="A7B0CE"/>
                </a:solidFill>
                <a:latin typeface="Carlito" pitchFamily="34" charset="0"/>
                <a:ea typeface="Carlito" pitchFamily="34" charset="-122"/>
                <a:cs typeface="Carlito" pitchFamily="34" charset="-120"/>
              </a:rPr>
              <a:t> QoQ</a:t>
            </a:r>
            <a:endParaRPr lang="en-US" sz="800" dirty="0"/>
          </a:p>
        </p:txBody>
      </p:sp>
      <p:sp>
        <p:nvSpPr>
          <p:cNvPr id="25" name="Text 22"/>
          <p:cNvSpPr/>
          <p:nvPr/>
        </p:nvSpPr>
        <p:spPr>
          <a:xfrm>
            <a:off x="5947172" y="432197"/>
            <a:ext cx="2678906" cy="1826121"/>
          </a:xfrm>
          <a:prstGeom prst="roundRect">
            <a:avLst>
              <a:gd name="adj" fmla="val 7302"/>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26" name="Text 23"/>
          <p:cNvSpPr/>
          <p:nvPr/>
        </p:nvSpPr>
        <p:spPr>
          <a:xfrm>
            <a:off x="6122194" y="608112"/>
            <a:ext cx="2171700" cy="164592"/>
          </a:xfrm>
          <a:prstGeom prst="rect">
            <a:avLst/>
          </a:prstGeom>
          <a:noFill/>
          <a:ln/>
        </p:spPr>
        <p:txBody>
          <a:bodyPr wrap="none" lIns="0" tIns="0" rIns="0" bIns="0" rtlCol="0" anchor="t"/>
          <a:lstStyle/>
          <a:p>
            <a:pPr algn="l" indent="0" marL="0">
              <a:lnSpc>
                <a:spcPts val="886"/>
              </a:lnSpc>
              <a:buNone/>
            </a:pPr>
            <a:r>
              <a:rPr lang="en-US" sz="800" spc="95" kern="0" dirty="0">
                <a:solidFill>
                  <a:srgbClr val="A7B0CE"/>
                </a:solidFill>
                <a:latin typeface="Courier New" pitchFamily="34" charset="0"/>
                <a:ea typeface="Courier New" pitchFamily="34" charset="-122"/>
                <a:cs typeface="Courier New" pitchFamily="34" charset="-120"/>
              </a:rPr>
              <a:t>CUSTOMER GROWTH</a:t>
            </a:r>
            <a:endParaRPr lang="en-US" sz="800" dirty="0"/>
          </a:p>
        </p:txBody>
      </p:sp>
      <p:sp>
        <p:nvSpPr>
          <p:cNvPr id="27" name="Text 24"/>
          <p:cNvSpPr/>
          <p:nvPr/>
        </p:nvSpPr>
        <p:spPr>
          <a:xfrm>
            <a:off x="8308181" y="592931"/>
            <a:ext cx="142875" cy="142875"/>
          </a:xfrm>
          <a:prstGeom prst="rect">
            <a:avLst/>
          </a:prstGeom>
          <a:noFill/>
          <a:ln/>
        </p:spPr>
        <p:txBody>
          <a:bodyPr wrap="none" lIns="0" tIns="0" rIns="0" bIns="0" rtlCol="0" anchor="ctr"/>
          <a:lstStyle/>
          <a:p>
            <a:pPr algn="ctr" indent="0" marL="0">
              <a:buNone/>
            </a:pPr>
            <a:r>
              <a:rPr lang="en-US" sz="1406" dirty="0">
                <a:solidFill>
                  <a:srgbClr val="8B5CF6"/>
                </a:solidFill>
                <a:latin typeface="Segoe UI Symbol" pitchFamily="34" charset="0"/>
                <a:ea typeface="Segoe UI Symbol" pitchFamily="34" charset="-122"/>
                <a:cs typeface="Segoe UI Symbol" pitchFamily="34" charset="-120"/>
              </a:rPr>
              <a:t>♟</a:t>
            </a:r>
            <a:endParaRPr lang="en-US" sz="1406" dirty="0"/>
          </a:p>
        </p:txBody>
      </p:sp>
      <p:sp>
        <p:nvSpPr>
          <p:cNvPr id="28" name="Text 25"/>
          <p:cNvSpPr/>
          <p:nvPr/>
        </p:nvSpPr>
        <p:spPr>
          <a:xfrm>
            <a:off x="6122194" y="807244"/>
            <a:ext cx="878324" cy="393478"/>
          </a:xfrm>
          <a:prstGeom prst="rect">
            <a:avLst/>
          </a:prstGeom>
          <a:noFill/>
          <a:ln/>
        </p:spPr>
        <p:txBody>
          <a:bodyPr wrap="none" lIns="0" tIns="0" rIns="0" bIns="0" rtlCol="0" anchor="t"/>
          <a:lstStyle/>
          <a:p>
            <a:pPr algn="l" indent="0" marL="0">
              <a:lnSpc>
                <a:spcPts val="2475"/>
              </a:lnSpc>
              <a:buNone/>
            </a:pPr>
            <a:r>
              <a:rPr lang="en-US" sz="2475" b="1" spc="-49" kern="0" dirty="0">
                <a:solidFill>
                  <a:srgbClr val="EDEFF9"/>
                </a:solidFill>
                <a:latin typeface="Liberation Sans Narrow" pitchFamily="34" charset="0"/>
                <a:ea typeface="Liberation Sans Narrow" pitchFamily="34" charset="-122"/>
                <a:cs typeface="Liberation Sans Narrow" pitchFamily="34" charset="-120"/>
              </a:rPr>
              <a:t>120</a:t>
            </a:r>
            <a:endParaRPr lang="en-US" sz="2475" dirty="0"/>
          </a:p>
        </p:txBody>
      </p:sp>
      <p:sp>
        <p:nvSpPr>
          <p:cNvPr id="29" name="Text 26"/>
          <p:cNvSpPr/>
          <p:nvPr/>
        </p:nvSpPr>
        <p:spPr>
          <a:xfrm>
            <a:off x="6122194" y="1207294"/>
            <a:ext cx="2328863" cy="190470"/>
          </a:xfrm>
          <a:prstGeom prst="rect">
            <a:avLst/>
          </a:prstGeom>
          <a:noFill/>
          <a:ln/>
        </p:spPr>
        <p:txBody>
          <a:bodyPr wrap="none" lIns="0" tIns="0" rIns="0" bIns="0" rtlCol="0" anchor="t"/>
          <a:lstStyle/>
          <a:p>
            <a:pPr algn="l" indent="0" marL="0">
              <a:lnSpc>
                <a:spcPts val="1389"/>
              </a:lnSpc>
              <a:buNone/>
            </a:pPr>
            <a:r>
              <a:rPr lang="en-US" sz="1069" dirty="0">
                <a:solidFill>
                  <a:srgbClr val="A7B0CE"/>
                </a:solidFill>
                <a:latin typeface="Carlito" pitchFamily="34" charset="0"/>
                <a:ea typeface="Carlito" pitchFamily="34" charset="-122"/>
                <a:cs typeface="Carlito" pitchFamily="34" charset="-120"/>
              </a:rPr>
              <a:t>new enterprise customers</a:t>
            </a:r>
            <a:endParaRPr lang="en-US" sz="1069" dirty="0"/>
          </a:p>
        </p:txBody>
      </p:sp>
      <p:sp>
        <p:nvSpPr>
          <p:cNvPr id="30" name="Text 27"/>
          <p:cNvSpPr/>
          <p:nvPr/>
        </p:nvSpPr>
        <p:spPr>
          <a:xfrm>
            <a:off x="6099334" y="1457164"/>
            <a:ext cx="1195417" cy="228029"/>
          </a:xfrm>
          <a:prstGeom prst="roundRect">
            <a:avLst>
              <a:gd name="adj" fmla="val 4172923"/>
            </a:avLst>
          </a:prstGeom>
          <a:solidFill>
            <a:srgbClr val="8B5CF6">
              <a:alpha val="16000"/>
            </a:srgbClr>
          </a:solidFill>
          <a:ln w="7144">
            <a:solidFill>
              <a:srgbClr val="8B5CF6"/>
            </a:solidFill>
            <a:prstDash val="solid"/>
          </a:ln>
        </p:spPr>
        <p:txBody>
          <a:bodyPr wrap="square" rtlCol="0" anchor="ctr"/>
          <a:lstStyle/>
          <a:p>
            <a:pPr indent="0" marL="0">
              <a:buNone/>
            </a:pPr>
            <a:endParaRPr lang="en-US" dirty="0"/>
          </a:p>
        </p:txBody>
      </p:sp>
      <p:sp>
        <p:nvSpPr>
          <p:cNvPr id="31" name="Text 28"/>
          <p:cNvSpPr/>
          <p:nvPr/>
        </p:nvSpPr>
        <p:spPr>
          <a:xfrm>
            <a:off x="6215063" y="1549747"/>
            <a:ext cx="42863" cy="42863"/>
          </a:xfrm>
          <a:prstGeom prst="roundRect">
            <a:avLst>
              <a:gd name="adj" fmla="val 66666"/>
            </a:avLst>
          </a:prstGeom>
          <a:solidFill>
            <a:srgbClr val="8B5CF6"/>
          </a:solidFill>
          <a:ln/>
        </p:spPr>
        <p:txBody>
          <a:bodyPr wrap="square" rtlCol="0" anchor="ctr"/>
          <a:lstStyle/>
          <a:p>
            <a:pPr indent="0" marL="0">
              <a:buNone/>
            </a:pPr>
            <a:endParaRPr lang="en-US" dirty="0"/>
          </a:p>
        </p:txBody>
      </p:sp>
      <p:sp>
        <p:nvSpPr>
          <p:cNvPr id="32" name="Text 29"/>
          <p:cNvSpPr/>
          <p:nvPr/>
        </p:nvSpPr>
        <p:spPr>
          <a:xfrm>
            <a:off x="6122194" y="1469380"/>
            <a:ext cx="1149697" cy="203597"/>
          </a:xfrm>
          <a:prstGeom prst="rect">
            <a:avLst/>
          </a:prstGeom>
          <a:noFill/>
          <a:ln/>
        </p:spPr>
        <p:txBody>
          <a:bodyPr wrap="none" lIns="0" tIns="0" rIns="0" bIns="0" rtlCol="0" anchor="ctr"/>
          <a:lstStyle/>
          <a:p>
            <a:pPr algn="ctr" indent="0" marL="0">
              <a:lnSpc>
                <a:spcPts val="928"/>
              </a:lnSpc>
              <a:buNone/>
            </a:pPr>
            <a:r>
              <a:rPr lang="en-US" sz="800" spc="31" kern="0" dirty="0">
                <a:solidFill>
                  <a:srgbClr val="EDEFF9"/>
                </a:solidFill>
                <a:latin typeface="Liberation Sans Narrow" pitchFamily="34" charset="0"/>
                <a:ea typeface="Liberation Sans Narrow" pitchFamily="34" charset="-122"/>
                <a:cs typeface="Liberation Sans Narrow" pitchFamily="34" charset="-120"/>
              </a:rPr>
              <a:t>45% net retention</a:t>
            </a:r>
            <a:endParaRPr lang="en-US" sz="800" dirty="0"/>
          </a:p>
        </p:txBody>
      </p:sp>
      <p:sp>
        <p:nvSpPr>
          <p:cNvPr id="33" name="Text 30"/>
          <p:cNvSpPr/>
          <p:nvPr/>
        </p:nvSpPr>
        <p:spPr>
          <a:xfrm>
            <a:off x="6122194" y="1963638"/>
            <a:ext cx="2438590" cy="133945"/>
          </a:xfrm>
          <a:prstGeom prst="rect">
            <a:avLst/>
          </a:prstGeom>
          <a:noFill/>
          <a:ln/>
        </p:spPr>
        <p:txBody>
          <a:bodyPr wrap="square" lIns="0" tIns="0" rIns="0" bIns="0" rtlCol="0" anchor="t"/>
          <a:lstStyle/>
          <a:p>
            <a:pPr algn="l" indent="0" marL="0">
              <a:lnSpc>
                <a:spcPts val="1055"/>
              </a:lnSpc>
              <a:buNone/>
            </a:pPr>
            <a:r>
              <a:rPr lang="en-US" sz="800" dirty="0">
                <a:solidFill>
                  <a:srgbClr val="EDEFF9"/>
                </a:solidFill>
                <a:latin typeface="Liberation Sans Narrow" pitchFamily="34" charset="0"/>
                <a:ea typeface="Liberation Sans Narrow" pitchFamily="34" charset="-122"/>
                <a:cs typeface="Liberation Sans Narrow" pitchFamily="34" charset="-120"/>
              </a:rPr>
              <a:t>342</a:t>
            </a:r>
            <a:pPr algn="l" indent="0" marL="0">
              <a:lnSpc>
                <a:spcPts val="1055"/>
              </a:lnSpc>
              <a:buNone/>
            </a:pPr>
            <a:r>
              <a:rPr lang="en-US" sz="800" dirty="0">
                <a:solidFill>
                  <a:srgbClr val="A7B0CE"/>
                </a:solidFill>
                <a:latin typeface="Carlito" pitchFamily="34" charset="0"/>
                <a:ea typeface="Carlito" pitchFamily="34" charset="-122"/>
                <a:cs typeface="Carlito" pitchFamily="34" charset="-120"/>
              </a:rPr>
              <a:t> total customers, up </a:t>
            </a:r>
            <a:pPr algn="l" indent="0" marL="0">
              <a:lnSpc>
                <a:spcPts val="1055"/>
              </a:lnSpc>
              <a:buNone/>
            </a:pPr>
            <a:r>
              <a:rPr lang="en-US" sz="800" dirty="0">
                <a:solidFill>
                  <a:srgbClr val="2DD4A7"/>
                </a:solidFill>
                <a:latin typeface="Liberation Sans Narrow" pitchFamily="34" charset="0"/>
                <a:ea typeface="Liberation Sans Narrow" pitchFamily="34" charset="-122"/>
                <a:cs typeface="Liberation Sans Narrow" pitchFamily="34" charset="-120"/>
              </a:rPr>
              <a:t>68%</a:t>
            </a:r>
            <a:pPr algn="l" indent="0" marL="0">
              <a:lnSpc>
                <a:spcPts val="1055"/>
              </a:lnSpc>
              <a:buNone/>
            </a:pPr>
            <a:r>
              <a:rPr lang="en-US" sz="800" dirty="0">
                <a:solidFill>
                  <a:srgbClr val="A7B0CE"/>
                </a:solidFill>
                <a:latin typeface="Carlito" pitchFamily="34" charset="0"/>
                <a:ea typeface="Carlito" pitchFamily="34" charset="-122"/>
                <a:cs typeface="Carlito" pitchFamily="34" charset="-120"/>
              </a:rPr>
              <a:t> YoY</a:t>
            </a:r>
            <a:endParaRPr lang="en-US" sz="800" dirty="0"/>
          </a:p>
        </p:txBody>
      </p:sp>
      <p:sp>
        <p:nvSpPr>
          <p:cNvPr id="34" name="Text 31"/>
          <p:cNvSpPr/>
          <p:nvPr/>
        </p:nvSpPr>
        <p:spPr>
          <a:xfrm>
            <a:off x="3132534" y="2394049"/>
            <a:ext cx="2678906" cy="1826121"/>
          </a:xfrm>
          <a:prstGeom prst="roundRect">
            <a:avLst>
              <a:gd name="adj" fmla="val 7302"/>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35" name="Text 32"/>
          <p:cNvSpPr/>
          <p:nvPr/>
        </p:nvSpPr>
        <p:spPr>
          <a:xfrm>
            <a:off x="3307556" y="2569964"/>
            <a:ext cx="2171700" cy="164592"/>
          </a:xfrm>
          <a:prstGeom prst="rect">
            <a:avLst/>
          </a:prstGeom>
          <a:noFill/>
          <a:ln/>
        </p:spPr>
        <p:txBody>
          <a:bodyPr wrap="none" lIns="0" tIns="0" rIns="0" bIns="0" rtlCol="0" anchor="t"/>
          <a:lstStyle/>
          <a:p>
            <a:pPr algn="l" indent="0" marL="0">
              <a:lnSpc>
                <a:spcPts val="886"/>
              </a:lnSpc>
              <a:buNone/>
            </a:pPr>
            <a:r>
              <a:rPr lang="en-US" sz="800" spc="95" kern="0" dirty="0">
                <a:solidFill>
                  <a:srgbClr val="A7B0CE"/>
                </a:solidFill>
                <a:latin typeface="Courier New" pitchFamily="34" charset="0"/>
                <a:ea typeface="Courier New" pitchFamily="34" charset="-122"/>
                <a:cs typeface="Courier New" pitchFamily="34" charset="-120"/>
              </a:rPr>
              <a:t>PRODUCT EXPANSION</a:t>
            </a:r>
            <a:endParaRPr lang="en-US" sz="800" dirty="0"/>
          </a:p>
        </p:txBody>
      </p:sp>
      <p:sp>
        <p:nvSpPr>
          <p:cNvPr id="36" name="Text 33"/>
          <p:cNvSpPr/>
          <p:nvPr/>
        </p:nvSpPr>
        <p:spPr>
          <a:xfrm>
            <a:off x="5493544" y="2554784"/>
            <a:ext cx="142875" cy="142875"/>
          </a:xfrm>
          <a:prstGeom prst="rect">
            <a:avLst/>
          </a:prstGeom>
          <a:noFill/>
          <a:ln/>
        </p:spPr>
        <p:txBody>
          <a:bodyPr wrap="none" lIns="0" tIns="0" rIns="0" bIns="0" rtlCol="0" anchor="ctr"/>
          <a:lstStyle/>
          <a:p>
            <a:pPr algn="ctr" indent="0" marL="0">
              <a:buNone/>
            </a:pPr>
            <a:r>
              <a:rPr lang="en-US" sz="1406" dirty="0">
                <a:solidFill>
                  <a:srgbClr val="8B5CF6"/>
                </a:solidFill>
                <a:latin typeface="Segoe UI Symbol" pitchFamily="34" charset="0"/>
                <a:ea typeface="Segoe UI Symbol" pitchFamily="34" charset="-122"/>
                <a:cs typeface="Segoe UI Symbol" pitchFamily="34" charset="-120"/>
              </a:rPr>
              <a:t>▦</a:t>
            </a:r>
            <a:endParaRPr lang="en-US" sz="1406" dirty="0"/>
          </a:p>
        </p:txBody>
      </p:sp>
      <p:sp>
        <p:nvSpPr>
          <p:cNvPr id="37" name="Text 34"/>
          <p:cNvSpPr/>
          <p:nvPr/>
        </p:nvSpPr>
        <p:spPr>
          <a:xfrm>
            <a:off x="3307556" y="2769096"/>
            <a:ext cx="292894" cy="393478"/>
          </a:xfrm>
          <a:prstGeom prst="rect">
            <a:avLst/>
          </a:prstGeom>
          <a:noFill/>
          <a:ln/>
        </p:spPr>
        <p:txBody>
          <a:bodyPr wrap="none" lIns="0" tIns="0" rIns="0" bIns="0" rtlCol="0" anchor="t"/>
          <a:lstStyle/>
          <a:p>
            <a:pPr algn="l" indent="0" marL="0">
              <a:lnSpc>
                <a:spcPts val="2475"/>
              </a:lnSpc>
              <a:buNone/>
            </a:pPr>
            <a:r>
              <a:rPr lang="en-US" sz="2475" b="1" spc="-49" kern="0" dirty="0">
                <a:solidFill>
                  <a:srgbClr val="EDEFF9"/>
                </a:solidFill>
                <a:latin typeface="Liberation Sans Narrow" pitchFamily="34" charset="0"/>
                <a:ea typeface="Liberation Sans Narrow" pitchFamily="34" charset="-122"/>
                <a:cs typeface="Liberation Sans Narrow" pitchFamily="34" charset="-120"/>
              </a:rPr>
              <a:t>3</a:t>
            </a:r>
            <a:endParaRPr lang="en-US" sz="2475" dirty="0"/>
          </a:p>
        </p:txBody>
      </p:sp>
      <p:sp>
        <p:nvSpPr>
          <p:cNvPr id="38" name="Text 35"/>
          <p:cNvSpPr/>
          <p:nvPr/>
        </p:nvSpPr>
        <p:spPr>
          <a:xfrm>
            <a:off x="3307556" y="3169146"/>
            <a:ext cx="2328863" cy="190470"/>
          </a:xfrm>
          <a:prstGeom prst="rect">
            <a:avLst/>
          </a:prstGeom>
          <a:noFill/>
          <a:ln/>
        </p:spPr>
        <p:txBody>
          <a:bodyPr wrap="none" lIns="0" tIns="0" rIns="0" bIns="0" rtlCol="0" anchor="t"/>
          <a:lstStyle/>
          <a:p>
            <a:pPr algn="l" indent="0" marL="0">
              <a:lnSpc>
                <a:spcPts val="1389"/>
              </a:lnSpc>
              <a:buNone/>
            </a:pPr>
            <a:r>
              <a:rPr lang="en-US" sz="1069" dirty="0">
                <a:solidFill>
                  <a:srgbClr val="A7B0CE"/>
                </a:solidFill>
                <a:latin typeface="Carlito" pitchFamily="34" charset="0"/>
                <a:ea typeface="Carlito" pitchFamily="34" charset="-122"/>
                <a:cs typeface="Carlito" pitchFamily="34" charset="-120"/>
              </a:rPr>
              <a:t>new AI modules launched</a:t>
            </a:r>
            <a:endParaRPr lang="en-US" sz="1069" dirty="0"/>
          </a:p>
        </p:txBody>
      </p:sp>
      <p:sp>
        <p:nvSpPr>
          <p:cNvPr id="39" name="Text 36"/>
          <p:cNvSpPr/>
          <p:nvPr/>
        </p:nvSpPr>
        <p:spPr>
          <a:xfrm>
            <a:off x="3284696" y="3419017"/>
            <a:ext cx="1144183" cy="228029"/>
          </a:xfrm>
          <a:prstGeom prst="roundRect">
            <a:avLst>
              <a:gd name="adj" fmla="val 4172923"/>
            </a:avLst>
          </a:prstGeom>
          <a:solidFill>
            <a:srgbClr val="8B5CF6">
              <a:alpha val="16000"/>
            </a:srgbClr>
          </a:solidFill>
          <a:ln w="7144">
            <a:solidFill>
              <a:srgbClr val="8B5CF6"/>
            </a:solidFill>
            <a:prstDash val="solid"/>
          </a:ln>
        </p:spPr>
        <p:txBody>
          <a:bodyPr wrap="square" rtlCol="0" anchor="ctr"/>
          <a:lstStyle/>
          <a:p>
            <a:pPr indent="0" marL="0">
              <a:buNone/>
            </a:pPr>
            <a:endParaRPr lang="en-US" dirty="0"/>
          </a:p>
        </p:txBody>
      </p:sp>
      <p:sp>
        <p:nvSpPr>
          <p:cNvPr id="40" name="Text 37"/>
          <p:cNvSpPr/>
          <p:nvPr/>
        </p:nvSpPr>
        <p:spPr>
          <a:xfrm>
            <a:off x="3400425" y="3511600"/>
            <a:ext cx="42863" cy="42863"/>
          </a:xfrm>
          <a:prstGeom prst="roundRect">
            <a:avLst>
              <a:gd name="adj" fmla="val 66666"/>
            </a:avLst>
          </a:prstGeom>
          <a:solidFill>
            <a:srgbClr val="8B5CF6"/>
          </a:solidFill>
          <a:ln/>
        </p:spPr>
        <p:txBody>
          <a:bodyPr wrap="square" rtlCol="0" anchor="ctr"/>
          <a:lstStyle/>
          <a:p>
            <a:pPr indent="0" marL="0">
              <a:buNone/>
            </a:pPr>
            <a:endParaRPr lang="en-US" dirty="0"/>
          </a:p>
        </p:txBody>
      </p:sp>
      <p:sp>
        <p:nvSpPr>
          <p:cNvPr id="41" name="Text 38"/>
          <p:cNvSpPr/>
          <p:nvPr/>
        </p:nvSpPr>
        <p:spPr>
          <a:xfrm>
            <a:off x="3307556" y="3431232"/>
            <a:ext cx="1098463" cy="203597"/>
          </a:xfrm>
          <a:prstGeom prst="rect">
            <a:avLst/>
          </a:prstGeom>
          <a:noFill/>
          <a:ln/>
        </p:spPr>
        <p:txBody>
          <a:bodyPr wrap="none" lIns="0" tIns="0" rIns="0" bIns="0" rtlCol="0" anchor="ctr"/>
          <a:lstStyle/>
          <a:p>
            <a:pPr algn="ctr" indent="0" marL="0">
              <a:lnSpc>
                <a:spcPts val="928"/>
              </a:lnSpc>
              <a:buNone/>
            </a:pPr>
            <a:r>
              <a:rPr lang="en-US" sz="800" spc="31" kern="0" dirty="0">
                <a:solidFill>
                  <a:srgbClr val="EDEFF9"/>
                </a:solidFill>
                <a:latin typeface="Liberation Sans Narrow" pitchFamily="34" charset="0"/>
                <a:ea typeface="Liberation Sans Narrow" pitchFamily="34" charset="-122"/>
                <a:cs typeface="Liberation Sans Narrow" pitchFamily="34" charset="-120"/>
              </a:rPr>
              <a:t>12 total modules</a:t>
            </a:r>
            <a:endParaRPr lang="en-US" sz="800" dirty="0"/>
          </a:p>
        </p:txBody>
      </p:sp>
      <p:sp>
        <p:nvSpPr>
          <p:cNvPr id="42" name="Text 39"/>
          <p:cNvSpPr/>
          <p:nvPr/>
        </p:nvSpPr>
        <p:spPr>
          <a:xfrm>
            <a:off x="3307556" y="3925491"/>
            <a:ext cx="2438591" cy="133945"/>
          </a:xfrm>
          <a:prstGeom prst="rect">
            <a:avLst/>
          </a:prstGeom>
          <a:noFill/>
          <a:ln/>
        </p:spPr>
        <p:txBody>
          <a:bodyPr wrap="square" lIns="0" tIns="0" rIns="0" bIns="0" rtlCol="0" anchor="t"/>
          <a:lstStyle/>
          <a:p>
            <a:pPr algn="l" indent="0" marL="0">
              <a:lnSpc>
                <a:spcPts val="1055"/>
              </a:lnSpc>
              <a:buNone/>
            </a:pPr>
            <a:r>
              <a:rPr lang="en-US" sz="703" dirty="0">
                <a:solidFill>
                  <a:srgbClr val="A7B0CE"/>
                </a:solidFill>
                <a:latin typeface="Carlito" pitchFamily="34" charset="0"/>
                <a:ea typeface="Carlito" pitchFamily="34" charset="-122"/>
                <a:cs typeface="Carlito" pitchFamily="34" charset="-120"/>
              </a:rPr>
              <a:t>NLP, orchestration &amp; analytics shipped in Q3</a:t>
            </a:r>
            <a:endParaRPr lang="en-US" sz="703" dirty="0"/>
          </a:p>
        </p:txBody>
      </p:sp>
      <p:sp>
        <p:nvSpPr>
          <p:cNvPr id="43" name="Text 40"/>
          <p:cNvSpPr/>
          <p:nvPr/>
        </p:nvSpPr>
        <p:spPr>
          <a:xfrm>
            <a:off x="5947172" y="2394049"/>
            <a:ext cx="2678906" cy="1826121"/>
          </a:xfrm>
          <a:prstGeom prst="roundRect">
            <a:avLst>
              <a:gd name="adj" fmla="val 7302"/>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44" name="Text 41"/>
          <p:cNvSpPr/>
          <p:nvPr/>
        </p:nvSpPr>
        <p:spPr>
          <a:xfrm>
            <a:off x="6122194" y="2569964"/>
            <a:ext cx="2171700" cy="164592"/>
          </a:xfrm>
          <a:prstGeom prst="rect">
            <a:avLst/>
          </a:prstGeom>
          <a:noFill/>
          <a:ln/>
        </p:spPr>
        <p:txBody>
          <a:bodyPr wrap="none" lIns="0" tIns="0" rIns="0" bIns="0" rtlCol="0" anchor="t"/>
          <a:lstStyle/>
          <a:p>
            <a:pPr algn="l" indent="0" marL="0">
              <a:lnSpc>
                <a:spcPts val="886"/>
              </a:lnSpc>
              <a:buNone/>
            </a:pPr>
            <a:r>
              <a:rPr lang="en-US" sz="800" spc="95" kern="0" dirty="0">
                <a:solidFill>
                  <a:srgbClr val="A7B0CE"/>
                </a:solidFill>
                <a:latin typeface="Courier New" pitchFamily="34" charset="0"/>
                <a:ea typeface="Courier New" pitchFamily="34" charset="-122"/>
                <a:cs typeface="Courier New" pitchFamily="34" charset="-120"/>
              </a:rPr>
              <a:t>MARKET POSITION</a:t>
            </a:r>
            <a:endParaRPr lang="en-US" sz="800" dirty="0"/>
          </a:p>
        </p:txBody>
      </p:sp>
      <p:sp>
        <p:nvSpPr>
          <p:cNvPr id="45" name="Text 42"/>
          <p:cNvSpPr/>
          <p:nvPr/>
        </p:nvSpPr>
        <p:spPr>
          <a:xfrm>
            <a:off x="8308181" y="2554784"/>
            <a:ext cx="142875" cy="142875"/>
          </a:xfrm>
          <a:prstGeom prst="rect">
            <a:avLst/>
          </a:prstGeom>
          <a:noFill/>
          <a:ln/>
        </p:spPr>
        <p:txBody>
          <a:bodyPr wrap="none" lIns="0" tIns="0" rIns="0" bIns="0" rtlCol="0" anchor="ctr"/>
          <a:lstStyle/>
          <a:p>
            <a:pPr algn="ctr" indent="0" marL="0">
              <a:buNone/>
            </a:pPr>
            <a:r>
              <a:rPr lang="en-US" sz="1406" dirty="0">
                <a:solidFill>
                  <a:srgbClr val="8B5CF6"/>
                </a:solidFill>
                <a:latin typeface="Segoe UI Symbol" pitchFamily="34" charset="0"/>
                <a:ea typeface="Segoe UI Symbol" pitchFamily="34" charset="-122"/>
                <a:cs typeface="Segoe UI Symbol" pitchFamily="34" charset="-120"/>
              </a:rPr>
              <a:t>▦</a:t>
            </a:r>
            <a:endParaRPr lang="en-US" sz="1406" dirty="0"/>
          </a:p>
        </p:txBody>
      </p:sp>
      <p:sp>
        <p:nvSpPr>
          <p:cNvPr id="46" name="Text 43"/>
          <p:cNvSpPr/>
          <p:nvPr/>
        </p:nvSpPr>
        <p:spPr>
          <a:xfrm>
            <a:off x="6122194" y="2769096"/>
            <a:ext cx="585609" cy="393478"/>
          </a:xfrm>
          <a:prstGeom prst="rect">
            <a:avLst/>
          </a:prstGeom>
          <a:noFill/>
          <a:ln/>
        </p:spPr>
        <p:txBody>
          <a:bodyPr wrap="none" lIns="0" tIns="0" rIns="0" bIns="0" rtlCol="0" anchor="t"/>
          <a:lstStyle/>
          <a:p>
            <a:pPr algn="l" indent="0" marL="0">
              <a:lnSpc>
                <a:spcPts val="2475"/>
              </a:lnSpc>
              <a:buNone/>
            </a:pPr>
            <a:r>
              <a:rPr lang="en-US" sz="2475" b="1" spc="-49" kern="0" dirty="0">
                <a:solidFill>
                  <a:srgbClr val="EDEFF9"/>
                </a:solidFill>
                <a:latin typeface="Liberation Sans Narrow" pitchFamily="34" charset="0"/>
                <a:ea typeface="Liberation Sans Narrow" pitchFamily="34" charset="-122"/>
                <a:cs typeface="Liberation Sans Narrow" pitchFamily="34" charset="-120"/>
              </a:rPr>
              <a:t>#2</a:t>
            </a:r>
            <a:endParaRPr lang="en-US" sz="2475" dirty="0"/>
          </a:p>
        </p:txBody>
      </p:sp>
      <p:sp>
        <p:nvSpPr>
          <p:cNvPr id="47" name="Text 44"/>
          <p:cNvSpPr/>
          <p:nvPr/>
        </p:nvSpPr>
        <p:spPr>
          <a:xfrm>
            <a:off x="6122194" y="3169146"/>
            <a:ext cx="2438590" cy="190470"/>
          </a:xfrm>
          <a:prstGeom prst="rect">
            <a:avLst/>
          </a:prstGeom>
          <a:noFill/>
          <a:ln/>
        </p:spPr>
        <p:txBody>
          <a:bodyPr wrap="square" lIns="0" tIns="0" rIns="0" bIns="0" rtlCol="0" anchor="t"/>
          <a:lstStyle/>
          <a:p>
            <a:pPr algn="l" indent="0" marL="0">
              <a:lnSpc>
                <a:spcPts val="1389"/>
              </a:lnSpc>
              <a:buNone/>
            </a:pPr>
            <a:r>
              <a:rPr lang="en-US" sz="1069" dirty="0">
                <a:solidFill>
                  <a:srgbClr val="A7B0CE"/>
                </a:solidFill>
                <a:latin typeface="Carlito" pitchFamily="34" charset="0"/>
                <a:ea typeface="Carlito" pitchFamily="34" charset="-122"/>
                <a:cs typeface="Carlito" pitchFamily="34" charset="-120"/>
              </a:rPr>
              <a:t>in enterprise AI platforms</a:t>
            </a:r>
            <a:endParaRPr lang="en-US" sz="1069" dirty="0"/>
          </a:p>
        </p:txBody>
      </p:sp>
      <p:sp>
        <p:nvSpPr>
          <p:cNvPr id="48" name="Text 45"/>
          <p:cNvSpPr/>
          <p:nvPr/>
        </p:nvSpPr>
        <p:spPr>
          <a:xfrm>
            <a:off x="6099334" y="3419017"/>
            <a:ext cx="1144183" cy="228029"/>
          </a:xfrm>
          <a:prstGeom prst="roundRect">
            <a:avLst>
              <a:gd name="adj" fmla="val 4172923"/>
            </a:avLst>
          </a:prstGeom>
          <a:solidFill>
            <a:srgbClr val="8B5CF6">
              <a:alpha val="16000"/>
            </a:srgbClr>
          </a:solidFill>
          <a:ln w="7144">
            <a:solidFill>
              <a:srgbClr val="8B5CF6"/>
            </a:solidFill>
            <a:prstDash val="solid"/>
          </a:ln>
        </p:spPr>
        <p:txBody>
          <a:bodyPr wrap="square" rtlCol="0" anchor="ctr"/>
          <a:lstStyle/>
          <a:p>
            <a:pPr indent="0" marL="0">
              <a:buNone/>
            </a:pPr>
            <a:endParaRPr lang="en-US" dirty="0"/>
          </a:p>
        </p:txBody>
      </p:sp>
      <p:sp>
        <p:nvSpPr>
          <p:cNvPr id="49" name="Text 46"/>
          <p:cNvSpPr/>
          <p:nvPr/>
        </p:nvSpPr>
        <p:spPr>
          <a:xfrm>
            <a:off x="6215063" y="3511600"/>
            <a:ext cx="42863" cy="42863"/>
          </a:xfrm>
          <a:prstGeom prst="roundRect">
            <a:avLst>
              <a:gd name="adj" fmla="val 66666"/>
            </a:avLst>
          </a:prstGeom>
          <a:solidFill>
            <a:srgbClr val="8B5CF6"/>
          </a:solidFill>
          <a:ln/>
        </p:spPr>
        <p:txBody>
          <a:bodyPr wrap="square" rtlCol="0" anchor="ctr"/>
          <a:lstStyle/>
          <a:p>
            <a:pPr indent="0" marL="0">
              <a:buNone/>
            </a:pPr>
            <a:endParaRPr lang="en-US" dirty="0"/>
          </a:p>
        </p:txBody>
      </p:sp>
      <p:sp>
        <p:nvSpPr>
          <p:cNvPr id="50" name="Text 47"/>
          <p:cNvSpPr/>
          <p:nvPr/>
        </p:nvSpPr>
        <p:spPr>
          <a:xfrm>
            <a:off x="6122194" y="3431232"/>
            <a:ext cx="1098463" cy="203597"/>
          </a:xfrm>
          <a:prstGeom prst="rect">
            <a:avLst/>
          </a:prstGeom>
          <a:noFill/>
          <a:ln/>
        </p:spPr>
        <p:txBody>
          <a:bodyPr wrap="none" lIns="0" tIns="0" rIns="0" bIns="0" rtlCol="0" anchor="ctr"/>
          <a:lstStyle/>
          <a:p>
            <a:pPr algn="ctr" indent="0" marL="0">
              <a:lnSpc>
                <a:spcPts val="928"/>
              </a:lnSpc>
              <a:buNone/>
            </a:pPr>
            <a:r>
              <a:rPr lang="en-US" sz="800" spc="31" kern="0" dirty="0">
                <a:solidFill>
                  <a:srgbClr val="EDEFF9"/>
                </a:solidFill>
                <a:latin typeface="Liberation Sans Narrow" pitchFamily="34" charset="0"/>
                <a:ea typeface="Liberation Sans Narrow" pitchFamily="34" charset="-122"/>
                <a:cs typeface="Liberation Sans Narrow" pitchFamily="34" charset="-120"/>
              </a:rPr>
              <a:t>18% market share</a:t>
            </a:r>
            <a:endParaRPr lang="en-US" sz="800" dirty="0"/>
          </a:p>
        </p:txBody>
      </p:sp>
      <p:sp>
        <p:nvSpPr>
          <p:cNvPr id="51" name="Text 48"/>
          <p:cNvSpPr/>
          <p:nvPr/>
        </p:nvSpPr>
        <p:spPr>
          <a:xfrm>
            <a:off x="6122194" y="3925491"/>
            <a:ext cx="2438590" cy="133945"/>
          </a:xfrm>
          <a:prstGeom prst="rect">
            <a:avLst/>
          </a:prstGeom>
          <a:noFill/>
          <a:ln/>
        </p:spPr>
        <p:txBody>
          <a:bodyPr wrap="square" lIns="0" tIns="0" rIns="0" bIns="0" rtlCol="0" anchor="t"/>
          <a:lstStyle/>
          <a:p>
            <a:pPr algn="l" indent="0" marL="0">
              <a:lnSpc>
                <a:spcPts val="1055"/>
              </a:lnSpc>
              <a:buNone/>
            </a:pPr>
            <a:r>
              <a:rPr lang="en-US" sz="800" dirty="0">
                <a:solidFill>
                  <a:srgbClr val="A7B0CE"/>
                </a:solidFill>
                <a:latin typeface="Carlito" pitchFamily="34" charset="0"/>
                <a:ea typeface="Carlito" pitchFamily="34" charset="-122"/>
                <a:cs typeface="Carlito" pitchFamily="34" charset="-120"/>
              </a:rPr>
              <a:t>Fastest growing in segment</a:t>
            </a:r>
            <a:endParaRPr lang="en-US" sz="800" dirty="0"/>
          </a:p>
        </p:txBody>
      </p:sp>
      <p:pic>
        <p:nvPicPr>
          <p:cNvPr id="52" name="Image 1" descr="preencoded.png">    </p:cNvPr>
          <p:cNvPicPr>
            <a:picLocks noChangeAspect="1"/>
          </p:cNvPicPr>
          <p:nvPr/>
        </p:nvPicPr>
        <p:blipFill>
          <a:blip r:embed="rId2"/>
          <a:stretch>
            <a:fillRect/>
          </a:stretch>
        </p:blipFill>
        <p:spPr>
          <a:xfrm>
            <a:off x="514350" y="4380905"/>
            <a:ext cx="8115300" cy="405408"/>
          </a:xfrm>
          <a:prstGeom prst="rect">
            <a:avLst/>
          </a:prstGeom>
        </p:spPr>
      </p:pic>
      <p:sp>
        <p:nvSpPr>
          <p:cNvPr id="53" name="Text 49"/>
          <p:cNvSpPr/>
          <p:nvPr/>
        </p:nvSpPr>
        <p:spPr>
          <a:xfrm>
            <a:off x="692944" y="4505027"/>
            <a:ext cx="157163" cy="157163"/>
          </a:xfrm>
          <a:prstGeom prst="rect">
            <a:avLst/>
          </a:prstGeom>
          <a:noFill/>
          <a:ln/>
        </p:spPr>
        <p:txBody>
          <a:bodyPr wrap="none" lIns="0" tIns="0" rIns="0" bIns="0" rtlCol="0" anchor="ctr"/>
          <a:lstStyle/>
          <a:p>
            <a:pPr algn="ctr" indent="0" marL="0">
              <a:buNone/>
            </a:pPr>
            <a:r>
              <a:rPr lang="en-US" sz="1547" dirty="0">
                <a:solidFill>
                  <a:srgbClr val="8B5CF6"/>
                </a:solidFill>
                <a:latin typeface="Segoe UI Symbol" pitchFamily="34" charset="0"/>
                <a:ea typeface="Segoe UI Symbol" pitchFamily="34" charset="-122"/>
                <a:cs typeface="Segoe UI Symbol" pitchFamily="34" charset="-120"/>
              </a:rPr>
              <a:t>⚡</a:t>
            </a:r>
            <a:endParaRPr lang="en-US" sz="1547" dirty="0"/>
          </a:p>
        </p:txBody>
      </p:sp>
      <p:sp>
        <p:nvSpPr>
          <p:cNvPr id="54" name="Text 50"/>
          <p:cNvSpPr/>
          <p:nvPr/>
        </p:nvSpPr>
        <p:spPr>
          <a:xfrm>
            <a:off x="950119" y="4495205"/>
            <a:ext cx="7515225" cy="176808"/>
          </a:xfrm>
          <a:prstGeom prst="rect">
            <a:avLst/>
          </a:prstGeom>
          <a:noFill/>
          <a:ln/>
        </p:spPr>
        <p:txBody>
          <a:bodyPr wrap="none" lIns="0" tIns="0" rIns="0" bIns="0" rtlCol="0" anchor="t"/>
          <a:lstStyle/>
          <a:p>
            <a:pPr algn="l" indent="0" marL="0">
              <a:lnSpc>
                <a:spcPts val="1392"/>
              </a:lnSpc>
              <a:buNone/>
            </a:pPr>
            <a:r>
              <a:rPr lang="en-US" sz="928" dirty="0">
                <a:solidFill>
                  <a:srgbClr val="EDEFF9"/>
                </a:solidFill>
                <a:latin typeface="Carlito" pitchFamily="34" charset="0"/>
                <a:ea typeface="Carlito" pitchFamily="34" charset="-122"/>
                <a:cs typeface="Carlito" pitchFamily="34" charset="-120"/>
              </a:rPr>
              <a:t>Accelerating AI adoption for enterprise customers.</a:t>
            </a:r>
            <a:endParaRPr lang="en-US" sz="928"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857375" y="-2286000"/>
            <a:ext cx="4857750" cy="4857750"/>
          </a:xfrm>
          <a:prstGeom prst="rect">
            <a:avLst/>
          </a:prstGeom>
        </p:spPr>
      </p:pic>
      <p:sp>
        <p:nvSpPr>
          <p:cNvPr id="3" name="Text 0"/>
          <p:cNvSpPr/>
          <p:nvPr/>
        </p:nvSpPr>
        <p:spPr>
          <a:xfrm>
            <a:off x="-1857375" y="-2286000"/>
            <a:ext cx="4857750" cy="4857750"/>
          </a:xfrm>
          <a:prstGeom prst="ellipse">
            <a:avLst/>
          </a:prstGeom>
          <a:solidFill>
            <a:srgbClr val="FFFFFF">
              <a:alpha val="0"/>
            </a:srgbClr>
          </a:solidFill>
          <a:ln/>
        </p:spPr>
        <p:txBody>
          <a:bodyPr wrap="square" rtlCol="0" anchor="ctr"/>
          <a:lstStyle/>
          <a:p>
            <a:pPr indent="0" marL="0">
              <a:buNone/>
            </a:pPr>
            <a:endParaRPr lang="en-US" dirty="0"/>
          </a:p>
        </p:txBody>
      </p:sp>
      <p:pic>
        <p:nvPicPr>
          <p:cNvPr id="4" name="Image 1" descr="preencoded.png">    </p:cNvPr>
          <p:cNvPicPr>
            <a:picLocks noChangeAspect="1"/>
          </p:cNvPicPr>
          <p:nvPr/>
        </p:nvPicPr>
        <p:blipFill>
          <a:blip r:embed="rId2"/>
          <a:stretch>
            <a:fillRect/>
          </a:stretch>
        </p:blipFill>
        <p:spPr>
          <a:xfrm>
            <a:off x="6572250" y="3143250"/>
            <a:ext cx="4000500" cy="4000500"/>
          </a:xfrm>
          <a:prstGeom prst="rect">
            <a:avLst/>
          </a:prstGeom>
        </p:spPr>
      </p:pic>
      <p:sp>
        <p:nvSpPr>
          <p:cNvPr id="5" name="Text 1"/>
          <p:cNvSpPr/>
          <p:nvPr/>
        </p:nvSpPr>
        <p:spPr>
          <a:xfrm>
            <a:off x="6572250" y="3143250"/>
            <a:ext cx="4000500" cy="4000500"/>
          </a:xfrm>
          <a:prstGeom prst="ellipse">
            <a:avLst/>
          </a:prstGeom>
          <a:solidFill>
            <a:srgbClr val="FFFFFF">
              <a:alpha val="0"/>
            </a:srgbClr>
          </a:solidFill>
          <a:ln/>
        </p:spPr>
        <p:txBody>
          <a:bodyPr wrap="square" rtlCol="0" anchor="ctr"/>
          <a:lstStyle/>
          <a:p>
            <a:pPr indent="0" marL="0">
              <a:buNone/>
            </a:pPr>
            <a:endParaRPr lang="en-US" dirty="0"/>
          </a:p>
        </p:txBody>
      </p:sp>
      <p:sp>
        <p:nvSpPr>
          <p:cNvPr id="6" name="Text 2"/>
          <p:cNvSpPr/>
          <p:nvPr/>
        </p:nvSpPr>
        <p:spPr>
          <a:xfrm>
            <a:off x="6294330" y="-214312"/>
            <a:ext cx="2849670" cy="1697355"/>
          </a:xfrm>
          <a:prstGeom prst="rect">
            <a:avLst/>
          </a:prstGeom>
          <a:noFill/>
          <a:ln/>
        </p:spPr>
        <p:txBody>
          <a:bodyPr wrap="square" lIns="0" tIns="0" rIns="0" bIns="0" rtlCol="0" anchor="t"/>
          <a:lstStyle/>
          <a:p>
            <a:pPr algn="l" indent="0" marL="0">
              <a:lnSpc>
                <a:spcPts val="12375"/>
              </a:lnSpc>
              <a:buNone/>
            </a:pPr>
            <a:r>
              <a:rPr lang="en-US" sz="12375" b="1" spc="-495" kern="0" dirty="0">
                <a:solidFill>
                  <a:srgbClr val="FFFFFF">
                    <a:alpha val="0"/>
                  </a:srgbClr>
                </a:solidFill>
                <a:latin typeface="Liberation Sans Narrow" pitchFamily="34" charset="0"/>
                <a:ea typeface="Liberation Sans Narrow" pitchFamily="34" charset="-122"/>
                <a:cs typeface="Liberation Sans Narrow" pitchFamily="34" charset="-120"/>
              </a:rPr>
              <a:t>02</a:t>
            </a:r>
            <a:endParaRPr lang="en-US" sz="12375" dirty="0"/>
          </a:p>
        </p:txBody>
      </p:sp>
      <p:sp>
        <p:nvSpPr>
          <p:cNvPr id="7" name="Shape 3"/>
          <p:cNvSpPr/>
          <p:nvPr/>
        </p:nvSpPr>
        <p:spPr>
          <a:xfrm>
            <a:off x="514350" y="1116211"/>
            <a:ext cx="2800350" cy="0"/>
          </a:xfrm>
          <a:prstGeom prst="line">
            <a:avLst/>
          </a:prstGeom>
          <a:noFill/>
          <a:ln w="7144">
            <a:solidFill>
              <a:srgbClr val="A7B0CE"/>
            </a:solidFill>
            <a:prstDash val="solid"/>
          </a:ln>
        </p:spPr>
      </p:sp>
      <p:sp>
        <p:nvSpPr>
          <p:cNvPr id="8" name="Shape 4"/>
          <p:cNvSpPr/>
          <p:nvPr/>
        </p:nvSpPr>
        <p:spPr>
          <a:xfrm>
            <a:off x="3311128" y="1112639"/>
            <a:ext cx="0" cy="1148358"/>
          </a:xfrm>
          <a:prstGeom prst="line">
            <a:avLst/>
          </a:prstGeom>
          <a:noFill/>
          <a:ln w="7144">
            <a:solidFill>
              <a:srgbClr val="A7B0CE"/>
            </a:solidFill>
            <a:prstDash val="solid"/>
          </a:ln>
        </p:spPr>
      </p:sp>
      <p:sp>
        <p:nvSpPr>
          <p:cNvPr id="9" name="Shape 5"/>
          <p:cNvSpPr/>
          <p:nvPr/>
        </p:nvSpPr>
        <p:spPr>
          <a:xfrm>
            <a:off x="514350" y="2257425"/>
            <a:ext cx="2800350" cy="0"/>
          </a:xfrm>
          <a:prstGeom prst="line">
            <a:avLst/>
          </a:prstGeom>
          <a:noFill/>
          <a:ln w="7144">
            <a:solidFill>
              <a:srgbClr val="A7B0CE"/>
            </a:solidFill>
            <a:prstDash val="solid"/>
          </a:ln>
        </p:spPr>
      </p:sp>
      <p:sp>
        <p:nvSpPr>
          <p:cNvPr id="10" name="Shape 6"/>
          <p:cNvSpPr/>
          <p:nvPr/>
        </p:nvSpPr>
        <p:spPr>
          <a:xfrm>
            <a:off x="525066" y="1112639"/>
            <a:ext cx="0" cy="1148358"/>
          </a:xfrm>
          <a:prstGeom prst="line">
            <a:avLst/>
          </a:prstGeom>
          <a:noFill/>
          <a:ln w="21431">
            <a:solidFill>
              <a:srgbClr val="8B5CF6"/>
            </a:solidFill>
            <a:prstDash val="solid"/>
          </a:ln>
        </p:spPr>
      </p:sp>
      <p:sp>
        <p:nvSpPr>
          <p:cNvPr id="11" name="Shape 7"/>
          <p:cNvSpPr/>
          <p:nvPr/>
        </p:nvSpPr>
        <p:spPr>
          <a:xfrm>
            <a:off x="514350" y="2378869"/>
            <a:ext cx="2800350" cy="0"/>
          </a:xfrm>
          <a:prstGeom prst="line">
            <a:avLst/>
          </a:prstGeom>
          <a:noFill/>
          <a:ln w="7144">
            <a:solidFill>
              <a:srgbClr val="A7B0CE"/>
            </a:solidFill>
            <a:prstDash val="solid"/>
          </a:ln>
        </p:spPr>
      </p:sp>
      <p:sp>
        <p:nvSpPr>
          <p:cNvPr id="12" name="Shape 8"/>
          <p:cNvSpPr/>
          <p:nvPr/>
        </p:nvSpPr>
        <p:spPr>
          <a:xfrm>
            <a:off x="3311128" y="2375297"/>
            <a:ext cx="0" cy="1148358"/>
          </a:xfrm>
          <a:prstGeom prst="line">
            <a:avLst/>
          </a:prstGeom>
          <a:noFill/>
          <a:ln w="7144">
            <a:solidFill>
              <a:srgbClr val="A7B0CE"/>
            </a:solidFill>
            <a:prstDash val="solid"/>
          </a:ln>
        </p:spPr>
      </p:sp>
      <p:sp>
        <p:nvSpPr>
          <p:cNvPr id="13" name="Shape 9"/>
          <p:cNvSpPr/>
          <p:nvPr/>
        </p:nvSpPr>
        <p:spPr>
          <a:xfrm>
            <a:off x="514350" y="3520083"/>
            <a:ext cx="2800350" cy="0"/>
          </a:xfrm>
          <a:prstGeom prst="line">
            <a:avLst/>
          </a:prstGeom>
          <a:noFill/>
          <a:ln w="7144">
            <a:solidFill>
              <a:srgbClr val="A7B0CE"/>
            </a:solidFill>
            <a:prstDash val="solid"/>
          </a:ln>
        </p:spPr>
      </p:sp>
      <p:sp>
        <p:nvSpPr>
          <p:cNvPr id="14" name="Shape 10"/>
          <p:cNvSpPr/>
          <p:nvPr/>
        </p:nvSpPr>
        <p:spPr>
          <a:xfrm>
            <a:off x="525066" y="2375297"/>
            <a:ext cx="0" cy="1148358"/>
          </a:xfrm>
          <a:prstGeom prst="line">
            <a:avLst/>
          </a:prstGeom>
          <a:noFill/>
          <a:ln w="21431">
            <a:solidFill>
              <a:srgbClr val="8B5CF6"/>
            </a:solidFill>
            <a:prstDash val="solid"/>
          </a:ln>
        </p:spPr>
      </p:sp>
      <p:sp>
        <p:nvSpPr>
          <p:cNvPr id="15" name="Shape 11"/>
          <p:cNvSpPr/>
          <p:nvPr/>
        </p:nvSpPr>
        <p:spPr>
          <a:xfrm>
            <a:off x="514350" y="3641527"/>
            <a:ext cx="2800350" cy="0"/>
          </a:xfrm>
          <a:prstGeom prst="line">
            <a:avLst/>
          </a:prstGeom>
          <a:noFill/>
          <a:ln w="7144">
            <a:solidFill>
              <a:srgbClr val="A7B0CE"/>
            </a:solidFill>
            <a:prstDash val="solid"/>
          </a:ln>
        </p:spPr>
      </p:sp>
      <p:sp>
        <p:nvSpPr>
          <p:cNvPr id="16" name="Shape 12"/>
          <p:cNvSpPr/>
          <p:nvPr/>
        </p:nvSpPr>
        <p:spPr>
          <a:xfrm>
            <a:off x="3311128" y="3637955"/>
            <a:ext cx="0" cy="1148358"/>
          </a:xfrm>
          <a:prstGeom prst="line">
            <a:avLst/>
          </a:prstGeom>
          <a:noFill/>
          <a:ln w="7144">
            <a:solidFill>
              <a:srgbClr val="A7B0CE"/>
            </a:solidFill>
            <a:prstDash val="solid"/>
          </a:ln>
        </p:spPr>
      </p:sp>
      <p:sp>
        <p:nvSpPr>
          <p:cNvPr id="17" name="Shape 13"/>
          <p:cNvSpPr/>
          <p:nvPr/>
        </p:nvSpPr>
        <p:spPr>
          <a:xfrm>
            <a:off x="514350" y="4782741"/>
            <a:ext cx="2800350" cy="0"/>
          </a:xfrm>
          <a:prstGeom prst="line">
            <a:avLst/>
          </a:prstGeom>
          <a:noFill/>
          <a:ln w="7144">
            <a:solidFill>
              <a:srgbClr val="A7B0CE"/>
            </a:solidFill>
            <a:prstDash val="solid"/>
          </a:ln>
        </p:spPr>
      </p:sp>
      <p:sp>
        <p:nvSpPr>
          <p:cNvPr id="18" name="Shape 14"/>
          <p:cNvSpPr/>
          <p:nvPr/>
        </p:nvSpPr>
        <p:spPr>
          <a:xfrm>
            <a:off x="525066" y="3637955"/>
            <a:ext cx="0" cy="1148358"/>
          </a:xfrm>
          <a:prstGeom prst="line">
            <a:avLst/>
          </a:prstGeom>
          <a:noFill/>
          <a:ln w="21431">
            <a:solidFill>
              <a:srgbClr val="8B5CF6"/>
            </a:solidFill>
            <a:prstDash val="solid"/>
          </a:ln>
        </p:spPr>
      </p:sp>
      <p:sp>
        <p:nvSpPr>
          <p:cNvPr id="19" name="Shape 15"/>
          <p:cNvSpPr/>
          <p:nvPr/>
        </p:nvSpPr>
        <p:spPr>
          <a:xfrm>
            <a:off x="3650456" y="3075496"/>
            <a:ext cx="4800600" cy="0"/>
          </a:xfrm>
          <a:prstGeom prst="line">
            <a:avLst/>
          </a:prstGeom>
          <a:noFill/>
          <a:ln w="7144">
            <a:solidFill>
              <a:srgbClr val="A7B0CE"/>
            </a:solidFill>
            <a:prstDash val="solid"/>
          </a:ln>
        </p:spPr>
      </p:sp>
      <p:sp>
        <p:nvSpPr>
          <p:cNvPr id="20" name="Text 16"/>
          <p:cNvSpPr/>
          <p:nvPr/>
        </p:nvSpPr>
        <p:spPr>
          <a:xfrm>
            <a:off x="514350" y="449163"/>
            <a:ext cx="257175" cy="14288"/>
          </a:xfrm>
          <a:prstGeom prst="rect">
            <a:avLst/>
          </a:prstGeom>
          <a:solidFill>
            <a:srgbClr val="8B5CF6"/>
          </a:solidFill>
          <a:ln/>
        </p:spPr>
        <p:txBody>
          <a:bodyPr wrap="square" rtlCol="0" anchor="ctr"/>
          <a:lstStyle/>
          <a:p>
            <a:pPr indent="0" marL="0">
              <a:buNone/>
            </a:pPr>
            <a:endParaRPr lang="en-US" dirty="0"/>
          </a:p>
        </p:txBody>
      </p:sp>
      <p:sp>
        <p:nvSpPr>
          <p:cNvPr id="21" name="Text 17"/>
          <p:cNvSpPr/>
          <p:nvPr/>
        </p:nvSpPr>
        <p:spPr>
          <a:xfrm>
            <a:off x="857250" y="400050"/>
            <a:ext cx="7772400" cy="164592"/>
          </a:xfrm>
          <a:prstGeom prst="rect">
            <a:avLst/>
          </a:prstGeom>
          <a:noFill/>
          <a:ln/>
        </p:spPr>
        <p:txBody>
          <a:bodyPr wrap="none" lIns="0" tIns="0" rIns="0" bIns="0" rtlCol="0" anchor="t"/>
          <a:lstStyle/>
          <a:p>
            <a:pPr algn="l" indent="0" marL="0">
              <a:lnSpc>
                <a:spcPts val="886"/>
              </a:lnSpc>
              <a:buNone/>
            </a:pPr>
            <a:r>
              <a:rPr lang="en-US" sz="800" spc="130" kern="0" dirty="0">
                <a:solidFill>
                  <a:srgbClr val="8B5CF6"/>
                </a:solidFill>
                <a:latin typeface="Courier New" pitchFamily="34" charset="0"/>
                <a:ea typeface="Courier New" pitchFamily="34" charset="-122"/>
                <a:cs typeface="Courier New" pitchFamily="34" charset="-120"/>
              </a:rPr>
              <a:t>FINANCIAL PERFORMANCE</a:t>
            </a:r>
            <a:endParaRPr lang="en-US" sz="800" dirty="0"/>
          </a:p>
        </p:txBody>
      </p:sp>
      <p:sp>
        <p:nvSpPr>
          <p:cNvPr id="22" name="Text 18"/>
          <p:cNvSpPr/>
          <p:nvPr/>
        </p:nvSpPr>
        <p:spPr>
          <a:xfrm>
            <a:off x="514350" y="612577"/>
            <a:ext cx="8629650" cy="339471"/>
          </a:xfrm>
          <a:prstGeom prst="rect">
            <a:avLst/>
          </a:prstGeom>
          <a:noFill/>
          <a:ln/>
        </p:spPr>
        <p:txBody>
          <a:bodyPr wrap="square" lIns="0" tIns="0" rIns="0" bIns="0" rtlCol="0" anchor="t"/>
          <a:lstStyle/>
          <a:p>
            <a:pPr algn="l" indent="0" marL="0">
              <a:lnSpc>
                <a:spcPts val="2475"/>
              </a:lnSpc>
              <a:buNone/>
            </a:pPr>
            <a:r>
              <a:rPr lang="en-US" sz="2250" b="1" spc="-45" kern="0" dirty="0">
                <a:solidFill>
                  <a:srgbClr val="EDEFF9"/>
                </a:solidFill>
                <a:latin typeface="Carlito" pitchFamily="34" charset="0"/>
                <a:ea typeface="Carlito" pitchFamily="34" charset="-122"/>
                <a:cs typeface="Carlito" pitchFamily="34" charset="-120"/>
              </a:rPr>
              <a:t>Financial Highlights &amp; Trajectory</a:t>
            </a:r>
            <a:endParaRPr lang="en-US" sz="2250" dirty="0"/>
          </a:p>
        </p:txBody>
      </p:sp>
      <p:sp>
        <p:nvSpPr>
          <p:cNvPr id="23" name="Text 19"/>
          <p:cNvSpPr/>
          <p:nvPr/>
        </p:nvSpPr>
        <p:spPr>
          <a:xfrm>
            <a:off x="514350" y="1112639"/>
            <a:ext cx="2800350" cy="1148358"/>
          </a:xfrm>
          <a:prstGeom prst="roundRect">
            <a:avLst>
              <a:gd name="adj" fmla="val 11612"/>
            </a:avLst>
          </a:prstGeom>
          <a:solidFill>
            <a:srgbClr val="151C36"/>
          </a:solidFill>
          <a:ln/>
        </p:spPr>
        <p:txBody>
          <a:bodyPr wrap="square" rtlCol="0" anchor="ctr"/>
          <a:lstStyle/>
          <a:p>
            <a:pPr indent="0" marL="0">
              <a:buNone/>
            </a:pPr>
            <a:endParaRPr lang="en-US" dirty="0"/>
          </a:p>
        </p:txBody>
      </p:sp>
      <p:sp>
        <p:nvSpPr>
          <p:cNvPr id="24" name="Text 20"/>
          <p:cNvSpPr/>
          <p:nvPr/>
        </p:nvSpPr>
        <p:spPr>
          <a:xfrm>
            <a:off x="692944" y="1274266"/>
            <a:ext cx="2457450" cy="149376"/>
          </a:xfrm>
          <a:prstGeom prst="rect">
            <a:avLst/>
          </a:prstGeom>
          <a:noFill/>
          <a:ln/>
        </p:spPr>
        <p:txBody>
          <a:bodyPr wrap="none" lIns="0" tIns="0" rIns="0" bIns="0" rtlCol="0" anchor="t">
            <a:normAutofit/>
          </a:bodyPr>
          <a:lstStyle/>
          <a:p>
            <a:pPr algn="l" indent="0" marL="0">
              <a:lnSpc>
                <a:spcPts val="886"/>
              </a:lnSpc>
              <a:buNone/>
            </a:pPr>
            <a:r>
              <a:rPr lang="en-US" sz="800" spc="95" kern="0" dirty="0">
                <a:solidFill>
                  <a:srgbClr val="A7B0CE"/>
                </a:solidFill>
                <a:latin typeface="Liberation Sans Narrow" pitchFamily="34" charset="0"/>
                <a:ea typeface="Liberation Sans Narrow" pitchFamily="34" charset="-122"/>
                <a:cs typeface="Liberation Sans Narrow" pitchFamily="34" charset="-120"/>
              </a:rPr>
              <a:t>Q3 2023 REVENUE</a:t>
            </a:r>
            <a:endParaRPr lang="en-US" sz="800" dirty="0"/>
          </a:p>
        </p:txBody>
      </p:sp>
      <p:sp>
        <p:nvSpPr>
          <p:cNvPr id="25" name="Text 21"/>
          <p:cNvSpPr/>
          <p:nvPr/>
        </p:nvSpPr>
        <p:spPr>
          <a:xfrm>
            <a:off x="692944" y="1429643"/>
            <a:ext cx="1257280" cy="331756"/>
          </a:xfrm>
          <a:prstGeom prst="rect">
            <a:avLst/>
          </a:prstGeom>
          <a:noFill/>
          <a:ln/>
        </p:spPr>
        <p:txBody>
          <a:bodyPr wrap="none" lIns="0" tIns="0" rIns="0" bIns="0" rtlCol="0" anchor="t"/>
          <a:lstStyle/>
          <a:p>
            <a:pPr algn="l" indent="0" marL="0">
              <a:lnSpc>
                <a:spcPts val="2081"/>
              </a:lnSpc>
              <a:buNone/>
            </a:pPr>
            <a:r>
              <a:rPr lang="en-US" sz="2081" b="1" dirty="0">
                <a:solidFill>
                  <a:srgbClr val="EDEFF9"/>
                </a:solidFill>
                <a:latin typeface="Liberation Sans Narrow" pitchFamily="34" charset="0"/>
                <a:ea typeface="Liberation Sans Narrow" pitchFamily="34" charset="-122"/>
                <a:cs typeface="Liberation Sans Narrow" pitchFamily="34" charset="-120"/>
              </a:rPr>
              <a:t>$3.1M</a:t>
            </a:r>
            <a:endParaRPr lang="en-US" sz="2081" dirty="0"/>
          </a:p>
        </p:txBody>
      </p:sp>
      <p:sp>
        <p:nvSpPr>
          <p:cNvPr id="26" name="Text 22"/>
          <p:cNvSpPr/>
          <p:nvPr/>
        </p:nvSpPr>
        <p:spPr>
          <a:xfrm>
            <a:off x="692944" y="1795760"/>
            <a:ext cx="114300" cy="114300"/>
          </a:xfrm>
          <a:prstGeom prst="rect">
            <a:avLst/>
          </a:prstGeom>
          <a:noFill/>
          <a:ln/>
        </p:spPr>
        <p:txBody>
          <a:bodyPr wrap="none" lIns="0" tIns="0" rIns="0" bIns="0" rtlCol="0" anchor="ctr"/>
          <a:lstStyle/>
          <a:p>
            <a:pPr algn="ctr" indent="0" marL="0">
              <a:buNone/>
            </a:pPr>
            <a:r>
              <a:rPr lang="en-US" sz="1125" dirty="0">
                <a:solidFill>
                  <a:srgbClr val="2DD4A7"/>
                </a:solidFill>
                <a:latin typeface="Segoe UI Symbol" pitchFamily="34" charset="0"/>
                <a:ea typeface="Segoe UI Symbol" pitchFamily="34" charset="-122"/>
                <a:cs typeface="Segoe UI Symbol" pitchFamily="34" charset="-120"/>
              </a:rPr>
              <a:t>↗</a:t>
            </a:r>
            <a:endParaRPr lang="en-US" sz="1125" dirty="0"/>
          </a:p>
        </p:txBody>
      </p:sp>
      <p:sp>
        <p:nvSpPr>
          <p:cNvPr id="27" name="Text 23"/>
          <p:cNvSpPr/>
          <p:nvPr/>
        </p:nvSpPr>
        <p:spPr>
          <a:xfrm>
            <a:off x="850106" y="1783259"/>
            <a:ext cx="2300288" cy="164592"/>
          </a:xfrm>
          <a:prstGeom prst="rect">
            <a:avLst/>
          </a:prstGeom>
          <a:noFill/>
          <a:ln/>
        </p:spPr>
        <p:txBody>
          <a:bodyPr wrap="none" lIns="0" tIns="0" rIns="0" bIns="0" rtlCol="0" anchor="t"/>
          <a:lstStyle/>
          <a:p>
            <a:pPr algn="l" indent="0" marL="0">
              <a:lnSpc>
                <a:spcPts val="1097"/>
              </a:lnSpc>
              <a:buNone/>
            </a:pPr>
            <a:r>
              <a:rPr lang="en-US" sz="800" dirty="0">
                <a:solidFill>
                  <a:srgbClr val="2DD4A7"/>
                </a:solidFill>
                <a:latin typeface="Liberation Sans Narrow" pitchFamily="34" charset="0"/>
                <a:ea typeface="Liberation Sans Narrow" pitchFamily="34" charset="-122"/>
                <a:cs typeface="Liberation Sans Narrow" pitchFamily="34" charset="-120"/>
              </a:rPr>
              <a:t>up 22% QoQ</a:t>
            </a:r>
            <a:endParaRPr lang="en-US" sz="800" dirty="0"/>
          </a:p>
        </p:txBody>
      </p:sp>
      <p:sp>
        <p:nvSpPr>
          <p:cNvPr id="28" name="Text 24"/>
          <p:cNvSpPr/>
          <p:nvPr/>
        </p:nvSpPr>
        <p:spPr>
          <a:xfrm>
            <a:off x="692944" y="1965424"/>
            <a:ext cx="2567178" cy="164592"/>
          </a:xfrm>
          <a:prstGeom prst="rect">
            <a:avLst/>
          </a:prstGeom>
          <a:noFill/>
          <a:ln/>
        </p:spPr>
        <p:txBody>
          <a:bodyPr wrap="square" lIns="0" tIns="0" rIns="0" bIns="0" rtlCol="0" anchor="t"/>
          <a:lstStyle/>
          <a:p>
            <a:pPr algn="l" indent="0" marL="0">
              <a:lnSpc>
                <a:spcPts val="1055"/>
              </a:lnSpc>
              <a:buNone/>
            </a:pPr>
            <a:r>
              <a:rPr lang="en-US" sz="800" dirty="0">
                <a:solidFill>
                  <a:srgbClr val="A7B0CE"/>
                </a:solidFill>
                <a:latin typeface="Carlito" pitchFamily="34" charset="0"/>
                <a:ea typeface="Carlito" pitchFamily="34" charset="-122"/>
                <a:cs typeface="Carlito" pitchFamily="34" charset="-120"/>
              </a:rPr>
              <a:t>Quarterly performance accelerating</a:t>
            </a:r>
            <a:endParaRPr lang="en-US" sz="800" dirty="0"/>
          </a:p>
        </p:txBody>
      </p:sp>
      <p:sp>
        <p:nvSpPr>
          <p:cNvPr id="29" name="Text 25"/>
          <p:cNvSpPr/>
          <p:nvPr/>
        </p:nvSpPr>
        <p:spPr>
          <a:xfrm>
            <a:off x="514350" y="2375297"/>
            <a:ext cx="2800350" cy="1148358"/>
          </a:xfrm>
          <a:prstGeom prst="roundRect">
            <a:avLst>
              <a:gd name="adj" fmla="val 11612"/>
            </a:avLst>
          </a:prstGeom>
          <a:solidFill>
            <a:srgbClr val="151C36"/>
          </a:solidFill>
          <a:ln/>
        </p:spPr>
        <p:txBody>
          <a:bodyPr wrap="square" rtlCol="0" anchor="ctr"/>
          <a:lstStyle/>
          <a:p>
            <a:pPr indent="0" marL="0">
              <a:buNone/>
            </a:pPr>
            <a:endParaRPr lang="en-US" dirty="0"/>
          </a:p>
        </p:txBody>
      </p:sp>
      <p:sp>
        <p:nvSpPr>
          <p:cNvPr id="30" name="Text 26"/>
          <p:cNvSpPr/>
          <p:nvPr/>
        </p:nvSpPr>
        <p:spPr>
          <a:xfrm>
            <a:off x="692944" y="2536924"/>
            <a:ext cx="2457450" cy="149376"/>
          </a:xfrm>
          <a:prstGeom prst="rect">
            <a:avLst/>
          </a:prstGeom>
          <a:noFill/>
          <a:ln/>
        </p:spPr>
        <p:txBody>
          <a:bodyPr wrap="none" lIns="0" tIns="0" rIns="0" bIns="0" rtlCol="0" anchor="t">
            <a:normAutofit/>
          </a:bodyPr>
          <a:lstStyle/>
          <a:p>
            <a:pPr algn="l" indent="0" marL="0">
              <a:lnSpc>
                <a:spcPts val="886"/>
              </a:lnSpc>
              <a:buNone/>
            </a:pPr>
            <a:r>
              <a:rPr lang="en-US" sz="800" spc="95" kern="0" dirty="0">
                <a:solidFill>
                  <a:srgbClr val="A7B0CE"/>
                </a:solidFill>
                <a:latin typeface="Courier New" pitchFamily="34" charset="0"/>
                <a:ea typeface="Courier New" pitchFamily="34" charset="-122"/>
                <a:cs typeface="Courier New" pitchFamily="34" charset="-120"/>
              </a:rPr>
              <a:t>ARR</a:t>
            </a:r>
            <a:endParaRPr lang="en-US" sz="800" dirty="0"/>
          </a:p>
        </p:txBody>
      </p:sp>
      <p:sp>
        <p:nvSpPr>
          <p:cNvPr id="31" name="Text 27"/>
          <p:cNvSpPr/>
          <p:nvPr/>
        </p:nvSpPr>
        <p:spPr>
          <a:xfrm>
            <a:off x="692944" y="2692301"/>
            <a:ext cx="1222153" cy="331756"/>
          </a:xfrm>
          <a:prstGeom prst="rect">
            <a:avLst/>
          </a:prstGeom>
          <a:noFill/>
          <a:ln/>
        </p:spPr>
        <p:txBody>
          <a:bodyPr wrap="none" lIns="0" tIns="0" rIns="0" bIns="0" rtlCol="0" anchor="t"/>
          <a:lstStyle/>
          <a:p>
            <a:pPr algn="l" indent="0" marL="0">
              <a:lnSpc>
                <a:spcPts val="2081"/>
              </a:lnSpc>
              <a:buNone/>
            </a:pPr>
            <a:r>
              <a:rPr lang="en-US" sz="2081" b="1" dirty="0">
                <a:solidFill>
                  <a:srgbClr val="EDEFF9"/>
                </a:solidFill>
                <a:latin typeface="Liberation Sans Narrow" pitchFamily="34" charset="0"/>
                <a:ea typeface="Liberation Sans Narrow" pitchFamily="34" charset="-122"/>
                <a:cs typeface="Liberation Sans Narrow" pitchFamily="34" charset="-120"/>
              </a:rPr>
              <a:t>$12.3M</a:t>
            </a:r>
            <a:endParaRPr lang="en-US" sz="2081" dirty="0"/>
          </a:p>
        </p:txBody>
      </p:sp>
      <p:sp>
        <p:nvSpPr>
          <p:cNvPr id="32" name="Text 28"/>
          <p:cNvSpPr/>
          <p:nvPr/>
        </p:nvSpPr>
        <p:spPr>
          <a:xfrm>
            <a:off x="692944" y="3058418"/>
            <a:ext cx="114300" cy="114300"/>
          </a:xfrm>
          <a:prstGeom prst="rect">
            <a:avLst/>
          </a:prstGeom>
          <a:noFill/>
          <a:ln/>
        </p:spPr>
        <p:txBody>
          <a:bodyPr wrap="none" lIns="0" tIns="0" rIns="0" bIns="0" rtlCol="0" anchor="ctr"/>
          <a:lstStyle/>
          <a:p>
            <a:pPr algn="ctr" indent="0" marL="0">
              <a:buNone/>
            </a:pPr>
            <a:r>
              <a:rPr lang="en-US" sz="1125" dirty="0">
                <a:solidFill>
                  <a:srgbClr val="2DD4A7"/>
                </a:solidFill>
                <a:latin typeface="Segoe UI Symbol" pitchFamily="34" charset="0"/>
                <a:ea typeface="Segoe UI Symbol" pitchFamily="34" charset="-122"/>
                <a:cs typeface="Segoe UI Symbol" pitchFamily="34" charset="-120"/>
              </a:rPr>
              <a:t>↗</a:t>
            </a:r>
            <a:endParaRPr lang="en-US" sz="1125" dirty="0"/>
          </a:p>
        </p:txBody>
      </p:sp>
      <p:sp>
        <p:nvSpPr>
          <p:cNvPr id="33" name="Text 29"/>
          <p:cNvSpPr/>
          <p:nvPr/>
        </p:nvSpPr>
        <p:spPr>
          <a:xfrm>
            <a:off x="850106" y="3045916"/>
            <a:ext cx="2300288" cy="164592"/>
          </a:xfrm>
          <a:prstGeom prst="rect">
            <a:avLst/>
          </a:prstGeom>
          <a:noFill/>
          <a:ln/>
        </p:spPr>
        <p:txBody>
          <a:bodyPr wrap="none" lIns="0" tIns="0" rIns="0" bIns="0" rtlCol="0" anchor="t"/>
          <a:lstStyle/>
          <a:p>
            <a:pPr algn="l" indent="0" marL="0">
              <a:lnSpc>
                <a:spcPts val="1097"/>
              </a:lnSpc>
              <a:buNone/>
            </a:pPr>
            <a:r>
              <a:rPr lang="en-US" sz="800" dirty="0">
                <a:solidFill>
                  <a:srgbClr val="2DD4A7"/>
                </a:solidFill>
                <a:latin typeface="Liberation Sans Narrow" pitchFamily="34" charset="0"/>
                <a:ea typeface="Liberation Sans Narrow" pitchFamily="34" charset="-122"/>
                <a:cs typeface="Liberation Sans Narrow" pitchFamily="34" charset="-120"/>
              </a:rPr>
              <a:t>85% YoY growth</a:t>
            </a:r>
            <a:endParaRPr lang="en-US" sz="800" dirty="0"/>
          </a:p>
        </p:txBody>
      </p:sp>
      <p:sp>
        <p:nvSpPr>
          <p:cNvPr id="34" name="Text 30"/>
          <p:cNvSpPr/>
          <p:nvPr/>
        </p:nvSpPr>
        <p:spPr>
          <a:xfrm>
            <a:off x="692944" y="3228082"/>
            <a:ext cx="2567178" cy="164592"/>
          </a:xfrm>
          <a:prstGeom prst="rect">
            <a:avLst/>
          </a:prstGeom>
          <a:noFill/>
          <a:ln/>
        </p:spPr>
        <p:txBody>
          <a:bodyPr wrap="square" lIns="0" tIns="0" rIns="0" bIns="0" rtlCol="0" anchor="t"/>
          <a:lstStyle/>
          <a:p>
            <a:pPr algn="l" indent="0" marL="0">
              <a:lnSpc>
                <a:spcPts val="1055"/>
              </a:lnSpc>
              <a:buNone/>
            </a:pPr>
            <a:r>
              <a:rPr lang="en-US" sz="800" dirty="0">
                <a:solidFill>
                  <a:srgbClr val="A7B0CE"/>
                </a:solidFill>
                <a:latin typeface="Carlito" pitchFamily="34" charset="0"/>
                <a:ea typeface="Carlito" pitchFamily="34" charset="-122"/>
                <a:cs typeface="Carlito" pitchFamily="34" charset="-120"/>
              </a:rPr>
              <a:t>Revenue nearly doubled year-over-year</a:t>
            </a:r>
            <a:endParaRPr lang="en-US" sz="800" dirty="0"/>
          </a:p>
        </p:txBody>
      </p:sp>
      <p:sp>
        <p:nvSpPr>
          <p:cNvPr id="35" name="Text 31"/>
          <p:cNvSpPr/>
          <p:nvPr/>
        </p:nvSpPr>
        <p:spPr>
          <a:xfrm>
            <a:off x="514350" y="3637955"/>
            <a:ext cx="2800350" cy="1148358"/>
          </a:xfrm>
          <a:prstGeom prst="roundRect">
            <a:avLst>
              <a:gd name="adj" fmla="val 11612"/>
            </a:avLst>
          </a:prstGeom>
          <a:solidFill>
            <a:srgbClr val="151C36"/>
          </a:solidFill>
          <a:ln/>
        </p:spPr>
        <p:txBody>
          <a:bodyPr wrap="square" rtlCol="0" anchor="ctr"/>
          <a:lstStyle/>
          <a:p>
            <a:pPr indent="0" marL="0">
              <a:buNone/>
            </a:pPr>
            <a:endParaRPr lang="en-US" dirty="0"/>
          </a:p>
        </p:txBody>
      </p:sp>
      <p:sp>
        <p:nvSpPr>
          <p:cNvPr id="36" name="Text 32"/>
          <p:cNvSpPr/>
          <p:nvPr/>
        </p:nvSpPr>
        <p:spPr>
          <a:xfrm>
            <a:off x="692944" y="3799582"/>
            <a:ext cx="2457450" cy="149376"/>
          </a:xfrm>
          <a:prstGeom prst="rect">
            <a:avLst/>
          </a:prstGeom>
          <a:noFill/>
          <a:ln/>
        </p:spPr>
        <p:txBody>
          <a:bodyPr wrap="none" lIns="0" tIns="0" rIns="0" bIns="0" rtlCol="0" anchor="t">
            <a:normAutofit/>
          </a:bodyPr>
          <a:lstStyle/>
          <a:p>
            <a:pPr algn="l" indent="0" marL="0">
              <a:lnSpc>
                <a:spcPts val="886"/>
              </a:lnSpc>
              <a:buNone/>
            </a:pPr>
            <a:r>
              <a:rPr lang="en-US" sz="800" spc="95" kern="0" dirty="0">
                <a:solidFill>
                  <a:srgbClr val="A7B0CE"/>
                </a:solidFill>
                <a:latin typeface="Courier New" pitchFamily="34" charset="0"/>
                <a:ea typeface="Courier New" pitchFamily="34" charset="-122"/>
                <a:cs typeface="Courier New" pitchFamily="34" charset="-120"/>
              </a:rPr>
              <a:t>GROSS MARGIN</a:t>
            </a:r>
            <a:endParaRPr lang="en-US" sz="800" dirty="0"/>
          </a:p>
        </p:txBody>
      </p:sp>
      <p:sp>
        <p:nvSpPr>
          <p:cNvPr id="37" name="Text 33"/>
          <p:cNvSpPr/>
          <p:nvPr/>
        </p:nvSpPr>
        <p:spPr>
          <a:xfrm>
            <a:off x="692944" y="3954959"/>
            <a:ext cx="763845" cy="331756"/>
          </a:xfrm>
          <a:prstGeom prst="rect">
            <a:avLst/>
          </a:prstGeom>
          <a:noFill/>
          <a:ln/>
        </p:spPr>
        <p:txBody>
          <a:bodyPr wrap="none" lIns="0" tIns="0" rIns="0" bIns="0" rtlCol="0" anchor="t"/>
          <a:lstStyle/>
          <a:p>
            <a:pPr algn="l" indent="0" marL="0">
              <a:lnSpc>
                <a:spcPts val="2081"/>
              </a:lnSpc>
              <a:buNone/>
            </a:pPr>
            <a:r>
              <a:rPr lang="en-US" sz="2081" b="1" dirty="0">
                <a:solidFill>
                  <a:srgbClr val="EDEFF9"/>
                </a:solidFill>
                <a:latin typeface="Liberation Sans Narrow" pitchFamily="34" charset="0"/>
                <a:ea typeface="Liberation Sans Narrow" pitchFamily="34" charset="-122"/>
                <a:cs typeface="Liberation Sans Narrow" pitchFamily="34" charset="-120"/>
              </a:rPr>
              <a:t>78%</a:t>
            </a:r>
            <a:endParaRPr lang="en-US" sz="2081" dirty="0"/>
          </a:p>
        </p:txBody>
      </p:sp>
      <p:sp>
        <p:nvSpPr>
          <p:cNvPr id="38" name="Text 34"/>
          <p:cNvSpPr/>
          <p:nvPr/>
        </p:nvSpPr>
        <p:spPr>
          <a:xfrm>
            <a:off x="692944" y="4321076"/>
            <a:ext cx="114300" cy="114300"/>
          </a:xfrm>
          <a:prstGeom prst="rect">
            <a:avLst/>
          </a:prstGeom>
          <a:noFill/>
          <a:ln/>
        </p:spPr>
        <p:txBody>
          <a:bodyPr wrap="none" lIns="0" tIns="0" rIns="0" bIns="0" rtlCol="0" anchor="ctr"/>
          <a:lstStyle/>
          <a:p>
            <a:pPr algn="ctr" indent="0" marL="0">
              <a:buNone/>
            </a:pPr>
            <a:r>
              <a:rPr lang="en-US" sz="1125" dirty="0">
                <a:solidFill>
                  <a:srgbClr val="A7B0CE"/>
                </a:solidFill>
                <a:latin typeface="Segoe UI Symbol" pitchFamily="34" charset="0"/>
                <a:ea typeface="Segoe UI Symbol" pitchFamily="34" charset="-122"/>
                <a:cs typeface="Segoe UI Symbol" pitchFamily="34" charset="-120"/>
              </a:rPr>
              <a:t>→</a:t>
            </a:r>
            <a:endParaRPr lang="en-US" sz="1125" dirty="0"/>
          </a:p>
        </p:txBody>
      </p:sp>
      <p:sp>
        <p:nvSpPr>
          <p:cNvPr id="39" name="Text 35"/>
          <p:cNvSpPr/>
          <p:nvPr/>
        </p:nvSpPr>
        <p:spPr>
          <a:xfrm>
            <a:off x="850106" y="4308574"/>
            <a:ext cx="2300288" cy="164592"/>
          </a:xfrm>
          <a:prstGeom prst="rect">
            <a:avLst/>
          </a:prstGeom>
          <a:noFill/>
          <a:ln/>
        </p:spPr>
        <p:txBody>
          <a:bodyPr wrap="none" lIns="0" tIns="0" rIns="0" bIns="0" rtlCol="0" anchor="t"/>
          <a:lstStyle/>
          <a:p>
            <a:pPr algn="l" indent="0" marL="0">
              <a:lnSpc>
                <a:spcPts val="1097"/>
              </a:lnSpc>
              <a:buNone/>
            </a:pPr>
            <a:r>
              <a:rPr lang="en-US" sz="800" dirty="0">
                <a:solidFill>
                  <a:srgbClr val="A7B0CE"/>
                </a:solidFill>
                <a:latin typeface="Courier New" pitchFamily="34" charset="0"/>
                <a:ea typeface="Courier New" pitchFamily="34" charset="-122"/>
                <a:cs typeface="Courier New" pitchFamily="34" charset="-120"/>
              </a:rPr>
              <a:t>stable</a:t>
            </a:r>
            <a:endParaRPr lang="en-US" sz="800" dirty="0"/>
          </a:p>
        </p:txBody>
      </p:sp>
      <p:sp>
        <p:nvSpPr>
          <p:cNvPr id="40" name="Text 36"/>
          <p:cNvSpPr/>
          <p:nvPr/>
        </p:nvSpPr>
        <p:spPr>
          <a:xfrm>
            <a:off x="692944" y="4490740"/>
            <a:ext cx="2567178" cy="164592"/>
          </a:xfrm>
          <a:prstGeom prst="rect">
            <a:avLst/>
          </a:prstGeom>
          <a:noFill/>
          <a:ln/>
        </p:spPr>
        <p:txBody>
          <a:bodyPr wrap="square" lIns="0" tIns="0" rIns="0" bIns="0" rtlCol="0" anchor="t"/>
          <a:lstStyle/>
          <a:p>
            <a:pPr algn="l" indent="0" marL="0">
              <a:lnSpc>
                <a:spcPts val="1055"/>
              </a:lnSpc>
              <a:buNone/>
            </a:pPr>
            <a:r>
              <a:rPr lang="en-US" sz="800" dirty="0">
                <a:solidFill>
                  <a:srgbClr val="A7B0CE"/>
                </a:solidFill>
                <a:latin typeface="Carlito" pitchFamily="34" charset="0"/>
                <a:ea typeface="Carlito" pitchFamily="34" charset="-122"/>
                <a:cs typeface="Carlito" pitchFamily="34" charset="-120"/>
              </a:rPr>
              <a:t>Healthy margins while investing in growth</a:t>
            </a:r>
            <a:endParaRPr lang="en-US" sz="800" dirty="0"/>
          </a:p>
        </p:txBody>
      </p:sp>
      <p:sp>
        <p:nvSpPr>
          <p:cNvPr id="41" name="Text 37"/>
          <p:cNvSpPr/>
          <p:nvPr/>
        </p:nvSpPr>
        <p:spPr>
          <a:xfrm>
            <a:off x="3475434" y="1116211"/>
            <a:ext cx="5150644" cy="2262894"/>
          </a:xfrm>
          <a:prstGeom prst="roundRect">
            <a:avLst>
              <a:gd name="adj" fmla="val 5893"/>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42" name="Text 38"/>
          <p:cNvSpPr/>
          <p:nvPr/>
        </p:nvSpPr>
        <p:spPr>
          <a:xfrm>
            <a:off x="3650456" y="1270695"/>
            <a:ext cx="3930179" cy="208312"/>
          </a:xfrm>
          <a:prstGeom prst="rect">
            <a:avLst/>
          </a:prstGeom>
          <a:noFill/>
          <a:ln/>
        </p:spPr>
        <p:txBody>
          <a:bodyPr wrap="none" lIns="0" tIns="0" rIns="0" bIns="0" rtlCol="0" anchor="t"/>
          <a:lstStyle/>
          <a:p>
            <a:pPr algn="l" indent="0" marL="0">
              <a:lnSpc>
                <a:spcPts val="1519"/>
              </a:lnSpc>
              <a:buNone/>
            </a:pPr>
            <a:r>
              <a:rPr lang="en-US" sz="1013" dirty="0">
                <a:solidFill>
                  <a:srgbClr val="EDEFF9"/>
                </a:solidFill>
                <a:latin typeface="Carlito" pitchFamily="34" charset="0"/>
                <a:ea typeface="Carlito" pitchFamily="34" charset="-122"/>
                <a:cs typeface="Carlito" pitchFamily="34" charset="-120"/>
              </a:rPr>
              <a:t>Revenue trajectory</a:t>
            </a:r>
            <a:endParaRPr lang="en-US" sz="1013" dirty="0"/>
          </a:p>
        </p:txBody>
      </p:sp>
      <p:sp>
        <p:nvSpPr>
          <p:cNvPr id="43" name="Text 39"/>
          <p:cNvSpPr/>
          <p:nvPr/>
        </p:nvSpPr>
        <p:spPr>
          <a:xfrm>
            <a:off x="7572062" y="1250121"/>
            <a:ext cx="901854" cy="234029"/>
          </a:xfrm>
          <a:prstGeom prst="roundRect">
            <a:avLst>
              <a:gd name="adj" fmla="val 4065938"/>
            </a:avLst>
          </a:prstGeom>
          <a:solidFill>
            <a:srgbClr val="2DD4A7">
              <a:alpha val="14000"/>
            </a:srgbClr>
          </a:solidFill>
          <a:ln w="7144">
            <a:solidFill>
              <a:srgbClr val="2DD4A7"/>
            </a:solidFill>
            <a:prstDash val="solid"/>
          </a:ln>
        </p:spPr>
        <p:txBody>
          <a:bodyPr wrap="square" rtlCol="0" anchor="ctr"/>
          <a:lstStyle/>
          <a:p>
            <a:pPr indent="0" marL="0">
              <a:buNone/>
            </a:pPr>
            <a:endParaRPr lang="en-US" dirty="0"/>
          </a:p>
        </p:txBody>
      </p:sp>
      <p:sp>
        <p:nvSpPr>
          <p:cNvPr id="44" name="Text 40"/>
          <p:cNvSpPr/>
          <p:nvPr/>
        </p:nvSpPr>
        <p:spPr>
          <a:xfrm>
            <a:off x="7687791" y="1317129"/>
            <a:ext cx="100013" cy="100013"/>
          </a:xfrm>
          <a:prstGeom prst="rect">
            <a:avLst/>
          </a:prstGeom>
          <a:noFill/>
          <a:ln/>
        </p:spPr>
        <p:txBody>
          <a:bodyPr wrap="none" lIns="0" tIns="0" rIns="0" bIns="0" rtlCol="0" anchor="ctr"/>
          <a:lstStyle/>
          <a:p>
            <a:pPr algn="ctr" indent="0" marL="0">
              <a:buNone/>
            </a:pPr>
            <a:r>
              <a:rPr lang="en-US" sz="984" dirty="0">
                <a:solidFill>
                  <a:srgbClr val="2DD4A7"/>
                </a:solidFill>
                <a:latin typeface="Segoe UI Symbol" pitchFamily="34" charset="0"/>
                <a:ea typeface="Segoe UI Symbol" pitchFamily="34" charset="-122"/>
                <a:cs typeface="Segoe UI Symbol" pitchFamily="34" charset="-120"/>
              </a:rPr>
              <a:t>↗</a:t>
            </a:r>
            <a:endParaRPr lang="en-US" sz="984" dirty="0"/>
          </a:p>
        </p:txBody>
      </p:sp>
      <p:sp>
        <p:nvSpPr>
          <p:cNvPr id="45" name="Text 41"/>
          <p:cNvSpPr/>
          <p:nvPr/>
        </p:nvSpPr>
        <p:spPr>
          <a:xfrm>
            <a:off x="7830666" y="1305520"/>
            <a:ext cx="527521" cy="123230"/>
          </a:xfrm>
          <a:prstGeom prst="rect">
            <a:avLst/>
          </a:prstGeom>
          <a:noFill/>
          <a:ln/>
        </p:spPr>
        <p:txBody>
          <a:bodyPr wrap="none" lIns="0" tIns="0" rIns="0" bIns="0" rtlCol="0" anchor="t"/>
          <a:lstStyle/>
          <a:p>
            <a:pPr algn="l" indent="0" marL="0">
              <a:lnSpc>
                <a:spcPts val="970"/>
              </a:lnSpc>
              <a:buNone/>
            </a:pPr>
            <a:r>
              <a:rPr lang="en-US" sz="647" spc="26" kern="0" dirty="0">
                <a:solidFill>
                  <a:srgbClr val="EDEFF9"/>
                </a:solidFill>
                <a:latin typeface="Liberation Sans Narrow" pitchFamily="34" charset="0"/>
                <a:ea typeface="Liberation Sans Narrow" pitchFamily="34" charset="-122"/>
                <a:cs typeface="Liberation Sans Narrow" pitchFamily="34" charset="-120"/>
              </a:rPr>
              <a:t>up 22% QoQ</a:t>
            </a:r>
            <a:endParaRPr lang="en-US" sz="647" dirty="0"/>
          </a:p>
        </p:txBody>
      </p:sp>
      <p:pic>
        <p:nvPicPr>
          <p:cNvPr id="46" name="Image 2" descr="preencoded.png">    </p:cNvPr>
          <p:cNvPicPr>
            <a:picLocks noChangeAspect="1"/>
          </p:cNvPicPr>
          <p:nvPr/>
        </p:nvPicPr>
        <p:blipFill>
          <a:blip r:embed="rId3"/>
          <a:stretch>
            <a:fillRect/>
          </a:stretch>
        </p:blipFill>
        <p:spPr>
          <a:xfrm>
            <a:off x="3850481" y="2757599"/>
            <a:ext cx="328613" cy="242888"/>
          </a:xfrm>
          <a:prstGeom prst="rect">
            <a:avLst/>
          </a:prstGeom>
        </p:spPr>
      </p:pic>
      <p:pic>
        <p:nvPicPr>
          <p:cNvPr id="47" name="Image 3" descr="preencoded.png">    </p:cNvPr>
          <p:cNvPicPr>
            <a:picLocks noChangeAspect="1"/>
          </p:cNvPicPr>
          <p:nvPr/>
        </p:nvPicPr>
        <p:blipFill>
          <a:blip r:embed="rId4"/>
          <a:stretch>
            <a:fillRect/>
          </a:stretch>
        </p:blipFill>
        <p:spPr>
          <a:xfrm>
            <a:off x="4664869" y="2643299"/>
            <a:ext cx="328613" cy="357188"/>
          </a:xfrm>
          <a:prstGeom prst="rect">
            <a:avLst/>
          </a:prstGeom>
        </p:spPr>
      </p:pic>
      <p:pic>
        <p:nvPicPr>
          <p:cNvPr id="48" name="Image 4" descr="preencoded.png">    </p:cNvPr>
          <p:cNvPicPr>
            <a:picLocks noChangeAspect="1"/>
          </p:cNvPicPr>
          <p:nvPr/>
        </p:nvPicPr>
        <p:blipFill>
          <a:blip r:embed="rId5"/>
          <a:stretch>
            <a:fillRect/>
          </a:stretch>
        </p:blipFill>
        <p:spPr>
          <a:xfrm>
            <a:off x="5479256" y="2514712"/>
            <a:ext cx="328613" cy="485775"/>
          </a:xfrm>
          <a:prstGeom prst="rect">
            <a:avLst/>
          </a:prstGeom>
        </p:spPr>
      </p:pic>
      <p:pic>
        <p:nvPicPr>
          <p:cNvPr id="49" name="Image 5" descr="preencoded.png">    </p:cNvPr>
          <p:cNvPicPr>
            <a:picLocks noChangeAspect="1"/>
          </p:cNvPicPr>
          <p:nvPr/>
        </p:nvPicPr>
        <p:blipFill>
          <a:blip r:embed="rId6"/>
          <a:stretch>
            <a:fillRect/>
          </a:stretch>
        </p:blipFill>
        <p:spPr>
          <a:xfrm>
            <a:off x="6293644" y="2357549"/>
            <a:ext cx="328613" cy="642938"/>
          </a:xfrm>
          <a:prstGeom prst="rect">
            <a:avLst/>
          </a:prstGeom>
        </p:spPr>
      </p:pic>
      <p:pic>
        <p:nvPicPr>
          <p:cNvPr id="50" name="Image 6" descr="preencoded.png">    </p:cNvPr>
          <p:cNvPicPr>
            <a:picLocks noChangeAspect="1"/>
          </p:cNvPicPr>
          <p:nvPr/>
        </p:nvPicPr>
        <p:blipFill>
          <a:blip r:embed="rId7"/>
          <a:stretch>
            <a:fillRect/>
          </a:stretch>
        </p:blipFill>
        <p:spPr>
          <a:xfrm>
            <a:off x="7108031" y="2186099"/>
            <a:ext cx="328613" cy="814388"/>
          </a:xfrm>
          <a:prstGeom prst="rect">
            <a:avLst/>
          </a:prstGeom>
        </p:spPr>
      </p:pic>
      <p:sp>
        <p:nvSpPr>
          <p:cNvPr id="51" name="Text 42"/>
          <p:cNvSpPr/>
          <p:nvPr/>
        </p:nvSpPr>
        <p:spPr>
          <a:xfrm>
            <a:off x="7925433" y="1739615"/>
            <a:ext cx="509684" cy="173593"/>
          </a:xfrm>
          <a:prstGeom prst="rect">
            <a:avLst/>
          </a:prstGeom>
          <a:noFill/>
          <a:ln/>
        </p:spPr>
        <p:txBody>
          <a:bodyPr wrap="none" lIns="0" tIns="0" rIns="0" bIns="0" rtlCol="0" anchor="t"/>
          <a:lstStyle/>
          <a:p>
            <a:pPr algn="l" indent="0" marL="0">
              <a:lnSpc>
                <a:spcPts val="1266"/>
              </a:lnSpc>
              <a:buNone/>
            </a:pPr>
            <a:r>
              <a:rPr lang="en-US" sz="844" b="1" dirty="0">
                <a:solidFill>
                  <a:srgbClr val="EDEFF9"/>
                </a:solidFill>
                <a:latin typeface="Liberation Sans Narrow" pitchFamily="34" charset="0"/>
                <a:ea typeface="Liberation Sans Narrow" pitchFamily="34" charset="-122"/>
                <a:cs typeface="Liberation Sans Narrow" pitchFamily="34" charset="-120"/>
              </a:rPr>
              <a:t>$3.1M</a:t>
            </a:r>
            <a:endParaRPr lang="en-US" sz="844" dirty="0"/>
          </a:p>
        </p:txBody>
      </p:sp>
      <p:pic>
        <p:nvPicPr>
          <p:cNvPr id="52" name="Image 7" descr="preencoded.png">    </p:cNvPr>
          <p:cNvPicPr>
            <a:picLocks noChangeAspect="1"/>
          </p:cNvPicPr>
          <p:nvPr/>
        </p:nvPicPr>
        <p:blipFill>
          <a:blip r:embed="rId8"/>
          <a:stretch>
            <a:fillRect/>
          </a:stretch>
        </p:blipFill>
        <p:spPr>
          <a:xfrm>
            <a:off x="7922419" y="1957499"/>
            <a:ext cx="328613" cy="1042988"/>
          </a:xfrm>
          <a:prstGeom prst="rect">
            <a:avLst/>
          </a:prstGeom>
        </p:spPr>
      </p:pic>
      <p:sp>
        <p:nvSpPr>
          <p:cNvPr id="53" name="Text 43"/>
          <p:cNvSpPr/>
          <p:nvPr/>
        </p:nvSpPr>
        <p:spPr>
          <a:xfrm>
            <a:off x="3650456" y="3143362"/>
            <a:ext cx="939975" cy="117872"/>
          </a:xfrm>
          <a:prstGeom prst="rect">
            <a:avLst/>
          </a:prstGeom>
          <a:noFill/>
          <a:ln/>
        </p:spPr>
        <p:txBody>
          <a:bodyPr wrap="none" lIns="0" tIns="0" rIns="0" bIns="0" rtlCol="0" anchor="t"/>
          <a:lstStyle/>
          <a:p>
            <a:pPr algn="ctr" indent="0" marL="0">
              <a:lnSpc>
                <a:spcPts val="928"/>
              </a:lnSpc>
              <a:buNone/>
            </a:pPr>
            <a:r>
              <a:rPr lang="en-US" sz="800" dirty="0">
                <a:solidFill>
                  <a:srgbClr val="A7B0CE"/>
                </a:solidFill>
                <a:latin typeface="Liberation Sans Narrow" pitchFamily="34" charset="0"/>
                <a:ea typeface="Liberation Sans Narrow" pitchFamily="34" charset="-122"/>
                <a:cs typeface="Liberation Sans Narrow" pitchFamily="34" charset="-120"/>
              </a:rPr>
              <a:t>Q4'21</a:t>
            </a:r>
            <a:endParaRPr lang="en-US" sz="800" dirty="0"/>
          </a:p>
        </p:txBody>
      </p:sp>
      <p:sp>
        <p:nvSpPr>
          <p:cNvPr id="54" name="Text 44"/>
          <p:cNvSpPr/>
          <p:nvPr/>
        </p:nvSpPr>
        <p:spPr>
          <a:xfrm>
            <a:off x="4253532" y="3143362"/>
            <a:ext cx="1151287" cy="117872"/>
          </a:xfrm>
          <a:prstGeom prst="rect">
            <a:avLst/>
          </a:prstGeom>
          <a:noFill/>
          <a:ln/>
        </p:spPr>
        <p:txBody>
          <a:bodyPr wrap="none" lIns="0" tIns="0" rIns="0" bIns="0" rtlCol="0" anchor="t"/>
          <a:lstStyle/>
          <a:p>
            <a:pPr algn="ctr" indent="0" marL="0">
              <a:lnSpc>
                <a:spcPts val="928"/>
              </a:lnSpc>
              <a:buNone/>
            </a:pPr>
            <a:r>
              <a:rPr lang="en-US" sz="800" dirty="0">
                <a:solidFill>
                  <a:srgbClr val="A7B0CE"/>
                </a:solidFill>
                <a:latin typeface="Liberation Sans Narrow" pitchFamily="34" charset="0"/>
                <a:ea typeface="Liberation Sans Narrow" pitchFamily="34" charset="-122"/>
                <a:cs typeface="Liberation Sans Narrow" pitchFamily="34" charset="-120"/>
              </a:rPr>
              <a:t>Q1'22</a:t>
            </a:r>
            <a:endParaRPr lang="en-US" sz="800" dirty="0"/>
          </a:p>
        </p:txBody>
      </p:sp>
      <p:sp>
        <p:nvSpPr>
          <p:cNvPr id="55" name="Text 45"/>
          <p:cNvSpPr/>
          <p:nvPr/>
        </p:nvSpPr>
        <p:spPr>
          <a:xfrm>
            <a:off x="5067919" y="3143362"/>
            <a:ext cx="1151287" cy="117872"/>
          </a:xfrm>
          <a:prstGeom prst="rect">
            <a:avLst/>
          </a:prstGeom>
          <a:noFill/>
          <a:ln/>
        </p:spPr>
        <p:txBody>
          <a:bodyPr wrap="none" lIns="0" tIns="0" rIns="0" bIns="0" rtlCol="0" anchor="t"/>
          <a:lstStyle/>
          <a:p>
            <a:pPr algn="ctr" indent="0" marL="0">
              <a:lnSpc>
                <a:spcPts val="928"/>
              </a:lnSpc>
              <a:buNone/>
            </a:pPr>
            <a:r>
              <a:rPr lang="en-US" sz="800" dirty="0">
                <a:solidFill>
                  <a:srgbClr val="A7B0CE"/>
                </a:solidFill>
                <a:latin typeface="Liberation Sans Narrow" pitchFamily="34" charset="0"/>
                <a:ea typeface="Liberation Sans Narrow" pitchFamily="34" charset="-122"/>
                <a:cs typeface="Liberation Sans Narrow" pitchFamily="34" charset="-120"/>
              </a:rPr>
              <a:t>Q2'22</a:t>
            </a:r>
            <a:endParaRPr lang="en-US" sz="800" dirty="0"/>
          </a:p>
        </p:txBody>
      </p:sp>
      <p:sp>
        <p:nvSpPr>
          <p:cNvPr id="56" name="Text 46"/>
          <p:cNvSpPr/>
          <p:nvPr/>
        </p:nvSpPr>
        <p:spPr>
          <a:xfrm>
            <a:off x="5882307" y="3143362"/>
            <a:ext cx="1151287" cy="117872"/>
          </a:xfrm>
          <a:prstGeom prst="rect">
            <a:avLst/>
          </a:prstGeom>
          <a:noFill/>
          <a:ln/>
        </p:spPr>
        <p:txBody>
          <a:bodyPr wrap="none" lIns="0" tIns="0" rIns="0" bIns="0" rtlCol="0" anchor="t"/>
          <a:lstStyle/>
          <a:p>
            <a:pPr algn="ctr" indent="0" marL="0">
              <a:lnSpc>
                <a:spcPts val="928"/>
              </a:lnSpc>
              <a:buNone/>
            </a:pPr>
            <a:r>
              <a:rPr lang="en-US" sz="800" dirty="0">
                <a:solidFill>
                  <a:srgbClr val="A7B0CE"/>
                </a:solidFill>
                <a:latin typeface="Liberation Sans Narrow" pitchFamily="34" charset="0"/>
                <a:ea typeface="Liberation Sans Narrow" pitchFamily="34" charset="-122"/>
                <a:cs typeface="Liberation Sans Narrow" pitchFamily="34" charset="-120"/>
              </a:rPr>
              <a:t>Q3'22</a:t>
            </a:r>
            <a:endParaRPr lang="en-US" sz="800" dirty="0"/>
          </a:p>
        </p:txBody>
      </p:sp>
      <p:sp>
        <p:nvSpPr>
          <p:cNvPr id="57" name="Text 47"/>
          <p:cNvSpPr/>
          <p:nvPr/>
        </p:nvSpPr>
        <p:spPr>
          <a:xfrm>
            <a:off x="6696694" y="3143362"/>
            <a:ext cx="1151287" cy="117872"/>
          </a:xfrm>
          <a:prstGeom prst="rect">
            <a:avLst/>
          </a:prstGeom>
          <a:noFill/>
          <a:ln/>
        </p:spPr>
        <p:txBody>
          <a:bodyPr wrap="none" lIns="0" tIns="0" rIns="0" bIns="0" rtlCol="0" anchor="t"/>
          <a:lstStyle/>
          <a:p>
            <a:pPr algn="ctr" indent="0" marL="0">
              <a:lnSpc>
                <a:spcPts val="928"/>
              </a:lnSpc>
              <a:buNone/>
            </a:pPr>
            <a:r>
              <a:rPr lang="en-US" sz="800" dirty="0">
                <a:solidFill>
                  <a:srgbClr val="A7B0CE"/>
                </a:solidFill>
                <a:latin typeface="Liberation Sans Narrow" pitchFamily="34" charset="0"/>
                <a:ea typeface="Liberation Sans Narrow" pitchFamily="34" charset="-122"/>
                <a:cs typeface="Liberation Sans Narrow" pitchFamily="34" charset="-120"/>
              </a:rPr>
              <a:t>Q4'22</a:t>
            </a:r>
            <a:endParaRPr lang="en-US" sz="800" dirty="0"/>
          </a:p>
        </p:txBody>
      </p:sp>
      <p:sp>
        <p:nvSpPr>
          <p:cNvPr id="58" name="Text 48"/>
          <p:cNvSpPr/>
          <p:nvPr/>
        </p:nvSpPr>
        <p:spPr>
          <a:xfrm>
            <a:off x="7299769" y="3143362"/>
            <a:ext cx="1151287" cy="117872"/>
          </a:xfrm>
          <a:prstGeom prst="rect">
            <a:avLst/>
          </a:prstGeom>
          <a:noFill/>
          <a:ln/>
        </p:spPr>
        <p:txBody>
          <a:bodyPr wrap="none" lIns="0" tIns="0" rIns="0" bIns="0" rtlCol="0" anchor="t"/>
          <a:lstStyle/>
          <a:p>
            <a:pPr algn="ctr" indent="0" marL="0">
              <a:lnSpc>
                <a:spcPts val="928"/>
              </a:lnSpc>
              <a:buNone/>
            </a:pPr>
            <a:r>
              <a:rPr lang="en-US" sz="800" dirty="0">
                <a:solidFill>
                  <a:srgbClr val="EDEFF9"/>
                </a:solidFill>
                <a:latin typeface="Liberation Sans Narrow" pitchFamily="34" charset="0"/>
                <a:ea typeface="Liberation Sans Narrow" pitchFamily="34" charset="-122"/>
                <a:cs typeface="Liberation Sans Narrow" pitchFamily="34" charset="-120"/>
              </a:rPr>
              <a:t>Q3'23</a:t>
            </a:r>
            <a:endParaRPr lang="en-US" sz="800" dirty="0"/>
          </a:p>
        </p:txBody>
      </p:sp>
      <p:sp>
        <p:nvSpPr>
          <p:cNvPr id="59" name="Text 49"/>
          <p:cNvSpPr/>
          <p:nvPr/>
        </p:nvSpPr>
        <p:spPr>
          <a:xfrm>
            <a:off x="3475434" y="3500549"/>
            <a:ext cx="2363577" cy="1282192"/>
          </a:xfrm>
          <a:prstGeom prst="roundRect">
            <a:avLst>
              <a:gd name="adj" fmla="val 10400"/>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60" name="Text 50"/>
          <p:cNvSpPr/>
          <p:nvPr/>
        </p:nvSpPr>
        <p:spPr>
          <a:xfrm>
            <a:off x="3650456" y="3808512"/>
            <a:ext cx="142875" cy="142875"/>
          </a:xfrm>
          <a:prstGeom prst="rect">
            <a:avLst/>
          </a:prstGeom>
          <a:noFill/>
          <a:ln/>
        </p:spPr>
        <p:txBody>
          <a:bodyPr wrap="none" lIns="0" tIns="0" rIns="0" bIns="0" rtlCol="0" anchor="ctr"/>
          <a:lstStyle/>
          <a:p>
            <a:pPr algn="ctr" indent="0" marL="0">
              <a:buNone/>
            </a:pPr>
            <a:r>
              <a:rPr lang="en-US" sz="1406" dirty="0">
                <a:solidFill>
                  <a:srgbClr val="8B5CF6"/>
                </a:solidFill>
                <a:latin typeface="Segoe UI Symbol" pitchFamily="34" charset="0"/>
                <a:ea typeface="Segoe UI Symbol" pitchFamily="34" charset="-122"/>
                <a:cs typeface="Segoe UI Symbol" pitchFamily="34" charset="-120"/>
              </a:rPr>
              <a:t>◫</a:t>
            </a:r>
            <a:endParaRPr lang="en-US" sz="1406" dirty="0"/>
          </a:p>
        </p:txBody>
      </p:sp>
      <p:sp>
        <p:nvSpPr>
          <p:cNvPr id="61" name="Text 51"/>
          <p:cNvSpPr/>
          <p:nvPr/>
        </p:nvSpPr>
        <p:spPr>
          <a:xfrm>
            <a:off x="3864769" y="3823692"/>
            <a:ext cx="1799220" cy="164592"/>
          </a:xfrm>
          <a:prstGeom prst="rect">
            <a:avLst/>
          </a:prstGeom>
          <a:noFill/>
          <a:ln/>
        </p:spPr>
        <p:txBody>
          <a:bodyPr wrap="none" lIns="0" tIns="0" rIns="0" bIns="0" rtlCol="0" anchor="t"/>
          <a:lstStyle/>
          <a:p>
            <a:pPr algn="l" indent="0" marL="0">
              <a:lnSpc>
                <a:spcPts val="886"/>
              </a:lnSpc>
              <a:buNone/>
            </a:pPr>
            <a:r>
              <a:rPr lang="en-US" sz="800" spc="95" kern="0" dirty="0">
                <a:solidFill>
                  <a:srgbClr val="A7B0CE"/>
                </a:solidFill>
                <a:latin typeface="Courier New" pitchFamily="34" charset="0"/>
                <a:ea typeface="Courier New" pitchFamily="34" charset="-122"/>
                <a:cs typeface="Courier New" pitchFamily="34" charset="-120"/>
              </a:rPr>
              <a:t>CASH RUNWAY</a:t>
            </a:r>
            <a:endParaRPr lang="en-US" sz="800" dirty="0"/>
          </a:p>
        </p:txBody>
      </p:sp>
      <p:sp>
        <p:nvSpPr>
          <p:cNvPr id="62" name="Text 52"/>
          <p:cNvSpPr/>
          <p:nvPr/>
        </p:nvSpPr>
        <p:spPr>
          <a:xfrm>
            <a:off x="3650456" y="4029968"/>
            <a:ext cx="2013533" cy="283321"/>
          </a:xfrm>
          <a:prstGeom prst="rect">
            <a:avLst/>
          </a:prstGeom>
          <a:noFill/>
          <a:ln/>
        </p:spPr>
        <p:txBody>
          <a:bodyPr wrap="none" lIns="0" tIns="0" rIns="0" bIns="0" rtlCol="0" anchor="t">
            <a:normAutofit/>
          </a:bodyPr>
          <a:lstStyle/>
          <a:p>
            <a:pPr algn="l" indent="0" marL="0">
              <a:lnSpc>
                <a:spcPts val="2869"/>
              </a:lnSpc>
              <a:buNone/>
            </a:pPr>
            <a:r>
              <a:rPr lang="en-US" sz="1913" b="1" dirty="0">
                <a:solidFill>
                  <a:srgbClr val="EDEFF9"/>
                </a:solidFill>
                <a:latin typeface="Liberation Sans Narrow" pitchFamily="34" charset="0"/>
                <a:ea typeface="Liberation Sans Narrow" pitchFamily="34" charset="-122"/>
                <a:cs typeface="Liberation Sans Narrow" pitchFamily="34" charset="-120"/>
              </a:rPr>
              <a:t>18</a:t>
            </a:r>
            <a:pPr algn="l" indent="0" marL="0">
              <a:lnSpc>
                <a:spcPts val="2869"/>
              </a:lnSpc>
              <a:buNone/>
            </a:pPr>
            <a:r>
              <a:rPr lang="en-US" sz="844" dirty="0">
                <a:solidFill>
                  <a:srgbClr val="EDEFF9"/>
                </a:solidFill>
                <a:latin typeface="Carlito" pitchFamily="34" charset="0"/>
                <a:ea typeface="Carlito" pitchFamily="34" charset="-122"/>
                <a:cs typeface="Carlito" pitchFamily="34" charset="-120"/>
              </a:rPr>
              <a:t> </a:t>
            </a:r>
            <a:pPr algn="l" indent="0" marL="0">
              <a:lnSpc>
                <a:spcPts val="2869"/>
              </a:lnSpc>
              <a:buNone/>
            </a:pPr>
            <a:r>
              <a:rPr lang="en-US" sz="1069" dirty="0">
                <a:solidFill>
                  <a:srgbClr val="EDEFF9"/>
                </a:solidFill>
                <a:latin typeface="Carlito" pitchFamily="34" charset="0"/>
                <a:ea typeface="Carlito" pitchFamily="34" charset="-122"/>
                <a:cs typeface="Carlito" pitchFamily="34" charset="-120"/>
              </a:rPr>
              <a:t> months</a:t>
            </a:r>
            <a:endParaRPr lang="en-US" sz="844" dirty="0"/>
          </a:p>
        </p:txBody>
      </p:sp>
      <p:sp>
        <p:nvSpPr>
          <p:cNvPr id="63" name="Text 53"/>
          <p:cNvSpPr/>
          <p:nvPr/>
        </p:nvSpPr>
        <p:spPr>
          <a:xfrm>
            <a:off x="3650456" y="4340721"/>
            <a:ext cx="2013533" cy="164592"/>
          </a:xfrm>
          <a:prstGeom prst="rect">
            <a:avLst/>
          </a:prstGeom>
          <a:noFill/>
          <a:ln/>
        </p:spPr>
        <p:txBody>
          <a:bodyPr wrap="none" lIns="0" tIns="0" rIns="0" bIns="0" rtlCol="0" anchor="t"/>
          <a:lstStyle/>
          <a:p>
            <a:pPr algn="l" indent="0" marL="0">
              <a:lnSpc>
                <a:spcPts val="1055"/>
              </a:lnSpc>
              <a:buNone/>
            </a:pPr>
            <a:r>
              <a:rPr lang="en-US" sz="800" dirty="0">
                <a:solidFill>
                  <a:srgbClr val="A7B0CE"/>
                </a:solidFill>
                <a:latin typeface="Carlito" pitchFamily="34" charset="0"/>
                <a:ea typeface="Carlito" pitchFamily="34" charset="-122"/>
                <a:cs typeface="Carlito" pitchFamily="34" charset="-120"/>
              </a:rPr>
              <a:t>at current burn rate</a:t>
            </a:r>
            <a:endParaRPr lang="en-US" sz="800" dirty="0"/>
          </a:p>
        </p:txBody>
      </p:sp>
      <p:pic>
        <p:nvPicPr>
          <p:cNvPr id="64" name="Image 8" descr="preencoded.png">    </p:cNvPr>
          <p:cNvPicPr>
            <a:picLocks noChangeAspect="1"/>
          </p:cNvPicPr>
          <p:nvPr/>
        </p:nvPicPr>
        <p:blipFill>
          <a:blip r:embed="rId9"/>
          <a:stretch>
            <a:fillRect/>
          </a:stretch>
        </p:blipFill>
        <p:spPr>
          <a:xfrm>
            <a:off x="5956883" y="3496977"/>
            <a:ext cx="2672767" cy="1289335"/>
          </a:xfrm>
          <a:prstGeom prst="rect">
            <a:avLst/>
          </a:prstGeom>
        </p:spPr>
      </p:pic>
      <p:sp>
        <p:nvSpPr>
          <p:cNvPr id="65" name="Text 54"/>
          <p:cNvSpPr/>
          <p:nvPr/>
        </p:nvSpPr>
        <p:spPr>
          <a:xfrm>
            <a:off x="5960455" y="3500549"/>
            <a:ext cx="2665623" cy="1282192"/>
          </a:xfrm>
          <a:prstGeom prst="roundRect">
            <a:avLst>
              <a:gd name="adj" fmla="val 10400"/>
            </a:avLst>
          </a:prstGeom>
          <a:noFill/>
          <a:ln w="7144">
            <a:solidFill>
              <a:srgbClr val="8B5CF6"/>
            </a:solidFill>
            <a:prstDash val="solid"/>
          </a:ln>
        </p:spPr>
        <p:txBody>
          <a:bodyPr wrap="square" rtlCol="0" anchor="ctr"/>
          <a:lstStyle/>
          <a:p>
            <a:pPr indent="0" marL="0">
              <a:buNone/>
            </a:pPr>
            <a:endParaRPr lang="en-US" dirty="0"/>
          </a:p>
        </p:txBody>
      </p:sp>
      <p:pic>
        <p:nvPicPr>
          <p:cNvPr id="66" name="Image 9" descr="preencoded.png">    </p:cNvPr>
          <p:cNvPicPr>
            <a:picLocks noChangeAspect="1"/>
          </p:cNvPicPr>
          <p:nvPr/>
        </p:nvPicPr>
        <p:blipFill>
          <a:blip r:embed="rId10"/>
          <a:stretch>
            <a:fillRect/>
          </a:stretch>
        </p:blipFill>
        <p:spPr>
          <a:xfrm>
            <a:off x="7550944" y="2718308"/>
            <a:ext cx="1571625" cy="1571625"/>
          </a:xfrm>
          <a:prstGeom prst="rect">
            <a:avLst/>
          </a:prstGeom>
        </p:spPr>
      </p:pic>
      <p:sp>
        <p:nvSpPr>
          <p:cNvPr id="67" name="Text 55"/>
          <p:cNvSpPr/>
          <p:nvPr/>
        </p:nvSpPr>
        <p:spPr>
          <a:xfrm>
            <a:off x="7550944" y="2718308"/>
            <a:ext cx="1571625" cy="1571625"/>
          </a:xfrm>
          <a:prstGeom prst="ellipse">
            <a:avLst/>
          </a:prstGeom>
          <a:solidFill>
            <a:srgbClr val="FFFFFF">
              <a:alpha val="0"/>
            </a:srgbClr>
          </a:solidFill>
          <a:ln/>
        </p:spPr>
        <p:txBody>
          <a:bodyPr wrap="square" rtlCol="0" anchor="ctr"/>
          <a:lstStyle/>
          <a:p>
            <a:pPr indent="0" marL="0">
              <a:buNone/>
            </a:pPr>
            <a:endParaRPr lang="en-US" dirty="0"/>
          </a:p>
        </p:txBody>
      </p:sp>
      <p:sp>
        <p:nvSpPr>
          <p:cNvPr id="68" name="Text 56"/>
          <p:cNvSpPr/>
          <p:nvPr/>
        </p:nvSpPr>
        <p:spPr>
          <a:xfrm>
            <a:off x="6135477" y="3852156"/>
            <a:ext cx="142875" cy="142875"/>
          </a:xfrm>
          <a:prstGeom prst="rect">
            <a:avLst/>
          </a:prstGeom>
          <a:noFill/>
          <a:ln/>
        </p:spPr>
        <p:txBody>
          <a:bodyPr wrap="none" lIns="0" tIns="0" rIns="0" bIns="0" rtlCol="0" anchor="ctr"/>
          <a:lstStyle/>
          <a:p>
            <a:pPr algn="ctr" indent="0" marL="0">
              <a:buNone/>
            </a:pPr>
            <a:r>
              <a:rPr lang="en-US" sz="1406" dirty="0">
                <a:solidFill>
                  <a:srgbClr val="8B5CF6"/>
                </a:solidFill>
                <a:latin typeface="Segoe UI Symbol" pitchFamily="34" charset="0"/>
                <a:ea typeface="Segoe UI Symbol" pitchFamily="34" charset="-122"/>
                <a:cs typeface="Segoe UI Symbol" pitchFamily="34" charset="-120"/>
              </a:rPr>
              <a:t>⚑</a:t>
            </a:r>
            <a:endParaRPr lang="en-US" sz="1406" dirty="0"/>
          </a:p>
        </p:txBody>
      </p:sp>
      <p:sp>
        <p:nvSpPr>
          <p:cNvPr id="69" name="Text 57"/>
          <p:cNvSpPr/>
          <p:nvPr/>
        </p:nvSpPr>
        <p:spPr>
          <a:xfrm>
            <a:off x="6349789" y="3867336"/>
            <a:ext cx="2101267" cy="164592"/>
          </a:xfrm>
          <a:prstGeom prst="rect">
            <a:avLst/>
          </a:prstGeom>
          <a:noFill/>
          <a:ln/>
        </p:spPr>
        <p:txBody>
          <a:bodyPr wrap="none" lIns="0" tIns="0" rIns="0" bIns="0" rtlCol="0" anchor="t"/>
          <a:lstStyle/>
          <a:p>
            <a:pPr algn="l" indent="0" marL="0">
              <a:lnSpc>
                <a:spcPts val="886"/>
              </a:lnSpc>
              <a:buNone/>
            </a:pPr>
            <a:r>
              <a:rPr lang="en-US" sz="800" spc="130" kern="0" dirty="0">
                <a:solidFill>
                  <a:srgbClr val="8B5CF6"/>
                </a:solidFill>
                <a:latin typeface="Courier New" pitchFamily="34" charset="0"/>
                <a:ea typeface="Courier New" pitchFamily="34" charset="-122"/>
                <a:cs typeface="Courier New" pitchFamily="34" charset="-120"/>
              </a:rPr>
              <a:t>MILESTONE</a:t>
            </a:r>
            <a:endParaRPr lang="en-US" sz="800" dirty="0"/>
          </a:p>
        </p:txBody>
      </p:sp>
      <p:sp>
        <p:nvSpPr>
          <p:cNvPr id="70" name="Text 58"/>
          <p:cNvSpPr/>
          <p:nvPr/>
        </p:nvSpPr>
        <p:spPr>
          <a:xfrm>
            <a:off x="6135477" y="4073612"/>
            <a:ext cx="2425308" cy="187456"/>
          </a:xfrm>
          <a:prstGeom prst="rect">
            <a:avLst/>
          </a:prstGeom>
          <a:noFill/>
          <a:ln/>
        </p:spPr>
        <p:txBody>
          <a:bodyPr wrap="square" lIns="0" tIns="0" rIns="0" bIns="0" rtlCol="0" anchor="t"/>
          <a:lstStyle/>
          <a:p>
            <a:pPr algn="l" indent="0" marL="0">
              <a:lnSpc>
                <a:spcPts val="1367"/>
              </a:lnSpc>
              <a:buNone/>
            </a:pPr>
            <a:r>
              <a:rPr lang="en-US" sz="1013" dirty="0">
                <a:solidFill>
                  <a:srgbClr val="EDEFF9"/>
                </a:solidFill>
                <a:latin typeface="Carlito" pitchFamily="34" charset="0"/>
                <a:ea typeface="Carlito" pitchFamily="34" charset="-122"/>
                <a:cs typeface="Carlito" pitchFamily="34" charset="-120"/>
              </a:rPr>
              <a:t>Path to profitability by </a:t>
            </a:r>
            <a:pPr algn="l" indent="0" marL="0">
              <a:lnSpc>
                <a:spcPts val="1367"/>
              </a:lnSpc>
              <a:buNone/>
            </a:pPr>
            <a:r>
              <a:rPr lang="en-US" sz="1013" dirty="0">
                <a:solidFill>
                  <a:srgbClr val="8B5CF6"/>
                </a:solidFill>
                <a:latin typeface="Liberation Sans Narrow" pitchFamily="34" charset="0"/>
                <a:ea typeface="Liberation Sans Narrow" pitchFamily="34" charset="-122"/>
                <a:cs typeface="Liberation Sans Narrow" pitchFamily="34" charset="-120"/>
              </a:rPr>
              <a:t>Q1 2025</a:t>
            </a:r>
            <a:endParaRPr lang="en-US" sz="1013" dirty="0"/>
          </a:p>
        </p:txBody>
      </p:sp>
      <p:sp>
        <p:nvSpPr>
          <p:cNvPr id="71" name="Text 59"/>
          <p:cNvSpPr/>
          <p:nvPr/>
        </p:nvSpPr>
        <p:spPr>
          <a:xfrm>
            <a:off x="6135477" y="4310583"/>
            <a:ext cx="107156" cy="107156"/>
          </a:xfrm>
          <a:prstGeom prst="rect">
            <a:avLst/>
          </a:prstGeom>
          <a:noFill/>
          <a:ln/>
        </p:spPr>
        <p:txBody>
          <a:bodyPr wrap="none" lIns="0" tIns="0" rIns="0" bIns="0" rtlCol="0" anchor="ctr"/>
          <a:lstStyle/>
          <a:p>
            <a:pPr algn="ctr" indent="0" marL="0">
              <a:buNone/>
            </a:pPr>
            <a:r>
              <a:rPr lang="en-US" sz="1055" dirty="0">
                <a:solidFill>
                  <a:srgbClr val="2DD4A7"/>
                </a:solidFill>
                <a:latin typeface="Segoe UI Symbol" pitchFamily="34" charset="0"/>
                <a:ea typeface="Segoe UI Symbol" pitchFamily="34" charset="-122"/>
                <a:cs typeface="Segoe UI Symbol" pitchFamily="34" charset="-120"/>
              </a:rPr>
              <a:t>✓</a:t>
            </a:r>
            <a:endParaRPr lang="en-US" sz="1055" dirty="0"/>
          </a:p>
        </p:txBody>
      </p:sp>
      <p:sp>
        <p:nvSpPr>
          <p:cNvPr id="72" name="Text 60"/>
          <p:cNvSpPr/>
          <p:nvPr/>
        </p:nvSpPr>
        <p:spPr>
          <a:xfrm>
            <a:off x="6285495" y="4297189"/>
            <a:ext cx="2165561" cy="164592"/>
          </a:xfrm>
          <a:prstGeom prst="rect">
            <a:avLst/>
          </a:prstGeom>
          <a:noFill/>
          <a:ln/>
        </p:spPr>
        <p:txBody>
          <a:bodyPr wrap="square" lIns="0" tIns="0" rIns="0" bIns="0" rtlCol="0" anchor="t"/>
          <a:lstStyle/>
          <a:p>
            <a:pPr algn="l" indent="0" marL="0">
              <a:lnSpc>
                <a:spcPts val="1055"/>
              </a:lnSpc>
              <a:buNone/>
            </a:pPr>
            <a:r>
              <a:rPr lang="en-US" sz="800" dirty="0">
                <a:solidFill>
                  <a:srgbClr val="2DD4A7"/>
                </a:solidFill>
                <a:latin typeface="Carlito" pitchFamily="34" charset="0"/>
                <a:ea typeface="Carlito" pitchFamily="34" charset="-122"/>
                <a:cs typeface="Carlito" pitchFamily="34" charset="-120"/>
              </a:rPr>
              <a:t>On track — ahead of schedule</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572125" y="-2714625"/>
            <a:ext cx="5429250" cy="5429250"/>
          </a:xfrm>
          <a:prstGeom prst="rect">
            <a:avLst/>
          </a:prstGeom>
        </p:spPr>
      </p:pic>
      <p:sp>
        <p:nvSpPr>
          <p:cNvPr id="3" name="Text 0"/>
          <p:cNvSpPr/>
          <p:nvPr/>
        </p:nvSpPr>
        <p:spPr>
          <a:xfrm>
            <a:off x="5572125" y="-2714625"/>
            <a:ext cx="5429250" cy="5429250"/>
          </a:xfrm>
          <a:prstGeom prst="ellipse">
            <a:avLst/>
          </a:prstGeom>
          <a:solidFill>
            <a:srgbClr val="FFFFFF">
              <a:alpha val="0"/>
            </a:srgbClr>
          </a:solidFill>
          <a:ln/>
        </p:spPr>
        <p:txBody>
          <a:bodyPr wrap="square" rtlCol="0" anchor="ctr"/>
          <a:lstStyle/>
          <a:p>
            <a:pPr indent="0" marL="0">
              <a:buNone/>
            </a:pPr>
            <a:endParaRPr lang="en-US" dirty="0"/>
          </a:p>
        </p:txBody>
      </p:sp>
      <p:sp>
        <p:nvSpPr>
          <p:cNvPr id="4" name="Text 1"/>
          <p:cNvSpPr/>
          <p:nvPr/>
        </p:nvSpPr>
        <p:spPr>
          <a:xfrm>
            <a:off x="6294330" y="-214312"/>
            <a:ext cx="2849670" cy="1697355"/>
          </a:xfrm>
          <a:prstGeom prst="rect">
            <a:avLst/>
          </a:prstGeom>
          <a:noFill/>
          <a:ln/>
        </p:spPr>
        <p:txBody>
          <a:bodyPr wrap="square" lIns="0" tIns="0" rIns="0" bIns="0" rtlCol="0" anchor="t"/>
          <a:lstStyle/>
          <a:p>
            <a:pPr algn="l" indent="0" marL="0">
              <a:lnSpc>
                <a:spcPts val="12375"/>
              </a:lnSpc>
              <a:buNone/>
            </a:pPr>
            <a:r>
              <a:rPr lang="en-US" sz="12375" b="1" spc="-495" kern="0" dirty="0">
                <a:solidFill>
                  <a:srgbClr val="FFFFFF">
                    <a:alpha val="0"/>
                  </a:srgbClr>
                </a:solidFill>
                <a:latin typeface="Liberation Sans Narrow" pitchFamily="34" charset="0"/>
                <a:ea typeface="Liberation Sans Narrow" pitchFamily="34" charset="-122"/>
                <a:cs typeface="Liberation Sans Narrow" pitchFamily="34" charset="-120"/>
              </a:rPr>
              <a:t>03</a:t>
            </a:r>
            <a:endParaRPr lang="en-US" sz="12375" dirty="0"/>
          </a:p>
        </p:txBody>
      </p:sp>
      <p:sp>
        <p:nvSpPr>
          <p:cNvPr id="5" name="Shape 2"/>
          <p:cNvSpPr/>
          <p:nvPr/>
        </p:nvSpPr>
        <p:spPr>
          <a:xfrm>
            <a:off x="3606254" y="3112889"/>
            <a:ext cx="0" cy="128588"/>
          </a:xfrm>
          <a:prstGeom prst="line">
            <a:avLst/>
          </a:prstGeom>
          <a:noFill/>
          <a:ln w="14288">
            <a:solidFill>
              <a:srgbClr val="EDEFF9"/>
            </a:solidFill>
            <a:prstDash val="dash"/>
          </a:ln>
        </p:spPr>
      </p:sp>
      <p:sp>
        <p:nvSpPr>
          <p:cNvPr id="6" name="Text 3"/>
          <p:cNvSpPr/>
          <p:nvPr/>
        </p:nvSpPr>
        <p:spPr>
          <a:xfrm>
            <a:off x="514350" y="449163"/>
            <a:ext cx="257175" cy="14288"/>
          </a:xfrm>
          <a:prstGeom prst="rect">
            <a:avLst/>
          </a:prstGeom>
          <a:solidFill>
            <a:srgbClr val="8B5CF6"/>
          </a:solidFill>
          <a:ln/>
        </p:spPr>
        <p:txBody>
          <a:bodyPr wrap="square" rtlCol="0" anchor="ctr"/>
          <a:lstStyle/>
          <a:p>
            <a:pPr indent="0" marL="0">
              <a:buNone/>
            </a:pPr>
            <a:endParaRPr lang="en-US" dirty="0"/>
          </a:p>
        </p:txBody>
      </p:sp>
      <p:sp>
        <p:nvSpPr>
          <p:cNvPr id="7" name="Text 4"/>
          <p:cNvSpPr/>
          <p:nvPr/>
        </p:nvSpPr>
        <p:spPr>
          <a:xfrm>
            <a:off x="857250" y="400050"/>
            <a:ext cx="7772400" cy="164592"/>
          </a:xfrm>
          <a:prstGeom prst="rect">
            <a:avLst/>
          </a:prstGeom>
          <a:noFill/>
          <a:ln/>
        </p:spPr>
        <p:txBody>
          <a:bodyPr wrap="none" lIns="0" tIns="0" rIns="0" bIns="0" rtlCol="0" anchor="t"/>
          <a:lstStyle/>
          <a:p>
            <a:pPr algn="l" indent="0" marL="0">
              <a:lnSpc>
                <a:spcPts val="886"/>
              </a:lnSpc>
              <a:buNone/>
            </a:pPr>
            <a:r>
              <a:rPr lang="en-US" sz="800" spc="130" kern="0" dirty="0">
                <a:solidFill>
                  <a:srgbClr val="8B5CF6"/>
                </a:solidFill>
                <a:latin typeface="Courier New" pitchFamily="34" charset="0"/>
                <a:ea typeface="Courier New" pitchFamily="34" charset="-122"/>
                <a:cs typeface="Courier New" pitchFamily="34" charset="-120"/>
              </a:rPr>
              <a:t>CUSTOMER METRICS</a:t>
            </a:r>
            <a:endParaRPr lang="en-US" sz="800" dirty="0"/>
          </a:p>
        </p:txBody>
      </p:sp>
      <p:sp>
        <p:nvSpPr>
          <p:cNvPr id="8" name="Text 5"/>
          <p:cNvSpPr/>
          <p:nvPr/>
        </p:nvSpPr>
        <p:spPr>
          <a:xfrm>
            <a:off x="514350" y="612577"/>
            <a:ext cx="8629650" cy="339471"/>
          </a:xfrm>
          <a:prstGeom prst="rect">
            <a:avLst/>
          </a:prstGeom>
          <a:noFill/>
          <a:ln/>
        </p:spPr>
        <p:txBody>
          <a:bodyPr wrap="square" lIns="0" tIns="0" rIns="0" bIns="0" rtlCol="0" anchor="t"/>
          <a:lstStyle/>
          <a:p>
            <a:pPr algn="l" indent="0" marL="0">
              <a:lnSpc>
                <a:spcPts val="2475"/>
              </a:lnSpc>
              <a:buNone/>
            </a:pPr>
            <a:r>
              <a:rPr lang="en-US" sz="2250" b="1" spc="-45" kern="0" dirty="0">
                <a:solidFill>
                  <a:srgbClr val="EDEFF9"/>
                </a:solidFill>
                <a:latin typeface="Carlito" pitchFamily="34" charset="0"/>
                <a:ea typeface="Carlito" pitchFamily="34" charset="-122"/>
                <a:cs typeface="Carlito" pitchFamily="34" charset="-120"/>
              </a:rPr>
              <a:t>Expanding Enterprise Footprint</a:t>
            </a:r>
            <a:endParaRPr lang="en-US" sz="2250" dirty="0"/>
          </a:p>
        </p:txBody>
      </p:sp>
      <p:sp>
        <p:nvSpPr>
          <p:cNvPr id="9" name="Text 6"/>
          <p:cNvSpPr/>
          <p:nvPr/>
        </p:nvSpPr>
        <p:spPr>
          <a:xfrm>
            <a:off x="514350" y="1114425"/>
            <a:ext cx="57150" cy="57150"/>
          </a:xfrm>
          <a:prstGeom prst="roundRect">
            <a:avLst>
              <a:gd name="adj" fmla="val 33333"/>
            </a:avLst>
          </a:prstGeom>
          <a:solidFill>
            <a:srgbClr val="8B5CF6"/>
          </a:solidFill>
          <a:ln/>
        </p:spPr>
        <p:txBody>
          <a:bodyPr wrap="square" rtlCol="0" anchor="ctr"/>
          <a:lstStyle/>
          <a:p>
            <a:pPr indent="0" marL="0">
              <a:buNone/>
            </a:pPr>
            <a:endParaRPr lang="en-US" dirty="0"/>
          </a:p>
        </p:txBody>
      </p:sp>
      <p:sp>
        <p:nvSpPr>
          <p:cNvPr id="10" name="Text 7"/>
          <p:cNvSpPr/>
          <p:nvPr/>
        </p:nvSpPr>
        <p:spPr>
          <a:xfrm>
            <a:off x="657225" y="1084064"/>
            <a:ext cx="1109963"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EDEFF9"/>
                </a:solidFill>
                <a:latin typeface="Courier New" pitchFamily="34" charset="0"/>
                <a:ea typeface="Courier New" pitchFamily="34" charset="-122"/>
                <a:cs typeface="Courier New" pitchFamily="34" charset="-120"/>
              </a:rPr>
              <a:t>CUSTOMER BASE</a:t>
            </a:r>
            <a:endParaRPr lang="en-US" sz="800" dirty="0"/>
          </a:p>
        </p:txBody>
      </p:sp>
      <p:sp>
        <p:nvSpPr>
          <p:cNvPr id="11" name="Text 8"/>
          <p:cNvSpPr/>
          <p:nvPr/>
        </p:nvSpPr>
        <p:spPr>
          <a:xfrm>
            <a:off x="1541934" y="1139428"/>
            <a:ext cx="7087716" cy="7144"/>
          </a:xfrm>
          <a:prstGeom prst="rect">
            <a:avLst/>
          </a:prstGeom>
          <a:solidFill>
            <a:srgbClr val="A7B0CE">
              <a:alpha val="18000"/>
            </a:srgbClr>
          </a:solidFill>
          <a:ln/>
        </p:spPr>
        <p:txBody>
          <a:bodyPr wrap="square" rtlCol="0" anchor="ctr"/>
          <a:lstStyle/>
          <a:p>
            <a:pPr indent="0" marL="0">
              <a:buNone/>
            </a:pPr>
            <a:endParaRPr lang="en-US" dirty="0"/>
          </a:p>
        </p:txBody>
      </p:sp>
      <p:sp>
        <p:nvSpPr>
          <p:cNvPr id="12" name="Text 9"/>
          <p:cNvSpPr/>
          <p:nvPr/>
        </p:nvSpPr>
        <p:spPr>
          <a:xfrm>
            <a:off x="517922" y="1291233"/>
            <a:ext cx="2621756" cy="766167"/>
          </a:xfrm>
          <a:prstGeom prst="roundRect">
            <a:avLst>
              <a:gd name="adj" fmla="val 17405"/>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13" name="Text 10"/>
          <p:cNvSpPr/>
          <p:nvPr/>
        </p:nvSpPr>
        <p:spPr>
          <a:xfrm>
            <a:off x="667941" y="1556445"/>
            <a:ext cx="235744" cy="235744"/>
          </a:xfrm>
          <a:prstGeom prst="roundRect">
            <a:avLst>
              <a:gd name="adj" fmla="val 40404"/>
            </a:avLst>
          </a:prstGeom>
          <a:solidFill>
            <a:srgbClr val="8B5CF6">
              <a:alpha val="16000"/>
            </a:srgbClr>
          </a:solidFill>
          <a:ln w="7144">
            <a:solidFill>
              <a:srgbClr val="8B5CF6"/>
            </a:solidFill>
            <a:prstDash val="solid"/>
          </a:ln>
        </p:spPr>
        <p:txBody>
          <a:bodyPr wrap="square" rtlCol="0" anchor="ctr"/>
          <a:lstStyle/>
          <a:p>
            <a:pPr indent="0" marL="0">
              <a:buNone/>
            </a:pPr>
            <a:endParaRPr lang="en-US" dirty="0"/>
          </a:p>
        </p:txBody>
      </p:sp>
      <p:sp>
        <p:nvSpPr>
          <p:cNvPr id="14" name="Text 11"/>
          <p:cNvSpPr/>
          <p:nvPr/>
        </p:nvSpPr>
        <p:spPr>
          <a:xfrm>
            <a:off x="687407" y="1575911"/>
            <a:ext cx="196810" cy="196810"/>
          </a:xfrm>
          <a:prstGeom prst="rect">
            <a:avLst/>
          </a:prstGeom>
          <a:noFill/>
          <a:ln/>
        </p:spPr>
        <p:txBody>
          <a:bodyPr wrap="none" lIns="0" tIns="0" rIns="0" bIns="0" rtlCol="0" anchor="ctr"/>
          <a:lstStyle/>
          <a:p>
            <a:pPr algn="ctr" indent="0" marL="0">
              <a:buNone/>
            </a:pPr>
            <a:r>
              <a:rPr lang="en-US" sz="1336" dirty="0">
                <a:solidFill>
                  <a:srgbClr val="8B5CF6"/>
                </a:solidFill>
                <a:latin typeface="Segoe UI Symbol" pitchFamily="34" charset="0"/>
                <a:ea typeface="Segoe UI Symbol" pitchFamily="34" charset="-122"/>
                <a:cs typeface="Segoe UI Symbol" pitchFamily="34" charset="-120"/>
              </a:rPr>
              <a:t>♟</a:t>
            </a:r>
            <a:endParaRPr lang="en-US" sz="1336" dirty="0"/>
          </a:p>
        </p:txBody>
      </p:sp>
      <p:sp>
        <p:nvSpPr>
          <p:cNvPr id="15" name="Text 12"/>
          <p:cNvSpPr/>
          <p:nvPr/>
        </p:nvSpPr>
        <p:spPr>
          <a:xfrm>
            <a:off x="1007269" y="1409105"/>
            <a:ext cx="1106248" cy="120801"/>
          </a:xfrm>
          <a:prstGeom prst="rect">
            <a:avLst/>
          </a:prstGeom>
          <a:noFill/>
          <a:ln/>
        </p:spPr>
        <p:txBody>
          <a:bodyPr wrap="none" lIns="0" tIns="0" rIns="0" bIns="0" rtlCol="0" anchor="t">
            <a:normAutofit/>
          </a:bodyPr>
          <a:lstStyle/>
          <a:p>
            <a:pPr algn="l" indent="0" marL="0">
              <a:lnSpc>
                <a:spcPts val="886"/>
              </a:lnSpc>
              <a:buNone/>
            </a:pPr>
            <a:r>
              <a:rPr lang="en-US" sz="800" spc="95" kern="0" dirty="0">
                <a:solidFill>
                  <a:srgbClr val="A7B0CE"/>
                </a:solidFill>
                <a:latin typeface="Courier New" pitchFamily="34" charset="0"/>
                <a:ea typeface="Courier New" pitchFamily="34" charset="-122"/>
                <a:cs typeface="Courier New" pitchFamily="34" charset="-120"/>
              </a:rPr>
              <a:t>TOTAL CUSTOMERS</a:t>
            </a:r>
            <a:endParaRPr lang="en-US" sz="800" dirty="0"/>
          </a:p>
        </p:txBody>
      </p:sp>
      <p:sp>
        <p:nvSpPr>
          <p:cNvPr id="16" name="Text 13"/>
          <p:cNvSpPr/>
          <p:nvPr/>
        </p:nvSpPr>
        <p:spPr>
          <a:xfrm>
            <a:off x="1007269" y="1535906"/>
            <a:ext cx="619363" cy="270034"/>
          </a:xfrm>
          <a:prstGeom prst="rect">
            <a:avLst/>
          </a:prstGeom>
          <a:noFill/>
          <a:ln/>
        </p:spPr>
        <p:txBody>
          <a:bodyPr wrap="none" lIns="0" tIns="0" rIns="0" bIns="0" rtlCol="0" anchor="t"/>
          <a:lstStyle/>
          <a:p>
            <a:pPr algn="l" indent="0" marL="0">
              <a:lnSpc>
                <a:spcPts val="1688"/>
              </a:lnSpc>
              <a:buNone/>
            </a:pPr>
            <a:r>
              <a:rPr lang="en-US" sz="1688" b="1" dirty="0">
                <a:solidFill>
                  <a:srgbClr val="EDEFF9"/>
                </a:solidFill>
                <a:latin typeface="Liberation Sans Narrow" pitchFamily="34" charset="0"/>
                <a:ea typeface="Liberation Sans Narrow" pitchFamily="34" charset="-122"/>
                <a:cs typeface="Liberation Sans Narrow" pitchFamily="34" charset="-120"/>
              </a:rPr>
              <a:t>342</a:t>
            </a:r>
            <a:endParaRPr lang="en-US" sz="1688" dirty="0"/>
          </a:p>
        </p:txBody>
      </p:sp>
      <p:sp>
        <p:nvSpPr>
          <p:cNvPr id="17" name="Text 14"/>
          <p:cNvSpPr/>
          <p:nvPr/>
        </p:nvSpPr>
        <p:spPr>
          <a:xfrm>
            <a:off x="1007269" y="1810941"/>
            <a:ext cx="1004959" cy="128588"/>
          </a:xfrm>
          <a:prstGeom prst="rect">
            <a:avLst/>
          </a:prstGeom>
          <a:noFill/>
          <a:ln/>
        </p:spPr>
        <p:txBody>
          <a:bodyPr wrap="none" lIns="0" tIns="0" rIns="0" bIns="0" rtlCol="0" anchor="t"/>
          <a:lstStyle/>
          <a:p>
            <a:pPr algn="l" indent="0" marL="0">
              <a:lnSpc>
                <a:spcPts val="1013"/>
              </a:lnSpc>
              <a:buNone/>
            </a:pPr>
            <a:r>
              <a:rPr lang="en-US" sz="800" dirty="0">
                <a:solidFill>
                  <a:srgbClr val="2DD4A7"/>
                </a:solidFill>
                <a:latin typeface="Liberation Sans Narrow" pitchFamily="34" charset="0"/>
                <a:ea typeface="Liberation Sans Narrow" pitchFamily="34" charset="-122"/>
                <a:cs typeface="Liberation Sans Narrow" pitchFamily="34" charset="-120"/>
              </a:rPr>
              <a:t>up 68% YoY</a:t>
            </a:r>
            <a:endParaRPr lang="en-US" sz="800" dirty="0"/>
          </a:p>
        </p:txBody>
      </p:sp>
      <p:sp>
        <p:nvSpPr>
          <p:cNvPr id="18" name="Text 15"/>
          <p:cNvSpPr/>
          <p:nvPr/>
        </p:nvSpPr>
        <p:spPr>
          <a:xfrm>
            <a:off x="3261122" y="1291233"/>
            <a:ext cx="2621756" cy="766167"/>
          </a:xfrm>
          <a:prstGeom prst="roundRect">
            <a:avLst>
              <a:gd name="adj" fmla="val 17405"/>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19" name="Text 16"/>
          <p:cNvSpPr/>
          <p:nvPr/>
        </p:nvSpPr>
        <p:spPr>
          <a:xfrm>
            <a:off x="3411141" y="1556445"/>
            <a:ext cx="235744" cy="235744"/>
          </a:xfrm>
          <a:prstGeom prst="roundRect">
            <a:avLst>
              <a:gd name="adj" fmla="val 40404"/>
            </a:avLst>
          </a:prstGeom>
          <a:solidFill>
            <a:srgbClr val="8B5CF6">
              <a:alpha val="16000"/>
            </a:srgbClr>
          </a:solidFill>
          <a:ln w="7144">
            <a:solidFill>
              <a:srgbClr val="8B5CF6"/>
            </a:solidFill>
            <a:prstDash val="solid"/>
          </a:ln>
        </p:spPr>
        <p:txBody>
          <a:bodyPr wrap="square" rtlCol="0" anchor="ctr"/>
          <a:lstStyle/>
          <a:p>
            <a:pPr indent="0" marL="0">
              <a:buNone/>
            </a:pPr>
            <a:endParaRPr lang="en-US" dirty="0"/>
          </a:p>
        </p:txBody>
      </p:sp>
      <p:sp>
        <p:nvSpPr>
          <p:cNvPr id="20" name="Text 17"/>
          <p:cNvSpPr/>
          <p:nvPr/>
        </p:nvSpPr>
        <p:spPr>
          <a:xfrm>
            <a:off x="3430607" y="1575911"/>
            <a:ext cx="196810" cy="196810"/>
          </a:xfrm>
          <a:prstGeom prst="rect">
            <a:avLst/>
          </a:prstGeom>
          <a:noFill/>
          <a:ln/>
        </p:spPr>
        <p:txBody>
          <a:bodyPr wrap="none" lIns="0" tIns="0" rIns="0" bIns="0" rtlCol="0" anchor="ctr"/>
          <a:lstStyle/>
          <a:p>
            <a:pPr algn="ctr" indent="0" marL="0">
              <a:buNone/>
            </a:pPr>
            <a:r>
              <a:rPr lang="en-US" sz="1336" dirty="0">
                <a:solidFill>
                  <a:srgbClr val="8B5CF6"/>
                </a:solidFill>
                <a:latin typeface="Segoe UI Symbol" pitchFamily="34" charset="0"/>
                <a:ea typeface="Segoe UI Symbol" pitchFamily="34" charset="-122"/>
                <a:cs typeface="Segoe UI Symbol" pitchFamily="34" charset="-120"/>
              </a:rPr>
              <a:t>▥</a:t>
            </a:r>
            <a:endParaRPr lang="en-US" sz="1336" dirty="0"/>
          </a:p>
        </p:txBody>
      </p:sp>
      <p:sp>
        <p:nvSpPr>
          <p:cNvPr id="21" name="Text 18"/>
          <p:cNvSpPr/>
          <p:nvPr/>
        </p:nvSpPr>
        <p:spPr>
          <a:xfrm>
            <a:off x="3750469" y="1409105"/>
            <a:ext cx="1474901" cy="120801"/>
          </a:xfrm>
          <a:prstGeom prst="rect">
            <a:avLst/>
          </a:prstGeom>
          <a:noFill/>
          <a:ln/>
        </p:spPr>
        <p:txBody>
          <a:bodyPr wrap="none" lIns="0" tIns="0" rIns="0" bIns="0" rtlCol="0" anchor="t">
            <a:normAutofit/>
          </a:bodyPr>
          <a:lstStyle/>
          <a:p>
            <a:pPr algn="l" indent="0" marL="0">
              <a:lnSpc>
                <a:spcPts val="886"/>
              </a:lnSpc>
              <a:buNone/>
            </a:pPr>
            <a:r>
              <a:rPr lang="en-US" sz="800" spc="95" kern="0" dirty="0">
                <a:solidFill>
                  <a:srgbClr val="A7B0CE"/>
                </a:solidFill>
                <a:latin typeface="Courier New" pitchFamily="34" charset="0"/>
                <a:ea typeface="Courier New" pitchFamily="34" charset="-122"/>
                <a:cs typeface="Courier New" pitchFamily="34" charset="-120"/>
              </a:rPr>
              <a:t>ENTERPRISE CUSTOMERS</a:t>
            </a:r>
            <a:endParaRPr lang="en-US" sz="800" dirty="0"/>
          </a:p>
        </p:txBody>
      </p:sp>
      <p:sp>
        <p:nvSpPr>
          <p:cNvPr id="22" name="Text 19"/>
          <p:cNvSpPr/>
          <p:nvPr/>
        </p:nvSpPr>
        <p:spPr>
          <a:xfrm>
            <a:off x="3750469" y="1535906"/>
            <a:ext cx="619363" cy="270034"/>
          </a:xfrm>
          <a:prstGeom prst="rect">
            <a:avLst/>
          </a:prstGeom>
          <a:noFill/>
          <a:ln/>
        </p:spPr>
        <p:txBody>
          <a:bodyPr wrap="none" lIns="0" tIns="0" rIns="0" bIns="0" rtlCol="0" anchor="t"/>
          <a:lstStyle/>
          <a:p>
            <a:pPr algn="l" indent="0" marL="0">
              <a:lnSpc>
                <a:spcPts val="1688"/>
              </a:lnSpc>
              <a:buNone/>
            </a:pPr>
            <a:r>
              <a:rPr lang="en-US" sz="1688" b="1" dirty="0">
                <a:solidFill>
                  <a:srgbClr val="EDEFF9"/>
                </a:solidFill>
                <a:latin typeface="Liberation Sans Narrow" pitchFamily="34" charset="0"/>
                <a:ea typeface="Liberation Sans Narrow" pitchFamily="34" charset="-122"/>
                <a:cs typeface="Liberation Sans Narrow" pitchFamily="34" charset="-120"/>
              </a:rPr>
              <a:t>187</a:t>
            </a:r>
            <a:endParaRPr lang="en-US" sz="1688" dirty="0"/>
          </a:p>
        </p:txBody>
      </p:sp>
      <p:sp>
        <p:nvSpPr>
          <p:cNvPr id="23" name="Text 20"/>
          <p:cNvSpPr/>
          <p:nvPr/>
        </p:nvSpPr>
        <p:spPr>
          <a:xfrm>
            <a:off x="3750469" y="1810941"/>
            <a:ext cx="1339858" cy="128588"/>
          </a:xfrm>
          <a:prstGeom prst="rect">
            <a:avLst/>
          </a:prstGeom>
          <a:noFill/>
          <a:ln/>
        </p:spPr>
        <p:txBody>
          <a:bodyPr wrap="none" lIns="0" tIns="0" rIns="0" bIns="0" rtlCol="0" anchor="t"/>
          <a:lstStyle/>
          <a:p>
            <a:pPr algn="l" indent="0" marL="0">
              <a:lnSpc>
                <a:spcPts val="1013"/>
              </a:lnSpc>
              <a:buNone/>
            </a:pPr>
            <a:r>
              <a:rPr lang="en-US" sz="800" dirty="0">
                <a:solidFill>
                  <a:srgbClr val="2DD4A7"/>
                </a:solidFill>
                <a:latin typeface="Liberation Sans Narrow" pitchFamily="34" charset="0"/>
                <a:ea typeface="Liberation Sans Narrow" pitchFamily="34" charset="-122"/>
                <a:cs typeface="Liberation Sans Narrow" pitchFamily="34" charset="-120"/>
              </a:rPr>
              <a:t>up 92% YoY</a:t>
            </a:r>
            <a:endParaRPr lang="en-US" sz="800" dirty="0"/>
          </a:p>
        </p:txBody>
      </p:sp>
      <p:sp>
        <p:nvSpPr>
          <p:cNvPr id="24" name="Text 21"/>
          <p:cNvSpPr/>
          <p:nvPr/>
        </p:nvSpPr>
        <p:spPr>
          <a:xfrm>
            <a:off x="6004322" y="1291233"/>
            <a:ext cx="2621756" cy="766167"/>
          </a:xfrm>
          <a:prstGeom prst="roundRect">
            <a:avLst>
              <a:gd name="adj" fmla="val 17405"/>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25" name="Text 22"/>
          <p:cNvSpPr/>
          <p:nvPr/>
        </p:nvSpPr>
        <p:spPr>
          <a:xfrm>
            <a:off x="6154341" y="1556445"/>
            <a:ext cx="235744" cy="235744"/>
          </a:xfrm>
          <a:prstGeom prst="roundRect">
            <a:avLst>
              <a:gd name="adj" fmla="val 40404"/>
            </a:avLst>
          </a:prstGeom>
          <a:solidFill>
            <a:srgbClr val="8B5CF6">
              <a:alpha val="16000"/>
            </a:srgbClr>
          </a:solidFill>
          <a:ln w="7144">
            <a:solidFill>
              <a:srgbClr val="8B5CF6"/>
            </a:solidFill>
            <a:prstDash val="solid"/>
          </a:ln>
        </p:spPr>
        <p:txBody>
          <a:bodyPr wrap="square" rtlCol="0" anchor="ctr"/>
          <a:lstStyle/>
          <a:p>
            <a:pPr indent="0" marL="0">
              <a:buNone/>
            </a:pPr>
            <a:endParaRPr lang="en-US" dirty="0"/>
          </a:p>
        </p:txBody>
      </p:sp>
      <p:sp>
        <p:nvSpPr>
          <p:cNvPr id="26" name="Text 23"/>
          <p:cNvSpPr/>
          <p:nvPr/>
        </p:nvSpPr>
        <p:spPr>
          <a:xfrm>
            <a:off x="6173807" y="1575911"/>
            <a:ext cx="196810" cy="196810"/>
          </a:xfrm>
          <a:prstGeom prst="rect">
            <a:avLst/>
          </a:prstGeom>
          <a:noFill/>
          <a:ln/>
        </p:spPr>
        <p:txBody>
          <a:bodyPr wrap="none" lIns="0" tIns="0" rIns="0" bIns="0" rtlCol="0" anchor="ctr"/>
          <a:lstStyle/>
          <a:p>
            <a:pPr algn="ctr" indent="0" marL="0">
              <a:buNone/>
            </a:pPr>
            <a:r>
              <a:rPr lang="en-US" sz="1336" dirty="0">
                <a:solidFill>
                  <a:srgbClr val="8B5CF6"/>
                </a:solidFill>
                <a:latin typeface="Segoe UI Symbol" pitchFamily="34" charset="0"/>
                <a:ea typeface="Segoe UI Symbol" pitchFamily="34" charset="-122"/>
                <a:cs typeface="Segoe UI Symbol" pitchFamily="34" charset="-120"/>
              </a:rPr>
              <a:t>$</a:t>
            </a:r>
            <a:endParaRPr lang="en-US" sz="1336" dirty="0"/>
          </a:p>
        </p:txBody>
      </p:sp>
      <p:sp>
        <p:nvSpPr>
          <p:cNvPr id="27" name="Text 24"/>
          <p:cNvSpPr/>
          <p:nvPr/>
        </p:nvSpPr>
        <p:spPr>
          <a:xfrm>
            <a:off x="6493669" y="1409105"/>
            <a:ext cx="1531956" cy="120801"/>
          </a:xfrm>
          <a:prstGeom prst="rect">
            <a:avLst/>
          </a:prstGeom>
          <a:noFill/>
          <a:ln/>
        </p:spPr>
        <p:txBody>
          <a:bodyPr wrap="none" lIns="0" tIns="0" rIns="0" bIns="0" rtlCol="0" anchor="t">
            <a:normAutofit/>
          </a:bodyPr>
          <a:lstStyle/>
          <a:p>
            <a:pPr algn="l" indent="0" marL="0">
              <a:lnSpc>
                <a:spcPts val="886"/>
              </a:lnSpc>
              <a:buNone/>
            </a:pPr>
            <a:r>
              <a:rPr lang="en-US" sz="800" spc="95" kern="0" dirty="0">
                <a:solidFill>
                  <a:srgbClr val="A7B0CE"/>
                </a:solidFill>
                <a:latin typeface="Courier New" pitchFamily="34" charset="0"/>
                <a:ea typeface="Courier New" pitchFamily="34" charset="-122"/>
                <a:cs typeface="Courier New" pitchFamily="34" charset="-120"/>
              </a:rPr>
              <a:t>AVERAGE CONTRACT VALUE</a:t>
            </a:r>
            <a:endParaRPr lang="en-US" sz="800" dirty="0"/>
          </a:p>
        </p:txBody>
      </p:sp>
      <p:sp>
        <p:nvSpPr>
          <p:cNvPr id="28" name="Text 25"/>
          <p:cNvSpPr/>
          <p:nvPr/>
        </p:nvSpPr>
        <p:spPr>
          <a:xfrm>
            <a:off x="6493669" y="1535906"/>
            <a:ext cx="1228404" cy="270034"/>
          </a:xfrm>
          <a:prstGeom prst="rect">
            <a:avLst/>
          </a:prstGeom>
          <a:noFill/>
          <a:ln/>
        </p:spPr>
        <p:txBody>
          <a:bodyPr wrap="none" lIns="0" tIns="0" rIns="0" bIns="0" rtlCol="0" anchor="t"/>
          <a:lstStyle/>
          <a:p>
            <a:pPr algn="l" indent="0" marL="0">
              <a:lnSpc>
                <a:spcPts val="1688"/>
              </a:lnSpc>
              <a:buNone/>
            </a:pPr>
            <a:r>
              <a:rPr lang="en-US" sz="1688" b="1" dirty="0">
                <a:solidFill>
                  <a:srgbClr val="EDEFF9"/>
                </a:solidFill>
                <a:latin typeface="Liberation Sans Narrow" pitchFamily="34" charset="0"/>
                <a:ea typeface="Liberation Sans Narrow" pitchFamily="34" charset="-122"/>
                <a:cs typeface="Liberation Sans Narrow" pitchFamily="34" charset="-120"/>
              </a:rPr>
              <a:t>$65,000</a:t>
            </a:r>
            <a:endParaRPr lang="en-US" sz="1688" dirty="0"/>
          </a:p>
        </p:txBody>
      </p:sp>
      <p:sp>
        <p:nvSpPr>
          <p:cNvPr id="29" name="Text 26"/>
          <p:cNvSpPr/>
          <p:nvPr/>
        </p:nvSpPr>
        <p:spPr>
          <a:xfrm>
            <a:off x="6493669" y="1810941"/>
            <a:ext cx="1473948" cy="128588"/>
          </a:xfrm>
          <a:prstGeom prst="rect">
            <a:avLst/>
          </a:prstGeom>
          <a:noFill/>
          <a:ln/>
        </p:spPr>
        <p:txBody>
          <a:bodyPr wrap="none" lIns="0" tIns="0" rIns="0" bIns="0" rtlCol="0" anchor="t"/>
          <a:lstStyle/>
          <a:p>
            <a:pPr algn="l" indent="0" marL="0">
              <a:lnSpc>
                <a:spcPts val="1013"/>
              </a:lnSpc>
              <a:buNone/>
            </a:pPr>
            <a:r>
              <a:rPr lang="en-US" sz="800" dirty="0">
                <a:solidFill>
                  <a:srgbClr val="2DD4A7"/>
                </a:solidFill>
                <a:latin typeface="Liberation Sans Narrow" pitchFamily="34" charset="0"/>
                <a:ea typeface="Liberation Sans Narrow" pitchFamily="34" charset="-122"/>
                <a:cs typeface="Liberation Sans Narrow" pitchFamily="34" charset="-120"/>
              </a:rPr>
              <a:t>up 15% YoY</a:t>
            </a:r>
            <a:endParaRPr lang="en-US" sz="800" dirty="0"/>
          </a:p>
        </p:txBody>
      </p:sp>
      <p:sp>
        <p:nvSpPr>
          <p:cNvPr id="30" name="Text 27"/>
          <p:cNvSpPr/>
          <p:nvPr/>
        </p:nvSpPr>
        <p:spPr>
          <a:xfrm>
            <a:off x="514350" y="2118122"/>
            <a:ext cx="2839212" cy="164592"/>
          </a:xfrm>
          <a:prstGeom prst="rect">
            <a:avLst/>
          </a:prstGeom>
          <a:noFill/>
          <a:ln/>
        </p:spPr>
        <p:txBody>
          <a:bodyPr wrap="square" lIns="0" tIns="0" rIns="0" bIns="0" rtlCol="0" anchor="t"/>
          <a:lstStyle/>
          <a:p>
            <a:pPr algn="l" indent="0" marL="0">
              <a:lnSpc>
                <a:spcPts val="970"/>
              </a:lnSpc>
              <a:buNone/>
            </a:pPr>
            <a:r>
              <a:rPr lang="en-US" sz="800" dirty="0">
                <a:solidFill>
                  <a:srgbClr val="EDEFF9"/>
                </a:solidFill>
                <a:latin typeface="Liberation Sans Narrow" pitchFamily="34" charset="0"/>
                <a:ea typeface="Liberation Sans Narrow" pitchFamily="34" charset="-122"/>
                <a:cs typeface="Liberation Sans Narrow" pitchFamily="34" charset="-120"/>
              </a:rPr>
              <a:t>120</a:t>
            </a:r>
            <a:pPr algn="l" indent="0" marL="0">
              <a:lnSpc>
                <a:spcPts val="970"/>
              </a:lnSpc>
              <a:buNone/>
            </a:pPr>
            <a:r>
              <a:rPr lang="en-US" sz="800" dirty="0">
                <a:solidFill>
                  <a:srgbClr val="A7B0CE"/>
                </a:solidFill>
                <a:latin typeface="Liberation Sans Narrow" pitchFamily="34" charset="0"/>
                <a:ea typeface="Liberation Sans Narrow" pitchFamily="34" charset="-122"/>
                <a:cs typeface="Liberation Sans Narrow" pitchFamily="34" charset="-120"/>
              </a:rPr>
              <a:t> new enterprise customers in Q3</a:t>
            </a:r>
            <a:endParaRPr lang="en-US" sz="800" dirty="0"/>
          </a:p>
        </p:txBody>
      </p:sp>
      <p:sp>
        <p:nvSpPr>
          <p:cNvPr id="31" name="Text 28"/>
          <p:cNvSpPr/>
          <p:nvPr/>
        </p:nvSpPr>
        <p:spPr>
          <a:xfrm>
            <a:off x="3257550" y="2118122"/>
            <a:ext cx="2839212" cy="164592"/>
          </a:xfrm>
          <a:prstGeom prst="rect">
            <a:avLst/>
          </a:prstGeom>
          <a:noFill/>
          <a:ln/>
        </p:spPr>
        <p:txBody>
          <a:bodyPr wrap="square" lIns="0" tIns="0" rIns="0" bIns="0" rtlCol="0" anchor="t"/>
          <a:lstStyle/>
          <a:p>
            <a:pPr algn="l" indent="0" marL="0">
              <a:lnSpc>
                <a:spcPts val="970"/>
              </a:lnSpc>
              <a:buNone/>
            </a:pPr>
            <a:r>
              <a:rPr lang="en-US" sz="800" dirty="0">
                <a:solidFill>
                  <a:srgbClr val="A7B0CE"/>
                </a:solidFill>
                <a:latin typeface="Carlito" pitchFamily="34" charset="0"/>
                <a:ea typeface="Carlito" pitchFamily="34" charset="-122"/>
                <a:cs typeface="Carlito" pitchFamily="34" charset="-120"/>
              </a:rPr>
              <a:t>Enterprises now the majority of our base</a:t>
            </a:r>
            <a:endParaRPr lang="en-US" sz="800" dirty="0"/>
          </a:p>
        </p:txBody>
      </p:sp>
      <p:sp>
        <p:nvSpPr>
          <p:cNvPr id="32" name="Text 29"/>
          <p:cNvSpPr/>
          <p:nvPr/>
        </p:nvSpPr>
        <p:spPr>
          <a:xfrm>
            <a:off x="6000750" y="2118122"/>
            <a:ext cx="2839212" cy="164592"/>
          </a:xfrm>
          <a:prstGeom prst="rect">
            <a:avLst/>
          </a:prstGeom>
          <a:noFill/>
          <a:ln/>
        </p:spPr>
        <p:txBody>
          <a:bodyPr wrap="square" lIns="0" tIns="0" rIns="0" bIns="0" rtlCol="0" anchor="t"/>
          <a:lstStyle/>
          <a:p>
            <a:pPr algn="l" indent="0" marL="0">
              <a:lnSpc>
                <a:spcPts val="970"/>
              </a:lnSpc>
              <a:buNone/>
            </a:pPr>
            <a:r>
              <a:rPr lang="en-US" sz="800" dirty="0">
                <a:solidFill>
                  <a:srgbClr val="A7B0CE"/>
                </a:solidFill>
                <a:latin typeface="Carlito" pitchFamily="34" charset="0"/>
                <a:ea typeface="Carlito" pitchFamily="34" charset="-122"/>
                <a:cs typeface="Carlito" pitchFamily="34" charset="-120"/>
              </a:rPr>
              <a:t>Larger deals as platform scope grows</a:t>
            </a:r>
            <a:endParaRPr lang="en-US" sz="800" dirty="0"/>
          </a:p>
        </p:txBody>
      </p:sp>
      <p:sp>
        <p:nvSpPr>
          <p:cNvPr id="33" name="Text 30"/>
          <p:cNvSpPr/>
          <p:nvPr/>
        </p:nvSpPr>
        <p:spPr>
          <a:xfrm>
            <a:off x="517922" y="2373511"/>
            <a:ext cx="4716326" cy="2409230"/>
          </a:xfrm>
          <a:prstGeom prst="roundRect">
            <a:avLst>
              <a:gd name="adj" fmla="val 5535"/>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34" name="Text 31"/>
          <p:cNvSpPr/>
          <p:nvPr/>
        </p:nvSpPr>
        <p:spPr>
          <a:xfrm>
            <a:off x="707231" y="2519958"/>
            <a:ext cx="135731" cy="135731"/>
          </a:xfrm>
          <a:prstGeom prst="rect">
            <a:avLst/>
          </a:prstGeom>
          <a:noFill/>
          <a:ln/>
        </p:spPr>
        <p:txBody>
          <a:bodyPr wrap="none" lIns="0" tIns="0" rIns="0" bIns="0" rtlCol="0" anchor="ctr"/>
          <a:lstStyle/>
          <a:p>
            <a:pPr algn="ctr" indent="0" marL="0">
              <a:buNone/>
            </a:pPr>
            <a:r>
              <a:rPr lang="en-US" sz="1336" dirty="0">
                <a:solidFill>
                  <a:srgbClr val="8B5CF6"/>
                </a:solidFill>
                <a:latin typeface="Segoe UI Symbol" pitchFamily="34" charset="0"/>
                <a:ea typeface="Segoe UI Symbol" pitchFamily="34" charset="-122"/>
                <a:cs typeface="Segoe UI Symbol" pitchFamily="34" charset="-120"/>
              </a:rPr>
              <a:t>↻</a:t>
            </a:r>
            <a:endParaRPr lang="en-US" sz="1336" dirty="0"/>
          </a:p>
        </p:txBody>
      </p:sp>
      <p:sp>
        <p:nvSpPr>
          <p:cNvPr id="35" name="Text 32"/>
          <p:cNvSpPr/>
          <p:nvPr/>
        </p:nvSpPr>
        <p:spPr>
          <a:xfrm>
            <a:off x="914400" y="2528888"/>
            <a:ext cx="413053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EDEFF9"/>
                </a:solidFill>
                <a:latin typeface="Courier New" pitchFamily="34" charset="0"/>
                <a:ea typeface="Courier New" pitchFamily="34" charset="-122"/>
                <a:cs typeface="Courier New" pitchFamily="34" charset="-120"/>
              </a:rPr>
              <a:t>RETENTION</a:t>
            </a:r>
            <a:endParaRPr lang="en-US" sz="800" dirty="0"/>
          </a:p>
        </p:txBody>
      </p:sp>
      <p:sp>
        <p:nvSpPr>
          <p:cNvPr id="36" name="Text 33"/>
          <p:cNvSpPr/>
          <p:nvPr/>
        </p:nvSpPr>
        <p:spPr>
          <a:xfrm>
            <a:off x="707231" y="2895005"/>
            <a:ext cx="3600785" cy="173593"/>
          </a:xfrm>
          <a:prstGeom prst="rect">
            <a:avLst/>
          </a:prstGeom>
          <a:noFill/>
          <a:ln/>
        </p:spPr>
        <p:txBody>
          <a:bodyPr wrap="none" lIns="0" tIns="0" rIns="0" bIns="0" rtlCol="0" anchor="t"/>
          <a:lstStyle/>
          <a:p>
            <a:pPr algn="l" indent="0" marL="0">
              <a:lnSpc>
                <a:spcPts val="1266"/>
              </a:lnSpc>
              <a:buNone/>
            </a:pPr>
            <a:r>
              <a:rPr lang="en-US" sz="844" dirty="0">
                <a:solidFill>
                  <a:srgbClr val="A7B0CE"/>
                </a:solidFill>
                <a:latin typeface="Carlito" pitchFamily="34" charset="0"/>
                <a:ea typeface="Carlito" pitchFamily="34" charset="-122"/>
                <a:cs typeface="Carlito" pitchFamily="34" charset="-120"/>
              </a:rPr>
              <a:t>Net revenue retention</a:t>
            </a:r>
            <a:endParaRPr lang="en-US" sz="844" dirty="0"/>
          </a:p>
        </p:txBody>
      </p:sp>
      <p:sp>
        <p:nvSpPr>
          <p:cNvPr id="37" name="Text 34"/>
          <p:cNvSpPr/>
          <p:nvPr/>
        </p:nvSpPr>
        <p:spPr>
          <a:xfrm>
            <a:off x="4222193" y="2755702"/>
            <a:ext cx="922855" cy="324041"/>
          </a:xfrm>
          <a:prstGeom prst="rect">
            <a:avLst/>
          </a:prstGeom>
          <a:noFill/>
          <a:ln/>
        </p:spPr>
        <p:txBody>
          <a:bodyPr wrap="none" lIns="0" tIns="0" rIns="0" bIns="0" rtlCol="0" anchor="t"/>
          <a:lstStyle/>
          <a:p>
            <a:pPr algn="l" indent="0" marL="0">
              <a:lnSpc>
                <a:spcPts val="2363"/>
              </a:lnSpc>
              <a:buNone/>
            </a:pPr>
            <a:r>
              <a:rPr lang="en-US" sz="2363" b="1" dirty="0">
                <a:solidFill>
                  <a:srgbClr val="EDEFF9"/>
                </a:solidFill>
                <a:latin typeface="Liberation Sans Narrow" pitchFamily="34" charset="0"/>
                <a:ea typeface="Liberation Sans Narrow" pitchFamily="34" charset="-122"/>
                <a:cs typeface="Liberation Sans Narrow" pitchFamily="34" charset="-120"/>
              </a:rPr>
              <a:t>145%</a:t>
            </a:r>
            <a:endParaRPr lang="en-US" sz="2363" dirty="0"/>
          </a:p>
        </p:txBody>
      </p:sp>
      <p:sp>
        <p:nvSpPr>
          <p:cNvPr id="38" name="Text 35"/>
          <p:cNvSpPr/>
          <p:nvPr/>
        </p:nvSpPr>
        <p:spPr>
          <a:xfrm>
            <a:off x="707231" y="3141464"/>
            <a:ext cx="4337707" cy="71438"/>
          </a:xfrm>
          <a:prstGeom prst="roundRect">
            <a:avLst>
              <a:gd name="adj" fmla="val 13319907"/>
            </a:avLst>
          </a:prstGeom>
          <a:solidFill>
            <a:srgbClr val="1B2342"/>
          </a:solidFill>
          <a:ln/>
        </p:spPr>
        <p:txBody>
          <a:bodyPr wrap="square" rtlCol="0" anchor="ctr"/>
          <a:lstStyle/>
          <a:p>
            <a:pPr indent="0" marL="0">
              <a:buNone/>
            </a:pPr>
            <a:endParaRPr lang="en-US" dirty="0"/>
          </a:p>
        </p:txBody>
      </p:sp>
      <p:pic>
        <p:nvPicPr>
          <p:cNvPr id="39" name="Image 1" descr="preencoded.png">    </p:cNvPr>
          <p:cNvPicPr>
            <a:picLocks noChangeAspect="1"/>
          </p:cNvPicPr>
          <p:nvPr/>
        </p:nvPicPr>
        <p:blipFill>
          <a:blip r:embed="rId2"/>
          <a:stretch>
            <a:fillRect/>
          </a:stretch>
        </p:blipFill>
        <p:spPr>
          <a:xfrm>
            <a:off x="707231" y="3141464"/>
            <a:ext cx="4194497" cy="71438"/>
          </a:xfrm>
          <a:prstGeom prst="rect">
            <a:avLst/>
          </a:prstGeom>
        </p:spPr>
      </p:pic>
      <p:sp>
        <p:nvSpPr>
          <p:cNvPr id="40" name="Text 36"/>
          <p:cNvSpPr/>
          <p:nvPr/>
        </p:nvSpPr>
        <p:spPr>
          <a:xfrm>
            <a:off x="697642" y="3255764"/>
            <a:ext cx="163840" cy="164592"/>
          </a:xfrm>
          <a:prstGeom prst="rect">
            <a:avLst/>
          </a:prstGeom>
          <a:noFill/>
          <a:ln/>
        </p:spPr>
        <p:txBody>
          <a:bodyPr wrap="square" lIns="0" tIns="0" rIns="0" bIns="0" rtlCol="0" anchor="t"/>
          <a:lstStyle/>
          <a:p>
            <a:pPr algn="l" indent="0" marL="0">
              <a:lnSpc>
                <a:spcPts val="886"/>
              </a:lnSpc>
              <a:buNone/>
            </a:pPr>
            <a:r>
              <a:rPr lang="en-US" sz="800" dirty="0">
                <a:solidFill>
                  <a:srgbClr val="A7B0CE"/>
                </a:solidFill>
                <a:latin typeface="Liberation Sans Narrow" pitchFamily="34" charset="0"/>
                <a:ea typeface="Liberation Sans Narrow" pitchFamily="34" charset="-122"/>
                <a:cs typeface="Liberation Sans Narrow" pitchFamily="34" charset="-120"/>
              </a:rPr>
              <a:t>0%</a:t>
            </a:r>
            <a:endParaRPr lang="en-US" sz="800" dirty="0"/>
          </a:p>
        </p:txBody>
      </p:sp>
      <p:sp>
        <p:nvSpPr>
          <p:cNvPr id="41" name="Text 37"/>
          <p:cNvSpPr/>
          <p:nvPr/>
        </p:nvSpPr>
        <p:spPr>
          <a:xfrm>
            <a:off x="3418452" y="3255764"/>
            <a:ext cx="462486" cy="164592"/>
          </a:xfrm>
          <a:prstGeom prst="rect">
            <a:avLst/>
          </a:prstGeom>
          <a:noFill/>
          <a:ln/>
        </p:spPr>
        <p:txBody>
          <a:bodyPr wrap="none" lIns="0" tIns="0" rIns="0" bIns="0" rtlCol="0" anchor="t"/>
          <a:lstStyle/>
          <a:p>
            <a:pPr algn="l" indent="0" marL="0">
              <a:lnSpc>
                <a:spcPts val="886"/>
              </a:lnSpc>
              <a:buNone/>
            </a:pPr>
            <a:r>
              <a:rPr lang="en-US" sz="600" dirty="0">
                <a:solidFill>
                  <a:srgbClr val="EDEFF9"/>
                </a:solidFill>
                <a:latin typeface="Liberation Sans Narrow" pitchFamily="34" charset="0"/>
                <a:ea typeface="Liberation Sans Narrow" pitchFamily="34" charset="-122"/>
                <a:cs typeface="Liberation Sans Narrow" pitchFamily="34" charset="-120"/>
              </a:rPr>
              <a:t>100% cap</a:t>
            </a:r>
            <a:endParaRPr lang="en-US" sz="600" dirty="0"/>
          </a:p>
        </p:txBody>
      </p:sp>
      <p:sp>
        <p:nvSpPr>
          <p:cNvPr id="42" name="Text 38"/>
          <p:cNvSpPr/>
          <p:nvPr/>
        </p:nvSpPr>
        <p:spPr>
          <a:xfrm>
            <a:off x="4837393" y="3255764"/>
            <a:ext cx="234376" cy="164592"/>
          </a:xfrm>
          <a:prstGeom prst="rect">
            <a:avLst/>
          </a:prstGeom>
          <a:noFill/>
          <a:ln/>
        </p:spPr>
        <p:txBody>
          <a:bodyPr wrap="none" lIns="0" tIns="0" rIns="0" bIns="0" rtlCol="0" anchor="t"/>
          <a:lstStyle/>
          <a:p>
            <a:pPr algn="l" indent="0" marL="0">
              <a:lnSpc>
                <a:spcPts val="886"/>
              </a:lnSpc>
              <a:buNone/>
            </a:pPr>
            <a:r>
              <a:rPr lang="en-US" sz="600" dirty="0">
                <a:solidFill>
                  <a:srgbClr val="A7B0CE"/>
                </a:solidFill>
                <a:latin typeface="Liberation Sans Narrow" pitchFamily="34" charset="0"/>
                <a:ea typeface="Liberation Sans Narrow" pitchFamily="34" charset="-122"/>
                <a:cs typeface="Liberation Sans Narrow" pitchFamily="34" charset="-120"/>
              </a:rPr>
              <a:t>150%</a:t>
            </a:r>
            <a:endParaRPr lang="en-US" sz="600" dirty="0"/>
          </a:p>
        </p:txBody>
      </p:sp>
      <p:sp>
        <p:nvSpPr>
          <p:cNvPr id="43" name="Text 39"/>
          <p:cNvSpPr/>
          <p:nvPr/>
        </p:nvSpPr>
        <p:spPr>
          <a:xfrm>
            <a:off x="707231" y="3377208"/>
            <a:ext cx="114300" cy="114300"/>
          </a:xfrm>
          <a:prstGeom prst="rect">
            <a:avLst/>
          </a:prstGeom>
          <a:noFill/>
          <a:ln/>
        </p:spPr>
        <p:txBody>
          <a:bodyPr wrap="none" lIns="0" tIns="0" rIns="0" bIns="0" rtlCol="0" anchor="ctr"/>
          <a:lstStyle/>
          <a:p>
            <a:pPr algn="ctr" indent="0" marL="0">
              <a:buNone/>
            </a:pPr>
            <a:r>
              <a:rPr lang="en-US" sz="1125" dirty="0">
                <a:solidFill>
                  <a:srgbClr val="8B5CF6"/>
                </a:solidFill>
                <a:latin typeface="Segoe UI Symbol" pitchFamily="34" charset="0"/>
                <a:ea typeface="Segoe UI Symbol" pitchFamily="34" charset="-122"/>
                <a:cs typeface="Segoe UI Symbol" pitchFamily="34" charset="-120"/>
              </a:rPr>
              <a:t>◆</a:t>
            </a:r>
            <a:endParaRPr lang="en-US" sz="1125" dirty="0"/>
          </a:p>
        </p:txBody>
      </p:sp>
      <p:sp>
        <p:nvSpPr>
          <p:cNvPr id="44" name="Text 40"/>
          <p:cNvSpPr/>
          <p:nvPr/>
        </p:nvSpPr>
        <p:spPr>
          <a:xfrm>
            <a:off x="878681" y="3370064"/>
            <a:ext cx="4166257" cy="164592"/>
          </a:xfrm>
          <a:prstGeom prst="rect">
            <a:avLst/>
          </a:prstGeom>
          <a:noFill/>
          <a:ln/>
        </p:spPr>
        <p:txBody>
          <a:bodyPr wrap="square" lIns="0" tIns="0" rIns="0" bIns="0" rtlCol="0" anchor="t"/>
          <a:lstStyle/>
          <a:p>
            <a:pPr algn="l" indent="0" marL="0">
              <a:lnSpc>
                <a:spcPts val="1055"/>
              </a:lnSpc>
              <a:buNone/>
            </a:pPr>
            <a:r>
              <a:rPr lang="en-US" sz="800" dirty="0">
                <a:solidFill>
                  <a:srgbClr val="EDEFF9"/>
                </a:solidFill>
                <a:latin typeface="Liberation Sans Narrow" pitchFamily="34" charset="0"/>
                <a:ea typeface="Liberation Sans Narrow" pitchFamily="34" charset="-122"/>
                <a:cs typeface="Liberation Sans Narrow" pitchFamily="34" charset="-120"/>
              </a:rPr>
              <a:t>145%</a:t>
            </a:r>
            <a:pPr algn="l" indent="0" marL="0">
              <a:lnSpc>
                <a:spcPts val="1055"/>
              </a:lnSpc>
              <a:buNone/>
            </a:pPr>
            <a:r>
              <a:rPr lang="en-US" sz="800" dirty="0">
                <a:solidFill>
                  <a:srgbClr val="A7B0CE"/>
                </a:solidFill>
                <a:latin typeface="Carlito" pitchFamily="34" charset="0"/>
                <a:ea typeface="Carlito" pitchFamily="34" charset="-122"/>
                <a:cs typeface="Carlito" pitchFamily="34" charset="-120"/>
              </a:rPr>
              <a:t> NRR demonstrates increasing value customers derive as usage expands</a:t>
            </a:r>
            <a:endParaRPr lang="en-US" sz="800" dirty="0"/>
          </a:p>
        </p:txBody>
      </p:sp>
      <p:sp>
        <p:nvSpPr>
          <p:cNvPr id="45" name="Text 41"/>
          <p:cNvSpPr/>
          <p:nvPr/>
        </p:nvSpPr>
        <p:spPr>
          <a:xfrm>
            <a:off x="707231" y="3604022"/>
            <a:ext cx="4337707" cy="7144"/>
          </a:xfrm>
          <a:prstGeom prst="rect">
            <a:avLst/>
          </a:prstGeom>
          <a:solidFill>
            <a:srgbClr val="A7B0CE">
              <a:alpha val="18000"/>
            </a:srgbClr>
          </a:solidFill>
          <a:ln/>
        </p:spPr>
        <p:txBody>
          <a:bodyPr wrap="square" rtlCol="0" anchor="ctr"/>
          <a:lstStyle/>
          <a:p>
            <a:pPr indent="0" marL="0">
              <a:buNone/>
            </a:pPr>
            <a:endParaRPr lang="en-US" dirty="0"/>
          </a:p>
        </p:txBody>
      </p:sp>
      <p:sp>
        <p:nvSpPr>
          <p:cNvPr id="46" name="Text 42"/>
          <p:cNvSpPr/>
          <p:nvPr/>
        </p:nvSpPr>
        <p:spPr>
          <a:xfrm>
            <a:off x="707231" y="3755827"/>
            <a:ext cx="2585703" cy="173593"/>
          </a:xfrm>
          <a:prstGeom prst="rect">
            <a:avLst/>
          </a:prstGeom>
          <a:noFill/>
          <a:ln/>
        </p:spPr>
        <p:txBody>
          <a:bodyPr wrap="none" lIns="0" tIns="0" rIns="0" bIns="0" rtlCol="0" anchor="t"/>
          <a:lstStyle/>
          <a:p>
            <a:pPr algn="l" indent="0" marL="0">
              <a:lnSpc>
                <a:spcPts val="1266"/>
              </a:lnSpc>
              <a:buNone/>
            </a:pPr>
            <a:r>
              <a:rPr lang="en-US" sz="844" dirty="0">
                <a:solidFill>
                  <a:srgbClr val="A7B0CE"/>
                </a:solidFill>
                <a:latin typeface="Carlito" pitchFamily="34" charset="0"/>
                <a:ea typeface="Carlito" pitchFamily="34" charset="-122"/>
                <a:cs typeface="Carlito" pitchFamily="34" charset="-120"/>
              </a:rPr>
              <a:t>Churn rate</a:t>
            </a:r>
            <a:endParaRPr lang="en-US" sz="844" dirty="0"/>
          </a:p>
        </p:txBody>
      </p:sp>
      <p:sp>
        <p:nvSpPr>
          <p:cNvPr id="47" name="Text 43"/>
          <p:cNvSpPr/>
          <p:nvPr/>
        </p:nvSpPr>
        <p:spPr>
          <a:xfrm>
            <a:off x="3307221" y="3696891"/>
            <a:ext cx="715804" cy="300895"/>
          </a:xfrm>
          <a:prstGeom prst="rect">
            <a:avLst/>
          </a:prstGeom>
          <a:noFill/>
          <a:ln/>
        </p:spPr>
        <p:txBody>
          <a:bodyPr wrap="none" lIns="0" tIns="0" rIns="0" bIns="0" rtlCol="0" anchor="t"/>
          <a:lstStyle/>
          <a:p>
            <a:pPr algn="l" indent="0" marL="0">
              <a:lnSpc>
                <a:spcPts val="2194"/>
              </a:lnSpc>
              <a:buNone/>
            </a:pPr>
            <a:r>
              <a:rPr lang="en-US" sz="1463" b="1" dirty="0">
                <a:solidFill>
                  <a:srgbClr val="EDEFF9"/>
                </a:solidFill>
                <a:latin typeface="Liberation Sans Narrow" pitchFamily="34" charset="0"/>
                <a:ea typeface="Liberation Sans Narrow" pitchFamily="34" charset="-122"/>
                <a:cs typeface="Liberation Sans Narrow" pitchFamily="34" charset="-120"/>
              </a:rPr>
              <a:t>5.2%</a:t>
            </a:r>
            <a:endParaRPr lang="en-US" sz="1463" dirty="0"/>
          </a:p>
        </p:txBody>
      </p:sp>
      <p:sp>
        <p:nvSpPr>
          <p:cNvPr id="48" name="Text 44"/>
          <p:cNvSpPr/>
          <p:nvPr/>
        </p:nvSpPr>
        <p:spPr>
          <a:xfrm>
            <a:off x="3840324" y="3727180"/>
            <a:ext cx="1204615" cy="218027"/>
          </a:xfrm>
          <a:prstGeom prst="roundRect">
            <a:avLst>
              <a:gd name="adj" fmla="val 4364356"/>
            </a:avLst>
          </a:prstGeom>
          <a:solidFill>
            <a:srgbClr val="2DD4A7">
              <a:alpha val="14000"/>
            </a:srgbClr>
          </a:solidFill>
          <a:ln w="7144">
            <a:solidFill>
              <a:srgbClr val="2DD4A7"/>
            </a:solidFill>
            <a:prstDash val="solid"/>
          </a:ln>
        </p:spPr>
        <p:txBody>
          <a:bodyPr wrap="square" rtlCol="0" anchor="ctr"/>
          <a:lstStyle/>
          <a:p>
            <a:pPr indent="0" marL="0">
              <a:buNone/>
            </a:pPr>
            <a:endParaRPr lang="en-US" dirty="0"/>
          </a:p>
        </p:txBody>
      </p:sp>
      <p:sp>
        <p:nvSpPr>
          <p:cNvPr id="49" name="Text 45"/>
          <p:cNvSpPr/>
          <p:nvPr/>
        </p:nvSpPr>
        <p:spPr>
          <a:xfrm>
            <a:off x="3926049" y="3786188"/>
            <a:ext cx="100013" cy="100013"/>
          </a:xfrm>
          <a:prstGeom prst="rect">
            <a:avLst/>
          </a:prstGeom>
          <a:noFill/>
          <a:ln/>
        </p:spPr>
        <p:txBody>
          <a:bodyPr wrap="none" lIns="0" tIns="0" rIns="0" bIns="0" rtlCol="0" anchor="ctr"/>
          <a:lstStyle/>
          <a:p>
            <a:pPr algn="ctr" indent="0" marL="0">
              <a:buNone/>
            </a:pPr>
            <a:r>
              <a:rPr lang="en-US" sz="984" dirty="0">
                <a:solidFill>
                  <a:srgbClr val="2DD4A7"/>
                </a:solidFill>
                <a:latin typeface="Segoe UI Symbol" pitchFamily="34" charset="0"/>
                <a:ea typeface="Segoe UI Symbol" pitchFamily="34" charset="-122"/>
                <a:cs typeface="Segoe UI Symbol" pitchFamily="34" charset="-120"/>
              </a:rPr>
              <a:t>↓</a:t>
            </a:r>
            <a:endParaRPr lang="en-US" sz="984" dirty="0"/>
          </a:p>
        </p:txBody>
      </p:sp>
      <p:sp>
        <p:nvSpPr>
          <p:cNvPr id="50" name="Text 46"/>
          <p:cNvSpPr/>
          <p:nvPr/>
        </p:nvSpPr>
        <p:spPr>
          <a:xfrm>
            <a:off x="4068924" y="3774579"/>
            <a:ext cx="890290" cy="123230"/>
          </a:xfrm>
          <a:prstGeom prst="rect">
            <a:avLst/>
          </a:prstGeom>
          <a:noFill/>
          <a:ln/>
        </p:spPr>
        <p:txBody>
          <a:bodyPr wrap="none" lIns="0" tIns="0" rIns="0" bIns="0" rtlCol="0" anchor="t"/>
          <a:lstStyle/>
          <a:p>
            <a:pPr algn="l" indent="0" marL="0">
              <a:lnSpc>
                <a:spcPts val="970"/>
              </a:lnSpc>
              <a:buNone/>
            </a:pPr>
            <a:r>
              <a:rPr lang="en-US" sz="647" dirty="0">
                <a:solidFill>
                  <a:srgbClr val="EDEFF9"/>
                </a:solidFill>
                <a:latin typeface="Liberation Sans Narrow" pitchFamily="34" charset="0"/>
                <a:ea typeface="Liberation Sans Narrow" pitchFamily="34" charset="-122"/>
                <a:cs typeface="Liberation Sans Narrow" pitchFamily="34" charset="-120"/>
              </a:rPr>
              <a:t>down from 8.1% YoY</a:t>
            </a:r>
            <a:endParaRPr lang="en-US" sz="647" dirty="0"/>
          </a:p>
        </p:txBody>
      </p:sp>
      <p:sp>
        <p:nvSpPr>
          <p:cNvPr id="51" name="Text 47"/>
          <p:cNvSpPr/>
          <p:nvPr/>
        </p:nvSpPr>
        <p:spPr>
          <a:xfrm>
            <a:off x="707231" y="4061222"/>
            <a:ext cx="1423321" cy="164592"/>
          </a:xfrm>
          <a:prstGeom prst="rect">
            <a:avLst/>
          </a:prstGeom>
          <a:noFill/>
          <a:ln/>
        </p:spPr>
        <p:txBody>
          <a:bodyPr wrap="none" lIns="0" tIns="0" rIns="0" bIns="0" rtlCol="0" anchor="t"/>
          <a:lstStyle/>
          <a:p>
            <a:pPr algn="l" indent="0" marL="0">
              <a:lnSpc>
                <a:spcPts val="928"/>
              </a:lnSpc>
              <a:buNone/>
            </a:pPr>
            <a:r>
              <a:rPr lang="en-US" sz="800" dirty="0">
                <a:solidFill>
                  <a:srgbClr val="A7B0CE"/>
                </a:solidFill>
                <a:latin typeface="Liberation Sans Narrow" pitchFamily="34" charset="0"/>
                <a:ea typeface="Liberation Sans Narrow" pitchFamily="34" charset="-122"/>
                <a:cs typeface="Liberation Sans Narrow" pitchFamily="34" charset="-120"/>
              </a:rPr>
              <a:t>8.1% — a year ago</a:t>
            </a:r>
            <a:endParaRPr lang="en-US" sz="800" dirty="0"/>
          </a:p>
        </p:txBody>
      </p:sp>
      <p:sp>
        <p:nvSpPr>
          <p:cNvPr id="52" name="Text 48"/>
          <p:cNvSpPr/>
          <p:nvPr/>
        </p:nvSpPr>
        <p:spPr>
          <a:xfrm>
            <a:off x="2007394" y="4098727"/>
            <a:ext cx="3037545" cy="42863"/>
          </a:xfrm>
          <a:prstGeom prst="roundRect">
            <a:avLst>
              <a:gd name="adj" fmla="val 22199741"/>
            </a:avLst>
          </a:prstGeom>
          <a:solidFill>
            <a:srgbClr val="1B2342"/>
          </a:solidFill>
          <a:ln/>
        </p:spPr>
        <p:txBody>
          <a:bodyPr wrap="square" rtlCol="0" anchor="ctr"/>
          <a:lstStyle/>
          <a:p>
            <a:pPr indent="0" marL="0">
              <a:buNone/>
            </a:pPr>
            <a:endParaRPr lang="en-US" dirty="0"/>
          </a:p>
        </p:txBody>
      </p:sp>
      <p:sp>
        <p:nvSpPr>
          <p:cNvPr id="53" name="Text 49"/>
          <p:cNvSpPr/>
          <p:nvPr/>
        </p:nvSpPr>
        <p:spPr>
          <a:xfrm>
            <a:off x="2007394" y="4098727"/>
            <a:ext cx="3037545" cy="42863"/>
          </a:xfrm>
          <a:prstGeom prst="roundRect">
            <a:avLst>
              <a:gd name="adj" fmla="val 22199741"/>
            </a:avLst>
          </a:prstGeom>
          <a:solidFill>
            <a:srgbClr val="A7B0CE">
              <a:alpha val="35000"/>
            </a:srgbClr>
          </a:solidFill>
          <a:ln/>
        </p:spPr>
        <p:txBody>
          <a:bodyPr wrap="square" rtlCol="0" anchor="ctr"/>
          <a:lstStyle/>
          <a:p>
            <a:pPr indent="0" marL="0">
              <a:buNone/>
            </a:pPr>
            <a:endParaRPr lang="en-US" dirty="0"/>
          </a:p>
        </p:txBody>
      </p:sp>
      <p:sp>
        <p:nvSpPr>
          <p:cNvPr id="54" name="Text 50"/>
          <p:cNvSpPr/>
          <p:nvPr/>
        </p:nvSpPr>
        <p:spPr>
          <a:xfrm>
            <a:off x="707231" y="4221956"/>
            <a:ext cx="1518047" cy="164592"/>
          </a:xfrm>
          <a:prstGeom prst="rect">
            <a:avLst/>
          </a:prstGeom>
          <a:noFill/>
          <a:ln/>
        </p:spPr>
        <p:txBody>
          <a:bodyPr wrap="none" lIns="0" tIns="0" rIns="0" bIns="0" rtlCol="0" anchor="t"/>
          <a:lstStyle/>
          <a:p>
            <a:pPr algn="l" indent="0" marL="0">
              <a:lnSpc>
                <a:spcPts val="928"/>
              </a:lnSpc>
              <a:buNone/>
            </a:pPr>
            <a:r>
              <a:rPr lang="en-US" sz="800" dirty="0">
                <a:solidFill>
                  <a:srgbClr val="EDEFF9"/>
                </a:solidFill>
                <a:latin typeface="Liberation Sans Narrow" pitchFamily="34" charset="0"/>
                <a:ea typeface="Liberation Sans Narrow" pitchFamily="34" charset="-122"/>
                <a:cs typeface="Liberation Sans Narrow" pitchFamily="34" charset="-120"/>
              </a:rPr>
              <a:t>5.2% — Q3 2023</a:t>
            </a:r>
            <a:endParaRPr lang="en-US" sz="800" dirty="0"/>
          </a:p>
        </p:txBody>
      </p:sp>
      <p:sp>
        <p:nvSpPr>
          <p:cNvPr id="55" name="Text 51"/>
          <p:cNvSpPr/>
          <p:nvPr/>
        </p:nvSpPr>
        <p:spPr>
          <a:xfrm>
            <a:off x="2007394" y="4259461"/>
            <a:ext cx="3037545" cy="42863"/>
          </a:xfrm>
          <a:prstGeom prst="roundRect">
            <a:avLst>
              <a:gd name="adj" fmla="val 22199741"/>
            </a:avLst>
          </a:prstGeom>
          <a:solidFill>
            <a:srgbClr val="1B2342"/>
          </a:solidFill>
          <a:ln/>
        </p:spPr>
        <p:txBody>
          <a:bodyPr wrap="square" rtlCol="0" anchor="ctr"/>
          <a:lstStyle/>
          <a:p>
            <a:pPr indent="0" marL="0">
              <a:buNone/>
            </a:pPr>
            <a:endParaRPr lang="en-US" dirty="0"/>
          </a:p>
        </p:txBody>
      </p:sp>
      <p:sp>
        <p:nvSpPr>
          <p:cNvPr id="56" name="Text 52"/>
          <p:cNvSpPr/>
          <p:nvPr/>
        </p:nvSpPr>
        <p:spPr>
          <a:xfrm>
            <a:off x="2007394" y="4259461"/>
            <a:ext cx="1943993" cy="42863"/>
          </a:xfrm>
          <a:prstGeom prst="roundRect">
            <a:avLst>
              <a:gd name="adj" fmla="val 22199741"/>
            </a:avLst>
          </a:prstGeom>
          <a:solidFill>
            <a:srgbClr val="2DD4A7"/>
          </a:solidFill>
          <a:ln/>
        </p:spPr>
        <p:txBody>
          <a:bodyPr wrap="square" rtlCol="0" anchor="ctr"/>
          <a:lstStyle/>
          <a:p>
            <a:pPr indent="0" marL="0">
              <a:buNone/>
            </a:pPr>
            <a:endParaRPr lang="en-US" dirty="0"/>
          </a:p>
        </p:txBody>
      </p:sp>
      <p:sp>
        <p:nvSpPr>
          <p:cNvPr id="57" name="Text 53"/>
          <p:cNvSpPr/>
          <p:nvPr/>
        </p:nvSpPr>
        <p:spPr>
          <a:xfrm>
            <a:off x="5355692" y="2373511"/>
            <a:ext cx="3270386" cy="2409230"/>
          </a:xfrm>
          <a:prstGeom prst="roundRect">
            <a:avLst>
              <a:gd name="adj" fmla="val 5535"/>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58" name="Text 54"/>
          <p:cNvSpPr/>
          <p:nvPr/>
        </p:nvSpPr>
        <p:spPr>
          <a:xfrm>
            <a:off x="5545001" y="2519958"/>
            <a:ext cx="135731" cy="135731"/>
          </a:xfrm>
          <a:prstGeom prst="rect">
            <a:avLst/>
          </a:prstGeom>
          <a:noFill/>
          <a:ln/>
        </p:spPr>
        <p:txBody>
          <a:bodyPr wrap="none" lIns="0" tIns="0" rIns="0" bIns="0" rtlCol="0" anchor="ctr"/>
          <a:lstStyle/>
          <a:p>
            <a:pPr algn="ctr" indent="0" marL="0">
              <a:buNone/>
            </a:pPr>
            <a:r>
              <a:rPr lang="en-US" sz="1336" dirty="0">
                <a:solidFill>
                  <a:srgbClr val="8B5CF6"/>
                </a:solidFill>
                <a:latin typeface="Segoe UI Symbol" pitchFamily="34" charset="0"/>
                <a:ea typeface="Segoe UI Symbol" pitchFamily="34" charset="-122"/>
                <a:cs typeface="Segoe UI Symbol" pitchFamily="34" charset="-120"/>
              </a:rPr>
              <a:t>↗</a:t>
            </a:r>
            <a:endParaRPr lang="en-US" sz="1336" dirty="0"/>
          </a:p>
        </p:txBody>
      </p:sp>
      <p:sp>
        <p:nvSpPr>
          <p:cNvPr id="59" name="Text 55"/>
          <p:cNvSpPr/>
          <p:nvPr/>
        </p:nvSpPr>
        <p:spPr>
          <a:xfrm>
            <a:off x="5752170" y="2528888"/>
            <a:ext cx="2684599"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EDEFF9"/>
                </a:solidFill>
                <a:latin typeface="Courier New" pitchFamily="34" charset="0"/>
                <a:ea typeface="Courier New" pitchFamily="34" charset="-122"/>
                <a:cs typeface="Courier New" pitchFamily="34" charset="-120"/>
              </a:rPr>
              <a:t>EXPANSION REVENUE</a:t>
            </a:r>
            <a:endParaRPr lang="en-US" sz="800" dirty="0"/>
          </a:p>
        </p:txBody>
      </p:sp>
      <p:sp>
        <p:nvSpPr>
          <p:cNvPr id="60" name="Text 56"/>
          <p:cNvSpPr/>
          <p:nvPr/>
        </p:nvSpPr>
        <p:spPr>
          <a:xfrm>
            <a:off x="5545001" y="3110210"/>
            <a:ext cx="1073527" cy="462915"/>
          </a:xfrm>
          <a:prstGeom prst="rect">
            <a:avLst/>
          </a:prstGeom>
          <a:noFill/>
          <a:ln/>
        </p:spPr>
        <p:txBody>
          <a:bodyPr wrap="none" lIns="0" tIns="0" rIns="0" bIns="0" rtlCol="0" anchor="t"/>
          <a:lstStyle/>
          <a:p>
            <a:pPr algn="l" indent="0" marL="0">
              <a:lnSpc>
                <a:spcPts val="2925"/>
              </a:lnSpc>
              <a:buNone/>
            </a:pPr>
            <a:r>
              <a:rPr lang="en-US" sz="2925" b="1" dirty="0">
                <a:solidFill>
                  <a:srgbClr val="EDEFF9"/>
                </a:solidFill>
                <a:latin typeface="Liberation Sans Narrow" pitchFamily="34" charset="0"/>
                <a:ea typeface="Liberation Sans Narrow" pitchFamily="34" charset="-122"/>
                <a:cs typeface="Liberation Sans Narrow" pitchFamily="34" charset="-120"/>
              </a:rPr>
              <a:t>45%</a:t>
            </a:r>
            <a:endParaRPr lang="en-US" sz="2925" dirty="0"/>
          </a:p>
        </p:txBody>
      </p:sp>
      <p:sp>
        <p:nvSpPr>
          <p:cNvPr id="61" name="Text 57"/>
          <p:cNvSpPr/>
          <p:nvPr/>
        </p:nvSpPr>
        <p:spPr>
          <a:xfrm>
            <a:off x="5545001" y="3553123"/>
            <a:ext cx="2891768" cy="173593"/>
          </a:xfrm>
          <a:prstGeom prst="rect">
            <a:avLst/>
          </a:prstGeom>
          <a:noFill/>
          <a:ln/>
        </p:spPr>
        <p:txBody>
          <a:bodyPr wrap="none" lIns="0" tIns="0" rIns="0" bIns="0" rtlCol="0" anchor="t"/>
          <a:lstStyle/>
          <a:p>
            <a:pPr algn="l" indent="0" marL="0">
              <a:lnSpc>
                <a:spcPts val="1266"/>
              </a:lnSpc>
              <a:buNone/>
            </a:pPr>
            <a:r>
              <a:rPr lang="en-US" sz="844" dirty="0">
                <a:solidFill>
                  <a:srgbClr val="A7B0CE"/>
                </a:solidFill>
                <a:latin typeface="Carlito" pitchFamily="34" charset="0"/>
                <a:ea typeface="Carlito" pitchFamily="34" charset="-122"/>
                <a:cs typeface="Carlito" pitchFamily="34" charset="-120"/>
              </a:rPr>
              <a:t>of total revenue</a:t>
            </a:r>
            <a:endParaRPr lang="en-US" sz="844" dirty="0"/>
          </a:p>
        </p:txBody>
      </p:sp>
      <p:sp>
        <p:nvSpPr>
          <p:cNvPr id="62" name="Text 58"/>
          <p:cNvSpPr/>
          <p:nvPr/>
        </p:nvSpPr>
        <p:spPr>
          <a:xfrm>
            <a:off x="5545001" y="3813870"/>
            <a:ext cx="2891768" cy="71438"/>
          </a:xfrm>
          <a:prstGeom prst="roundRect">
            <a:avLst>
              <a:gd name="adj" fmla="val 13319907"/>
            </a:avLst>
          </a:prstGeom>
          <a:solidFill>
            <a:srgbClr val="1B2342"/>
          </a:solidFill>
          <a:ln/>
        </p:spPr>
        <p:txBody>
          <a:bodyPr wrap="square" rtlCol="0" anchor="ctr"/>
          <a:lstStyle/>
          <a:p>
            <a:pPr indent="0" marL="0">
              <a:buNone/>
            </a:pPr>
            <a:endParaRPr lang="en-US" dirty="0"/>
          </a:p>
        </p:txBody>
      </p:sp>
      <p:pic>
        <p:nvPicPr>
          <p:cNvPr id="63" name="Image 2" descr="preencoded.png">    </p:cNvPr>
          <p:cNvPicPr>
            <a:picLocks noChangeAspect="1"/>
          </p:cNvPicPr>
          <p:nvPr/>
        </p:nvPicPr>
        <p:blipFill>
          <a:blip r:embed="rId3"/>
          <a:stretch>
            <a:fillRect/>
          </a:stretch>
        </p:blipFill>
        <p:spPr>
          <a:xfrm>
            <a:off x="5545001" y="3813870"/>
            <a:ext cx="1301279" cy="71438"/>
          </a:xfrm>
          <a:prstGeom prst="rect">
            <a:avLst/>
          </a:prstGeom>
        </p:spPr>
      </p:pic>
      <p:sp>
        <p:nvSpPr>
          <p:cNvPr id="64" name="Text 59"/>
          <p:cNvSpPr/>
          <p:nvPr/>
        </p:nvSpPr>
        <p:spPr>
          <a:xfrm>
            <a:off x="5545001" y="4368403"/>
            <a:ext cx="2891768" cy="267891"/>
          </a:xfrm>
          <a:prstGeom prst="rect">
            <a:avLst/>
          </a:prstGeom>
          <a:noFill/>
          <a:ln/>
        </p:spPr>
        <p:txBody>
          <a:bodyPr wrap="square" lIns="0" tIns="0" rIns="0" bIns="0" rtlCol="0" anchor="t"/>
          <a:lstStyle/>
          <a:p>
            <a:pPr algn="l" indent="0" marL="0">
              <a:lnSpc>
                <a:spcPts val="1055"/>
              </a:lnSpc>
              <a:buNone/>
            </a:pPr>
            <a:r>
              <a:rPr lang="en-US" sz="800" dirty="0">
                <a:solidFill>
                  <a:srgbClr val="A7B0CE"/>
                </a:solidFill>
                <a:latin typeface="Carlito" pitchFamily="34" charset="0"/>
                <a:ea typeface="Carlito" pitchFamily="34" charset="-122"/>
                <a:cs typeface="Carlito" pitchFamily="34" charset="-120"/>
              </a:rPr>
              <a:t>Nearly half of revenue now comes from existing customers expanding their usage</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000250" y="2857500"/>
            <a:ext cx="5000625" cy="5000625"/>
          </a:xfrm>
          <a:prstGeom prst="rect">
            <a:avLst/>
          </a:prstGeom>
        </p:spPr>
      </p:pic>
      <p:sp>
        <p:nvSpPr>
          <p:cNvPr id="3" name="Text 0"/>
          <p:cNvSpPr/>
          <p:nvPr/>
        </p:nvSpPr>
        <p:spPr>
          <a:xfrm>
            <a:off x="-2000250" y="2857500"/>
            <a:ext cx="5000625" cy="5000625"/>
          </a:xfrm>
          <a:prstGeom prst="ellipse">
            <a:avLst/>
          </a:prstGeom>
          <a:solidFill>
            <a:srgbClr val="FFFFFF">
              <a:alpha val="0"/>
            </a:srgbClr>
          </a:solidFill>
          <a:ln/>
        </p:spPr>
        <p:txBody>
          <a:bodyPr wrap="square" rtlCol="0" anchor="ctr"/>
          <a:lstStyle/>
          <a:p>
            <a:pPr indent="0" marL="0">
              <a:buNone/>
            </a:pPr>
            <a:endParaRPr lang="en-US" dirty="0"/>
          </a:p>
        </p:txBody>
      </p:sp>
      <p:sp>
        <p:nvSpPr>
          <p:cNvPr id="4" name="Text 1"/>
          <p:cNvSpPr/>
          <p:nvPr/>
        </p:nvSpPr>
        <p:spPr>
          <a:xfrm>
            <a:off x="6294330" y="-214312"/>
            <a:ext cx="2849670" cy="1697355"/>
          </a:xfrm>
          <a:prstGeom prst="rect">
            <a:avLst/>
          </a:prstGeom>
          <a:noFill/>
          <a:ln/>
        </p:spPr>
        <p:txBody>
          <a:bodyPr wrap="square" lIns="0" tIns="0" rIns="0" bIns="0" rtlCol="0" anchor="t"/>
          <a:lstStyle/>
          <a:p>
            <a:pPr algn="l" indent="0" marL="0">
              <a:lnSpc>
                <a:spcPts val="12375"/>
              </a:lnSpc>
              <a:buNone/>
            </a:pPr>
            <a:r>
              <a:rPr lang="en-US" sz="12375" b="1" spc="-495" kern="0" dirty="0">
                <a:solidFill>
                  <a:srgbClr val="FFFFFF">
                    <a:alpha val="0"/>
                  </a:srgbClr>
                </a:solidFill>
                <a:latin typeface="Liberation Sans Narrow" pitchFamily="34" charset="0"/>
                <a:ea typeface="Liberation Sans Narrow" pitchFamily="34" charset="-122"/>
                <a:cs typeface="Liberation Sans Narrow" pitchFamily="34" charset="-120"/>
              </a:rPr>
              <a:t>04</a:t>
            </a:r>
            <a:endParaRPr lang="en-US" sz="12375" dirty="0"/>
          </a:p>
        </p:txBody>
      </p:sp>
      <p:sp>
        <p:nvSpPr>
          <p:cNvPr id="5" name="Text 2"/>
          <p:cNvSpPr/>
          <p:nvPr/>
        </p:nvSpPr>
        <p:spPr>
          <a:xfrm>
            <a:off x="514350" y="449163"/>
            <a:ext cx="257175" cy="14288"/>
          </a:xfrm>
          <a:prstGeom prst="rect">
            <a:avLst/>
          </a:prstGeom>
          <a:solidFill>
            <a:srgbClr val="8B5CF6"/>
          </a:solidFill>
          <a:ln/>
        </p:spPr>
        <p:txBody>
          <a:bodyPr wrap="square" rtlCol="0" anchor="ctr"/>
          <a:lstStyle/>
          <a:p>
            <a:pPr indent="0" marL="0">
              <a:buNone/>
            </a:pPr>
            <a:endParaRPr lang="en-US" dirty="0"/>
          </a:p>
        </p:txBody>
      </p:sp>
      <p:sp>
        <p:nvSpPr>
          <p:cNvPr id="6" name="Text 3"/>
          <p:cNvSpPr/>
          <p:nvPr/>
        </p:nvSpPr>
        <p:spPr>
          <a:xfrm>
            <a:off x="857250" y="400050"/>
            <a:ext cx="7772400" cy="164592"/>
          </a:xfrm>
          <a:prstGeom prst="rect">
            <a:avLst/>
          </a:prstGeom>
          <a:noFill/>
          <a:ln/>
        </p:spPr>
        <p:txBody>
          <a:bodyPr wrap="none" lIns="0" tIns="0" rIns="0" bIns="0" rtlCol="0" anchor="t"/>
          <a:lstStyle/>
          <a:p>
            <a:pPr algn="l" indent="0" marL="0">
              <a:lnSpc>
                <a:spcPts val="886"/>
              </a:lnSpc>
              <a:buNone/>
            </a:pPr>
            <a:r>
              <a:rPr lang="en-US" sz="800" spc="130" kern="0" dirty="0">
                <a:solidFill>
                  <a:srgbClr val="8B5CF6"/>
                </a:solidFill>
                <a:latin typeface="Courier New" pitchFamily="34" charset="0"/>
                <a:ea typeface="Courier New" pitchFamily="34" charset="-122"/>
                <a:cs typeface="Courier New" pitchFamily="34" charset="-120"/>
              </a:rPr>
              <a:t>PRODUCT &amp; TECHNOLOGY</a:t>
            </a:r>
            <a:endParaRPr lang="en-US" sz="800" dirty="0"/>
          </a:p>
        </p:txBody>
      </p:sp>
      <p:sp>
        <p:nvSpPr>
          <p:cNvPr id="7" name="Text 4"/>
          <p:cNvSpPr/>
          <p:nvPr/>
        </p:nvSpPr>
        <p:spPr>
          <a:xfrm>
            <a:off x="514350" y="612577"/>
            <a:ext cx="8629650" cy="339471"/>
          </a:xfrm>
          <a:prstGeom prst="rect">
            <a:avLst/>
          </a:prstGeom>
          <a:noFill/>
          <a:ln/>
        </p:spPr>
        <p:txBody>
          <a:bodyPr wrap="square" lIns="0" tIns="0" rIns="0" bIns="0" rtlCol="0" anchor="t"/>
          <a:lstStyle/>
          <a:p>
            <a:pPr algn="l" indent="0" marL="0">
              <a:lnSpc>
                <a:spcPts val="2475"/>
              </a:lnSpc>
              <a:buNone/>
            </a:pPr>
            <a:r>
              <a:rPr lang="en-US" sz="2250" b="1" spc="-45" kern="0" dirty="0">
                <a:solidFill>
                  <a:srgbClr val="EDEFF9"/>
                </a:solidFill>
                <a:latin typeface="Carlito" pitchFamily="34" charset="0"/>
                <a:ea typeface="Carlito" pitchFamily="34" charset="-122"/>
                <a:cs typeface="Carlito" pitchFamily="34" charset="-120"/>
              </a:rPr>
              <a:t>Product Expansion &amp; Innovation</a:t>
            </a:r>
            <a:endParaRPr lang="en-US" sz="2250" dirty="0"/>
          </a:p>
        </p:txBody>
      </p:sp>
      <p:sp>
        <p:nvSpPr>
          <p:cNvPr id="8" name="Text 5"/>
          <p:cNvSpPr/>
          <p:nvPr/>
        </p:nvSpPr>
        <p:spPr>
          <a:xfrm>
            <a:off x="514350" y="998339"/>
            <a:ext cx="8115300" cy="173593"/>
          </a:xfrm>
          <a:prstGeom prst="rect">
            <a:avLst/>
          </a:prstGeom>
          <a:noFill/>
          <a:ln/>
        </p:spPr>
        <p:txBody>
          <a:bodyPr wrap="square" lIns="0" tIns="0" rIns="0" bIns="0" rtlCol="0" anchor="t"/>
          <a:lstStyle/>
          <a:p>
            <a:pPr algn="l" indent="0" marL="0">
              <a:lnSpc>
                <a:spcPts val="1266"/>
              </a:lnSpc>
              <a:buNone/>
            </a:pPr>
            <a:r>
              <a:rPr lang="en-US" sz="844" dirty="0">
                <a:solidFill>
                  <a:srgbClr val="A7B0CE"/>
                </a:solidFill>
                <a:latin typeface="Carlito" pitchFamily="34" charset="0"/>
                <a:ea typeface="Carlito" pitchFamily="34" charset="-122"/>
                <a:cs typeface="Carlito" pitchFamily="34" charset="-120"/>
              </a:rPr>
              <a:t>Innovations that directly impact our value proposition</a:t>
            </a:r>
            <a:endParaRPr lang="en-US" sz="844" dirty="0"/>
          </a:p>
        </p:txBody>
      </p:sp>
      <p:sp>
        <p:nvSpPr>
          <p:cNvPr id="9" name="Text 6"/>
          <p:cNvSpPr/>
          <p:nvPr/>
        </p:nvSpPr>
        <p:spPr>
          <a:xfrm>
            <a:off x="514350" y="1332309"/>
            <a:ext cx="57150" cy="57150"/>
          </a:xfrm>
          <a:prstGeom prst="roundRect">
            <a:avLst>
              <a:gd name="adj" fmla="val 33333"/>
            </a:avLst>
          </a:prstGeom>
          <a:solidFill>
            <a:srgbClr val="8B5CF6"/>
          </a:solidFill>
          <a:ln/>
        </p:spPr>
        <p:txBody>
          <a:bodyPr wrap="square" rtlCol="0" anchor="ctr"/>
          <a:lstStyle/>
          <a:p>
            <a:pPr indent="0" marL="0">
              <a:buNone/>
            </a:pPr>
            <a:endParaRPr lang="en-US" dirty="0"/>
          </a:p>
        </p:txBody>
      </p:sp>
      <p:sp>
        <p:nvSpPr>
          <p:cNvPr id="10" name="Text 7"/>
          <p:cNvSpPr/>
          <p:nvPr/>
        </p:nvSpPr>
        <p:spPr>
          <a:xfrm>
            <a:off x="657225" y="1301948"/>
            <a:ext cx="1707588"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EDEFF9"/>
                </a:solidFill>
                <a:latin typeface="Courier New" pitchFamily="34" charset="0"/>
                <a:ea typeface="Courier New" pitchFamily="34" charset="-122"/>
                <a:cs typeface="Courier New" pitchFamily="34" charset="-120"/>
              </a:rPr>
              <a:t>NEW MODULES LAUNCHED</a:t>
            </a:r>
            <a:endParaRPr lang="en-US" sz="800" dirty="0"/>
          </a:p>
        </p:txBody>
      </p:sp>
      <p:sp>
        <p:nvSpPr>
          <p:cNvPr id="11" name="Text 8"/>
          <p:cNvSpPr/>
          <p:nvPr/>
        </p:nvSpPr>
        <p:spPr>
          <a:xfrm>
            <a:off x="1972121" y="1357313"/>
            <a:ext cx="6657529" cy="7144"/>
          </a:xfrm>
          <a:prstGeom prst="rect">
            <a:avLst/>
          </a:prstGeom>
          <a:solidFill>
            <a:srgbClr val="A7B0CE">
              <a:alpha val="18000"/>
            </a:srgbClr>
          </a:solidFill>
          <a:ln/>
        </p:spPr>
        <p:txBody>
          <a:bodyPr wrap="square" rtlCol="0" anchor="ctr"/>
          <a:lstStyle/>
          <a:p>
            <a:pPr indent="0" marL="0">
              <a:buNone/>
            </a:pPr>
            <a:endParaRPr lang="en-US" dirty="0"/>
          </a:p>
        </p:txBody>
      </p:sp>
      <p:sp>
        <p:nvSpPr>
          <p:cNvPr id="12" name="Text 9"/>
          <p:cNvSpPr/>
          <p:nvPr/>
        </p:nvSpPr>
        <p:spPr>
          <a:xfrm>
            <a:off x="517922" y="1509117"/>
            <a:ext cx="2621756" cy="1017761"/>
          </a:xfrm>
          <a:prstGeom prst="roundRect">
            <a:avLst>
              <a:gd name="adj" fmla="val 13102"/>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13" name="Text 10"/>
          <p:cNvSpPr/>
          <p:nvPr/>
        </p:nvSpPr>
        <p:spPr>
          <a:xfrm>
            <a:off x="667941" y="1644848"/>
            <a:ext cx="307181" cy="307181"/>
          </a:xfrm>
          <a:prstGeom prst="roundRect">
            <a:avLst>
              <a:gd name="adj" fmla="val 37209"/>
            </a:avLst>
          </a:prstGeom>
          <a:solidFill>
            <a:srgbClr val="8B5CF6">
              <a:alpha val="16000"/>
            </a:srgbClr>
          </a:solidFill>
          <a:ln w="7144">
            <a:solidFill>
              <a:srgbClr val="8B5CF6"/>
            </a:solidFill>
            <a:prstDash val="solid"/>
          </a:ln>
        </p:spPr>
        <p:txBody>
          <a:bodyPr wrap="square" rtlCol="0" anchor="ctr"/>
          <a:lstStyle/>
          <a:p>
            <a:pPr indent="0" marL="0">
              <a:buNone/>
            </a:pPr>
            <a:endParaRPr lang="en-US" dirty="0"/>
          </a:p>
        </p:txBody>
      </p:sp>
      <p:sp>
        <p:nvSpPr>
          <p:cNvPr id="14" name="Text 11"/>
          <p:cNvSpPr/>
          <p:nvPr/>
        </p:nvSpPr>
        <p:spPr>
          <a:xfrm>
            <a:off x="702409" y="1679317"/>
            <a:ext cx="238244" cy="238244"/>
          </a:xfrm>
          <a:prstGeom prst="rect">
            <a:avLst/>
          </a:prstGeom>
          <a:noFill/>
          <a:ln/>
        </p:spPr>
        <p:txBody>
          <a:bodyPr wrap="none" lIns="0" tIns="0" rIns="0" bIns="0" rtlCol="0" anchor="ctr"/>
          <a:lstStyle/>
          <a:p>
            <a:pPr algn="ctr" indent="0" marL="0">
              <a:buNone/>
            </a:pPr>
            <a:r>
              <a:rPr lang="en-US" sz="1617" dirty="0">
                <a:solidFill>
                  <a:srgbClr val="8B5CF6"/>
                </a:solidFill>
                <a:latin typeface="Segoe UI Symbol" pitchFamily="34" charset="0"/>
                <a:ea typeface="Segoe UI Symbol" pitchFamily="34" charset="-122"/>
                <a:cs typeface="Segoe UI Symbol" pitchFamily="34" charset="-120"/>
              </a:rPr>
              <a:t>◯</a:t>
            </a:r>
            <a:endParaRPr lang="en-US" sz="1617" dirty="0"/>
          </a:p>
        </p:txBody>
      </p:sp>
      <p:sp>
        <p:nvSpPr>
          <p:cNvPr id="15" name="Text 12"/>
          <p:cNvSpPr/>
          <p:nvPr/>
        </p:nvSpPr>
        <p:spPr>
          <a:xfrm>
            <a:off x="664369" y="2048470"/>
            <a:ext cx="2438591" cy="170459"/>
          </a:xfrm>
          <a:prstGeom prst="rect">
            <a:avLst/>
          </a:prstGeom>
          <a:noFill/>
          <a:ln/>
        </p:spPr>
        <p:txBody>
          <a:bodyPr wrap="square" lIns="0" tIns="0" rIns="0" bIns="0" rtlCol="0" anchor="t"/>
          <a:lstStyle/>
          <a:p>
            <a:pPr algn="l" indent="0" marL="0">
              <a:lnSpc>
                <a:spcPts val="1243"/>
              </a:lnSpc>
              <a:buNone/>
            </a:pPr>
            <a:r>
              <a:rPr lang="en-US" sz="956" dirty="0">
                <a:solidFill>
                  <a:srgbClr val="EDEFF9"/>
                </a:solidFill>
                <a:latin typeface="Carlito" pitchFamily="34" charset="0"/>
                <a:ea typeface="Carlito" pitchFamily="34" charset="-122"/>
                <a:cs typeface="Carlito" pitchFamily="34" charset="-120"/>
              </a:rPr>
              <a:t>Advanced NLP Processing Engine</a:t>
            </a:r>
            <a:endParaRPr lang="en-US" sz="956" dirty="0"/>
          </a:p>
        </p:txBody>
      </p:sp>
      <p:sp>
        <p:nvSpPr>
          <p:cNvPr id="16" name="Text 13"/>
          <p:cNvSpPr/>
          <p:nvPr/>
        </p:nvSpPr>
        <p:spPr>
          <a:xfrm>
            <a:off x="664369" y="2256309"/>
            <a:ext cx="2328863" cy="138410"/>
          </a:xfrm>
          <a:prstGeom prst="rect">
            <a:avLst/>
          </a:prstGeom>
          <a:noFill/>
          <a:ln/>
        </p:spPr>
        <p:txBody>
          <a:bodyPr wrap="square" lIns="0" tIns="0" rIns="0" bIns="0" rtlCol="0" anchor="t"/>
          <a:lstStyle/>
          <a:p>
            <a:pPr algn="l" indent="0" marL="0">
              <a:lnSpc>
                <a:spcPts val="1090"/>
              </a:lnSpc>
              <a:buNone/>
            </a:pPr>
            <a:r>
              <a:rPr lang="en-US" sz="703" dirty="0">
                <a:solidFill>
                  <a:srgbClr val="A7B0CE"/>
                </a:solidFill>
                <a:latin typeface="Carlito" pitchFamily="34" charset="0"/>
                <a:ea typeface="Carlito" pitchFamily="34" charset="-122"/>
                <a:cs typeface="Carlito" pitchFamily="34" charset="-120"/>
              </a:rPr>
              <a:t>Deeper language understanding for enterprise workloads</a:t>
            </a:r>
            <a:endParaRPr lang="en-US" sz="703" dirty="0"/>
          </a:p>
        </p:txBody>
      </p:sp>
      <p:sp>
        <p:nvSpPr>
          <p:cNvPr id="17" name="Text 14"/>
          <p:cNvSpPr/>
          <p:nvPr/>
        </p:nvSpPr>
        <p:spPr>
          <a:xfrm>
            <a:off x="3261122" y="1509117"/>
            <a:ext cx="2621756" cy="1017761"/>
          </a:xfrm>
          <a:prstGeom prst="roundRect">
            <a:avLst>
              <a:gd name="adj" fmla="val 13102"/>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18" name="Text 15"/>
          <p:cNvSpPr/>
          <p:nvPr/>
        </p:nvSpPr>
        <p:spPr>
          <a:xfrm>
            <a:off x="3411141" y="1644848"/>
            <a:ext cx="307181" cy="307181"/>
          </a:xfrm>
          <a:prstGeom prst="roundRect">
            <a:avLst>
              <a:gd name="adj" fmla="val 37209"/>
            </a:avLst>
          </a:prstGeom>
          <a:solidFill>
            <a:srgbClr val="8B5CF6">
              <a:alpha val="16000"/>
            </a:srgbClr>
          </a:solidFill>
          <a:ln w="7144">
            <a:solidFill>
              <a:srgbClr val="8B5CF6"/>
            </a:solidFill>
            <a:prstDash val="solid"/>
          </a:ln>
        </p:spPr>
        <p:txBody>
          <a:bodyPr wrap="square" rtlCol="0" anchor="ctr"/>
          <a:lstStyle/>
          <a:p>
            <a:pPr indent="0" marL="0">
              <a:buNone/>
            </a:pPr>
            <a:endParaRPr lang="en-US" dirty="0"/>
          </a:p>
        </p:txBody>
      </p:sp>
      <p:sp>
        <p:nvSpPr>
          <p:cNvPr id="19" name="Text 16"/>
          <p:cNvSpPr/>
          <p:nvPr/>
        </p:nvSpPr>
        <p:spPr>
          <a:xfrm>
            <a:off x="3445609" y="1679317"/>
            <a:ext cx="238244" cy="238244"/>
          </a:xfrm>
          <a:prstGeom prst="rect">
            <a:avLst/>
          </a:prstGeom>
          <a:noFill/>
          <a:ln/>
        </p:spPr>
        <p:txBody>
          <a:bodyPr wrap="none" lIns="0" tIns="0" rIns="0" bIns="0" rtlCol="0" anchor="ctr"/>
          <a:lstStyle/>
          <a:p>
            <a:pPr algn="ctr" indent="0" marL="0">
              <a:buNone/>
            </a:pPr>
            <a:r>
              <a:rPr lang="en-US" sz="1617" dirty="0">
                <a:solidFill>
                  <a:srgbClr val="8B5CF6"/>
                </a:solidFill>
                <a:latin typeface="Segoe UI Symbol" pitchFamily="34" charset="0"/>
                <a:ea typeface="Segoe UI Symbol" pitchFamily="34" charset="-122"/>
                <a:cs typeface="Segoe UI Symbol" pitchFamily="34" charset="-120"/>
              </a:rPr>
              <a:t>✦</a:t>
            </a:r>
            <a:endParaRPr lang="en-US" sz="1617" dirty="0"/>
          </a:p>
        </p:txBody>
      </p:sp>
      <p:sp>
        <p:nvSpPr>
          <p:cNvPr id="20" name="Text 17"/>
          <p:cNvSpPr/>
          <p:nvPr/>
        </p:nvSpPr>
        <p:spPr>
          <a:xfrm>
            <a:off x="3407569" y="2048470"/>
            <a:ext cx="2438591" cy="170459"/>
          </a:xfrm>
          <a:prstGeom prst="rect">
            <a:avLst/>
          </a:prstGeom>
          <a:noFill/>
          <a:ln/>
        </p:spPr>
        <p:txBody>
          <a:bodyPr wrap="square" lIns="0" tIns="0" rIns="0" bIns="0" rtlCol="0" anchor="t"/>
          <a:lstStyle/>
          <a:p>
            <a:pPr algn="l" indent="0" marL="0">
              <a:lnSpc>
                <a:spcPts val="1243"/>
              </a:lnSpc>
              <a:buNone/>
            </a:pPr>
            <a:r>
              <a:rPr lang="en-US" sz="956" dirty="0">
                <a:solidFill>
                  <a:srgbClr val="EDEFF9"/>
                </a:solidFill>
                <a:latin typeface="Carlito" pitchFamily="34" charset="0"/>
                <a:ea typeface="Carlito" pitchFamily="34" charset="-122"/>
                <a:cs typeface="Carlito" pitchFamily="34" charset="-120"/>
              </a:rPr>
              <a:t>Multi-Model AI Orchestration</a:t>
            </a:r>
            <a:endParaRPr lang="en-US" sz="956" dirty="0"/>
          </a:p>
        </p:txBody>
      </p:sp>
      <p:sp>
        <p:nvSpPr>
          <p:cNvPr id="21" name="Text 18"/>
          <p:cNvSpPr/>
          <p:nvPr/>
        </p:nvSpPr>
        <p:spPr>
          <a:xfrm>
            <a:off x="3407569" y="2256309"/>
            <a:ext cx="2438591" cy="138410"/>
          </a:xfrm>
          <a:prstGeom prst="rect">
            <a:avLst/>
          </a:prstGeom>
          <a:noFill/>
          <a:ln/>
        </p:spPr>
        <p:txBody>
          <a:bodyPr wrap="square" lIns="0" tIns="0" rIns="0" bIns="0" rtlCol="0" anchor="t"/>
          <a:lstStyle/>
          <a:p>
            <a:pPr algn="l" indent="0" marL="0">
              <a:lnSpc>
                <a:spcPts val="1090"/>
              </a:lnSpc>
              <a:buNone/>
            </a:pPr>
            <a:r>
              <a:rPr lang="en-US" sz="703" dirty="0">
                <a:solidFill>
                  <a:srgbClr val="A7B0CE"/>
                </a:solidFill>
                <a:latin typeface="Carlito" pitchFamily="34" charset="0"/>
                <a:ea typeface="Carlito" pitchFamily="34" charset="-122"/>
                <a:cs typeface="Carlito" pitchFamily="34" charset="-120"/>
              </a:rPr>
              <a:t>Route workloads across models for the best result</a:t>
            </a:r>
            <a:endParaRPr lang="en-US" sz="703" dirty="0"/>
          </a:p>
        </p:txBody>
      </p:sp>
      <p:sp>
        <p:nvSpPr>
          <p:cNvPr id="22" name="Text 19"/>
          <p:cNvSpPr/>
          <p:nvPr/>
        </p:nvSpPr>
        <p:spPr>
          <a:xfrm>
            <a:off x="6004322" y="1509117"/>
            <a:ext cx="2621756" cy="1017761"/>
          </a:xfrm>
          <a:prstGeom prst="roundRect">
            <a:avLst>
              <a:gd name="adj" fmla="val 13102"/>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23" name="Text 20"/>
          <p:cNvSpPr/>
          <p:nvPr/>
        </p:nvSpPr>
        <p:spPr>
          <a:xfrm>
            <a:off x="6154341" y="1644848"/>
            <a:ext cx="307181" cy="307181"/>
          </a:xfrm>
          <a:prstGeom prst="roundRect">
            <a:avLst>
              <a:gd name="adj" fmla="val 37209"/>
            </a:avLst>
          </a:prstGeom>
          <a:solidFill>
            <a:srgbClr val="8B5CF6">
              <a:alpha val="16000"/>
            </a:srgbClr>
          </a:solidFill>
          <a:ln w="7144">
            <a:solidFill>
              <a:srgbClr val="8B5CF6"/>
            </a:solidFill>
            <a:prstDash val="solid"/>
          </a:ln>
        </p:spPr>
        <p:txBody>
          <a:bodyPr wrap="square" rtlCol="0" anchor="ctr"/>
          <a:lstStyle/>
          <a:p>
            <a:pPr indent="0" marL="0">
              <a:buNone/>
            </a:pPr>
            <a:endParaRPr lang="en-US" dirty="0"/>
          </a:p>
        </p:txBody>
      </p:sp>
      <p:sp>
        <p:nvSpPr>
          <p:cNvPr id="24" name="Text 21"/>
          <p:cNvSpPr/>
          <p:nvPr/>
        </p:nvSpPr>
        <p:spPr>
          <a:xfrm>
            <a:off x="6188809" y="1679317"/>
            <a:ext cx="238244" cy="238244"/>
          </a:xfrm>
          <a:prstGeom prst="rect">
            <a:avLst/>
          </a:prstGeom>
          <a:noFill/>
          <a:ln/>
        </p:spPr>
        <p:txBody>
          <a:bodyPr wrap="none" lIns="0" tIns="0" rIns="0" bIns="0" rtlCol="0" anchor="ctr"/>
          <a:lstStyle/>
          <a:p>
            <a:pPr algn="ctr" indent="0" marL="0">
              <a:buNone/>
            </a:pPr>
            <a:r>
              <a:rPr lang="en-US" sz="1617" dirty="0">
                <a:solidFill>
                  <a:srgbClr val="8B5CF6"/>
                </a:solidFill>
                <a:latin typeface="Segoe UI Symbol" pitchFamily="34" charset="0"/>
                <a:ea typeface="Segoe UI Symbol" pitchFamily="34" charset="-122"/>
                <a:cs typeface="Segoe UI Symbol" pitchFamily="34" charset="-120"/>
              </a:rPr>
              <a:t>◆</a:t>
            </a:r>
            <a:endParaRPr lang="en-US" sz="1617" dirty="0"/>
          </a:p>
        </p:txBody>
      </p:sp>
      <p:sp>
        <p:nvSpPr>
          <p:cNvPr id="25" name="Text 22"/>
          <p:cNvSpPr/>
          <p:nvPr/>
        </p:nvSpPr>
        <p:spPr>
          <a:xfrm>
            <a:off x="6150769" y="2048470"/>
            <a:ext cx="2438590" cy="170459"/>
          </a:xfrm>
          <a:prstGeom prst="rect">
            <a:avLst/>
          </a:prstGeom>
          <a:noFill/>
          <a:ln/>
        </p:spPr>
        <p:txBody>
          <a:bodyPr wrap="square" lIns="0" tIns="0" rIns="0" bIns="0" rtlCol="0" anchor="t"/>
          <a:lstStyle/>
          <a:p>
            <a:pPr algn="l" indent="0" marL="0">
              <a:lnSpc>
                <a:spcPts val="1243"/>
              </a:lnSpc>
              <a:buNone/>
            </a:pPr>
            <a:r>
              <a:rPr lang="en-US" sz="956" dirty="0">
                <a:solidFill>
                  <a:srgbClr val="EDEFF9"/>
                </a:solidFill>
                <a:latin typeface="Carlito" pitchFamily="34" charset="0"/>
                <a:ea typeface="Carlito" pitchFamily="34" charset="-122"/>
                <a:cs typeface="Carlito" pitchFamily="34" charset="-120"/>
              </a:rPr>
              <a:t>Real-time Analytics Dashboard</a:t>
            </a:r>
            <a:endParaRPr lang="en-US" sz="956" dirty="0"/>
          </a:p>
        </p:txBody>
      </p:sp>
      <p:sp>
        <p:nvSpPr>
          <p:cNvPr id="26" name="Text 23"/>
          <p:cNvSpPr/>
          <p:nvPr/>
        </p:nvSpPr>
        <p:spPr>
          <a:xfrm>
            <a:off x="6150769" y="2256309"/>
            <a:ext cx="2438590" cy="138410"/>
          </a:xfrm>
          <a:prstGeom prst="rect">
            <a:avLst/>
          </a:prstGeom>
          <a:noFill/>
          <a:ln/>
        </p:spPr>
        <p:txBody>
          <a:bodyPr wrap="square" lIns="0" tIns="0" rIns="0" bIns="0" rtlCol="0" anchor="t"/>
          <a:lstStyle/>
          <a:p>
            <a:pPr algn="l" indent="0" marL="0">
              <a:lnSpc>
                <a:spcPts val="1090"/>
              </a:lnSpc>
              <a:buNone/>
            </a:pPr>
            <a:r>
              <a:rPr lang="en-US" sz="703" dirty="0">
                <a:solidFill>
                  <a:srgbClr val="A7B0CE"/>
                </a:solidFill>
                <a:latin typeface="Carlito" pitchFamily="34" charset="0"/>
                <a:ea typeface="Carlito" pitchFamily="34" charset="-122"/>
                <a:cs typeface="Carlito" pitchFamily="34" charset="-120"/>
              </a:rPr>
              <a:t>Live operational intelligence for every team</a:t>
            </a:r>
            <a:endParaRPr lang="en-US" sz="703" dirty="0"/>
          </a:p>
        </p:txBody>
      </p:sp>
      <p:sp>
        <p:nvSpPr>
          <p:cNvPr id="27" name="Text 24"/>
          <p:cNvSpPr/>
          <p:nvPr/>
        </p:nvSpPr>
        <p:spPr>
          <a:xfrm>
            <a:off x="517922" y="2662610"/>
            <a:ext cx="4968813" cy="2120131"/>
          </a:xfrm>
          <a:prstGeom prst="roundRect">
            <a:avLst>
              <a:gd name="adj" fmla="val 6290"/>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28" name="Text 25"/>
          <p:cNvSpPr/>
          <p:nvPr/>
        </p:nvSpPr>
        <p:spPr>
          <a:xfrm>
            <a:off x="692944" y="2794769"/>
            <a:ext cx="135731" cy="135731"/>
          </a:xfrm>
          <a:prstGeom prst="rect">
            <a:avLst/>
          </a:prstGeom>
          <a:noFill/>
          <a:ln/>
        </p:spPr>
        <p:txBody>
          <a:bodyPr wrap="none" lIns="0" tIns="0" rIns="0" bIns="0" rtlCol="0" anchor="ctr"/>
          <a:lstStyle/>
          <a:p>
            <a:pPr algn="ctr" indent="0" marL="0">
              <a:buNone/>
            </a:pPr>
            <a:r>
              <a:rPr lang="en-US" sz="1336" dirty="0">
                <a:solidFill>
                  <a:srgbClr val="8B5CF6"/>
                </a:solidFill>
                <a:latin typeface="Segoe UI Symbol" pitchFamily="34" charset="0"/>
                <a:ea typeface="Segoe UI Symbol" pitchFamily="34" charset="-122"/>
                <a:cs typeface="Segoe UI Symbol" pitchFamily="34" charset="-120"/>
              </a:rPr>
              <a:t>⚙</a:t>
            </a:r>
            <a:endParaRPr lang="en-US" sz="1336" dirty="0"/>
          </a:p>
        </p:txBody>
      </p:sp>
      <p:sp>
        <p:nvSpPr>
          <p:cNvPr id="29" name="Text 26"/>
          <p:cNvSpPr/>
          <p:nvPr/>
        </p:nvSpPr>
        <p:spPr>
          <a:xfrm>
            <a:off x="900113" y="2803699"/>
            <a:ext cx="4411600"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EDEFF9"/>
                </a:solidFill>
                <a:latin typeface="Courier New" pitchFamily="34" charset="0"/>
                <a:ea typeface="Courier New" pitchFamily="34" charset="-122"/>
                <a:cs typeface="Courier New" pitchFamily="34" charset="-120"/>
              </a:rPr>
              <a:t>TECHNOLOGY UPDATES</a:t>
            </a:r>
            <a:endParaRPr lang="en-US" sz="800" dirty="0"/>
          </a:p>
        </p:txBody>
      </p:sp>
      <p:sp>
        <p:nvSpPr>
          <p:cNvPr id="30" name="Text 27"/>
          <p:cNvSpPr/>
          <p:nvPr/>
        </p:nvSpPr>
        <p:spPr>
          <a:xfrm>
            <a:off x="696516" y="3229756"/>
            <a:ext cx="250031" cy="250031"/>
          </a:xfrm>
          <a:prstGeom prst="roundRect">
            <a:avLst>
              <a:gd name="adj" fmla="val 38095"/>
            </a:avLst>
          </a:prstGeom>
          <a:solidFill>
            <a:srgbClr val="1B2342"/>
          </a:solidFill>
          <a:ln w="7144">
            <a:solidFill>
              <a:srgbClr val="A7B0CE"/>
            </a:solidFill>
            <a:prstDash val="solid"/>
          </a:ln>
        </p:spPr>
        <p:txBody>
          <a:bodyPr wrap="square" rtlCol="0" anchor="ctr"/>
          <a:lstStyle/>
          <a:p>
            <a:pPr indent="0" marL="0">
              <a:buNone/>
            </a:pPr>
            <a:endParaRPr lang="en-US" dirty="0"/>
          </a:p>
        </p:txBody>
      </p:sp>
      <p:sp>
        <p:nvSpPr>
          <p:cNvPr id="31" name="Text 28"/>
          <p:cNvSpPr/>
          <p:nvPr/>
        </p:nvSpPr>
        <p:spPr>
          <a:xfrm>
            <a:off x="723126" y="3256367"/>
            <a:ext cx="196810" cy="196810"/>
          </a:xfrm>
          <a:prstGeom prst="rect">
            <a:avLst/>
          </a:prstGeom>
          <a:noFill/>
          <a:ln/>
        </p:spPr>
        <p:txBody>
          <a:bodyPr wrap="none" lIns="0" tIns="0" rIns="0" bIns="0" rtlCol="0" anchor="ctr"/>
          <a:lstStyle/>
          <a:p>
            <a:pPr algn="ctr" indent="0" marL="0">
              <a:buNone/>
            </a:pPr>
            <a:r>
              <a:rPr lang="en-US" sz="1336" dirty="0">
                <a:solidFill>
                  <a:srgbClr val="8B5CF6"/>
                </a:solidFill>
                <a:latin typeface="Segoe UI Symbol" pitchFamily="34" charset="0"/>
                <a:ea typeface="Segoe UI Symbol" pitchFamily="34" charset="-122"/>
                <a:cs typeface="Segoe UI Symbol" pitchFamily="34" charset="-120"/>
              </a:rPr>
              <a:t>⚡</a:t>
            </a:r>
            <a:endParaRPr lang="en-US" sz="1336" dirty="0"/>
          </a:p>
        </p:txBody>
      </p:sp>
      <p:sp>
        <p:nvSpPr>
          <p:cNvPr id="32" name="Text 29"/>
          <p:cNvSpPr/>
          <p:nvPr/>
        </p:nvSpPr>
        <p:spPr>
          <a:xfrm>
            <a:off x="1050131" y="3279651"/>
            <a:ext cx="4261582" cy="162141"/>
          </a:xfrm>
          <a:prstGeom prst="rect">
            <a:avLst/>
          </a:prstGeom>
          <a:noFill/>
          <a:ln/>
        </p:spPr>
        <p:txBody>
          <a:bodyPr wrap="square" lIns="0" tIns="0" rIns="0" bIns="0" rtlCol="0" anchor="t"/>
          <a:lstStyle/>
          <a:p>
            <a:pPr algn="l" indent="0" marL="0">
              <a:lnSpc>
                <a:spcPts val="1183"/>
              </a:lnSpc>
              <a:buNone/>
            </a:pPr>
            <a:r>
              <a:rPr lang="en-US" sz="816" dirty="0">
                <a:solidFill>
                  <a:srgbClr val="EDEFF9"/>
                </a:solidFill>
                <a:latin typeface="Carlito" pitchFamily="34" charset="0"/>
                <a:ea typeface="Carlito" pitchFamily="34" charset="-122"/>
                <a:cs typeface="Carlito" pitchFamily="34" charset="-120"/>
              </a:rPr>
              <a:t>Proprietary inference engine reducing compute costs by </a:t>
            </a:r>
            <a:pPr algn="l" indent="0" marL="0">
              <a:lnSpc>
                <a:spcPts val="1183"/>
              </a:lnSpc>
              <a:buNone/>
            </a:pPr>
            <a:r>
              <a:rPr lang="en-US" sz="816" b="1" dirty="0">
                <a:solidFill>
                  <a:srgbClr val="2DD4A7"/>
                </a:solidFill>
                <a:latin typeface="Liberation Sans Narrow" pitchFamily="34" charset="0"/>
                <a:ea typeface="Liberation Sans Narrow" pitchFamily="34" charset="-122"/>
                <a:cs typeface="Liberation Sans Narrow" pitchFamily="34" charset="-120"/>
              </a:rPr>
              <a:t>30%</a:t>
            </a:r>
            <a:endParaRPr lang="en-US" sz="816" dirty="0"/>
          </a:p>
        </p:txBody>
      </p:sp>
      <p:sp>
        <p:nvSpPr>
          <p:cNvPr id="33" name="Text 30"/>
          <p:cNvSpPr/>
          <p:nvPr/>
        </p:nvSpPr>
        <p:spPr>
          <a:xfrm>
            <a:off x="692944" y="3569084"/>
            <a:ext cx="4618769" cy="7144"/>
          </a:xfrm>
          <a:prstGeom prst="rect">
            <a:avLst/>
          </a:prstGeom>
          <a:solidFill>
            <a:srgbClr val="A7B0CE">
              <a:alpha val="18000"/>
            </a:srgbClr>
          </a:solidFill>
          <a:ln/>
        </p:spPr>
        <p:txBody>
          <a:bodyPr wrap="square" rtlCol="0" anchor="ctr"/>
          <a:lstStyle/>
          <a:p>
            <a:pPr indent="0" marL="0">
              <a:buNone/>
            </a:pPr>
            <a:endParaRPr lang="en-US" dirty="0"/>
          </a:p>
        </p:txBody>
      </p:sp>
      <p:sp>
        <p:nvSpPr>
          <p:cNvPr id="34" name="Text 31"/>
          <p:cNvSpPr/>
          <p:nvPr/>
        </p:nvSpPr>
        <p:spPr>
          <a:xfrm>
            <a:off x="696516" y="3665525"/>
            <a:ext cx="250031" cy="250031"/>
          </a:xfrm>
          <a:prstGeom prst="roundRect">
            <a:avLst>
              <a:gd name="adj" fmla="val 38095"/>
            </a:avLst>
          </a:prstGeom>
          <a:solidFill>
            <a:srgbClr val="1B2342"/>
          </a:solidFill>
          <a:ln w="7144">
            <a:solidFill>
              <a:srgbClr val="A7B0CE"/>
            </a:solidFill>
            <a:prstDash val="solid"/>
          </a:ln>
        </p:spPr>
        <p:txBody>
          <a:bodyPr wrap="square" rtlCol="0" anchor="ctr"/>
          <a:lstStyle/>
          <a:p>
            <a:pPr indent="0" marL="0">
              <a:buNone/>
            </a:pPr>
            <a:endParaRPr lang="en-US" dirty="0"/>
          </a:p>
        </p:txBody>
      </p:sp>
      <p:sp>
        <p:nvSpPr>
          <p:cNvPr id="35" name="Text 32"/>
          <p:cNvSpPr/>
          <p:nvPr/>
        </p:nvSpPr>
        <p:spPr>
          <a:xfrm>
            <a:off x="723126" y="3692136"/>
            <a:ext cx="196810" cy="196810"/>
          </a:xfrm>
          <a:prstGeom prst="rect">
            <a:avLst/>
          </a:prstGeom>
          <a:noFill/>
          <a:ln/>
        </p:spPr>
        <p:txBody>
          <a:bodyPr wrap="none" lIns="0" tIns="0" rIns="0" bIns="0" rtlCol="0" anchor="ctr"/>
          <a:lstStyle/>
          <a:p>
            <a:pPr algn="ctr" indent="0" marL="0">
              <a:buNone/>
            </a:pPr>
            <a:r>
              <a:rPr lang="en-US" sz="1336" dirty="0">
                <a:solidFill>
                  <a:srgbClr val="8B5CF6"/>
                </a:solidFill>
                <a:latin typeface="Segoe UI Symbol" pitchFamily="34" charset="0"/>
                <a:ea typeface="Segoe UI Symbol" pitchFamily="34" charset="-122"/>
                <a:cs typeface="Segoe UI Symbol" pitchFamily="34" charset="-120"/>
              </a:rPr>
              <a:t>✦</a:t>
            </a:r>
            <a:endParaRPr lang="en-US" sz="1336" dirty="0"/>
          </a:p>
        </p:txBody>
      </p:sp>
      <p:sp>
        <p:nvSpPr>
          <p:cNvPr id="36" name="Text 33"/>
          <p:cNvSpPr/>
          <p:nvPr/>
        </p:nvSpPr>
        <p:spPr>
          <a:xfrm>
            <a:off x="1050131" y="3715420"/>
            <a:ext cx="4261582" cy="162141"/>
          </a:xfrm>
          <a:prstGeom prst="rect">
            <a:avLst/>
          </a:prstGeom>
          <a:noFill/>
          <a:ln/>
        </p:spPr>
        <p:txBody>
          <a:bodyPr wrap="square" lIns="0" tIns="0" rIns="0" bIns="0" rtlCol="0" anchor="t"/>
          <a:lstStyle/>
          <a:p>
            <a:pPr algn="l" indent="0" marL="0">
              <a:lnSpc>
                <a:spcPts val="1183"/>
              </a:lnSpc>
              <a:buNone/>
            </a:pPr>
            <a:r>
              <a:rPr lang="en-US" sz="816" dirty="0">
                <a:solidFill>
                  <a:srgbClr val="EDEFF9"/>
                </a:solidFill>
                <a:latin typeface="Carlito" pitchFamily="34" charset="0"/>
                <a:ea typeface="Carlito" pitchFamily="34" charset="-122"/>
                <a:cs typeface="Carlito" pitchFamily="34" charset="-120"/>
              </a:rPr>
              <a:t>API latency improved by </a:t>
            </a:r>
            <a:pPr algn="l" indent="0" marL="0">
              <a:lnSpc>
                <a:spcPts val="1183"/>
              </a:lnSpc>
              <a:buNone/>
            </a:pPr>
            <a:r>
              <a:rPr lang="en-US" sz="816" b="1" dirty="0">
                <a:solidFill>
                  <a:srgbClr val="2DD4A7"/>
                </a:solidFill>
                <a:latin typeface="Liberation Sans Narrow" pitchFamily="34" charset="0"/>
                <a:ea typeface="Liberation Sans Narrow" pitchFamily="34" charset="-122"/>
                <a:cs typeface="Liberation Sans Narrow" pitchFamily="34" charset="-120"/>
              </a:rPr>
              <a:t>40%</a:t>
            </a:r>
            <a:endParaRPr lang="en-US" sz="816" dirty="0"/>
          </a:p>
        </p:txBody>
      </p:sp>
      <p:sp>
        <p:nvSpPr>
          <p:cNvPr id="37" name="Text 34"/>
          <p:cNvSpPr/>
          <p:nvPr/>
        </p:nvSpPr>
        <p:spPr>
          <a:xfrm>
            <a:off x="692944" y="4004853"/>
            <a:ext cx="4618769" cy="7144"/>
          </a:xfrm>
          <a:prstGeom prst="rect">
            <a:avLst/>
          </a:prstGeom>
          <a:solidFill>
            <a:srgbClr val="A7B0CE">
              <a:alpha val="18000"/>
            </a:srgbClr>
          </a:solidFill>
          <a:ln/>
        </p:spPr>
        <p:txBody>
          <a:bodyPr wrap="square" rtlCol="0" anchor="ctr"/>
          <a:lstStyle/>
          <a:p>
            <a:pPr indent="0" marL="0">
              <a:buNone/>
            </a:pPr>
            <a:endParaRPr lang="en-US" dirty="0"/>
          </a:p>
        </p:txBody>
      </p:sp>
      <p:sp>
        <p:nvSpPr>
          <p:cNvPr id="38" name="Text 35"/>
          <p:cNvSpPr/>
          <p:nvPr/>
        </p:nvSpPr>
        <p:spPr>
          <a:xfrm>
            <a:off x="696516" y="4101294"/>
            <a:ext cx="250031" cy="250031"/>
          </a:xfrm>
          <a:prstGeom prst="roundRect">
            <a:avLst>
              <a:gd name="adj" fmla="val 38095"/>
            </a:avLst>
          </a:prstGeom>
          <a:solidFill>
            <a:srgbClr val="1B2342"/>
          </a:solidFill>
          <a:ln w="7144">
            <a:solidFill>
              <a:srgbClr val="A7B0CE"/>
            </a:solidFill>
            <a:prstDash val="solid"/>
          </a:ln>
        </p:spPr>
        <p:txBody>
          <a:bodyPr wrap="square" rtlCol="0" anchor="ctr"/>
          <a:lstStyle/>
          <a:p>
            <a:pPr indent="0" marL="0">
              <a:buNone/>
            </a:pPr>
            <a:endParaRPr lang="en-US" dirty="0"/>
          </a:p>
        </p:txBody>
      </p:sp>
      <p:sp>
        <p:nvSpPr>
          <p:cNvPr id="39" name="Text 36"/>
          <p:cNvSpPr/>
          <p:nvPr/>
        </p:nvSpPr>
        <p:spPr>
          <a:xfrm>
            <a:off x="723126" y="4127904"/>
            <a:ext cx="196810" cy="196810"/>
          </a:xfrm>
          <a:prstGeom prst="rect">
            <a:avLst/>
          </a:prstGeom>
          <a:noFill/>
          <a:ln/>
        </p:spPr>
        <p:txBody>
          <a:bodyPr wrap="none" lIns="0" tIns="0" rIns="0" bIns="0" rtlCol="0" anchor="ctr"/>
          <a:lstStyle/>
          <a:p>
            <a:pPr algn="ctr" indent="0" marL="0">
              <a:buNone/>
            </a:pPr>
            <a:r>
              <a:rPr lang="en-US" sz="1336" dirty="0">
                <a:solidFill>
                  <a:srgbClr val="8B5CF6"/>
                </a:solidFill>
                <a:latin typeface="Segoe UI Symbol" pitchFamily="34" charset="0"/>
                <a:ea typeface="Segoe UI Symbol" pitchFamily="34" charset="-122"/>
                <a:cs typeface="Segoe UI Symbol" pitchFamily="34" charset="-120"/>
              </a:rPr>
              <a:t>⛨</a:t>
            </a:r>
            <a:endParaRPr lang="en-US" sz="1336" dirty="0"/>
          </a:p>
        </p:txBody>
      </p:sp>
      <p:sp>
        <p:nvSpPr>
          <p:cNvPr id="40" name="Text 37"/>
          <p:cNvSpPr/>
          <p:nvPr/>
        </p:nvSpPr>
        <p:spPr>
          <a:xfrm>
            <a:off x="1050131" y="4151188"/>
            <a:ext cx="4261582" cy="162141"/>
          </a:xfrm>
          <a:prstGeom prst="rect">
            <a:avLst/>
          </a:prstGeom>
          <a:noFill/>
          <a:ln/>
        </p:spPr>
        <p:txBody>
          <a:bodyPr wrap="square" lIns="0" tIns="0" rIns="0" bIns="0" rtlCol="0" anchor="t"/>
          <a:lstStyle/>
          <a:p>
            <a:pPr algn="l" indent="0" marL="0">
              <a:lnSpc>
                <a:spcPts val="1183"/>
              </a:lnSpc>
              <a:buNone/>
            </a:pPr>
            <a:r>
              <a:rPr lang="en-US" sz="816" dirty="0">
                <a:solidFill>
                  <a:srgbClr val="EDEFF9"/>
                </a:solidFill>
                <a:latin typeface="Carlito" pitchFamily="34" charset="0"/>
                <a:ea typeface="Carlito" pitchFamily="34" charset="-122"/>
                <a:cs typeface="Carlito" pitchFamily="34" charset="-120"/>
              </a:rPr>
              <a:t>Security framework expanded to </a:t>
            </a:r>
            <a:pPr algn="l" indent="0" marL="0">
              <a:lnSpc>
                <a:spcPts val="1183"/>
              </a:lnSpc>
              <a:buNone/>
            </a:pPr>
            <a:r>
              <a:rPr lang="en-US" sz="816" dirty="0">
                <a:solidFill>
                  <a:srgbClr val="8B5CF6"/>
                </a:solidFill>
                <a:latin typeface="Carlito" pitchFamily="34" charset="0"/>
                <a:ea typeface="Carlito" pitchFamily="34" charset="-122"/>
                <a:cs typeface="Carlito" pitchFamily="34" charset="-120"/>
              </a:rPr>
              <a:t>FedRAMP</a:t>
            </a:r>
            <a:pPr algn="l" indent="0" marL="0">
              <a:lnSpc>
                <a:spcPts val="1183"/>
              </a:lnSpc>
              <a:buNone/>
            </a:pPr>
            <a:r>
              <a:rPr lang="en-US" sz="816" dirty="0">
                <a:solidFill>
                  <a:srgbClr val="EDEFF9"/>
                </a:solidFill>
                <a:latin typeface="Carlito" pitchFamily="34" charset="0"/>
                <a:ea typeface="Carlito" pitchFamily="34" charset="-122"/>
                <a:cs typeface="Carlito" pitchFamily="34" charset="-120"/>
              </a:rPr>
              <a:t> compliance</a:t>
            </a:r>
            <a:endParaRPr lang="en-US" sz="816" dirty="0"/>
          </a:p>
        </p:txBody>
      </p:sp>
      <p:sp>
        <p:nvSpPr>
          <p:cNvPr id="41" name="Text 38"/>
          <p:cNvSpPr/>
          <p:nvPr/>
        </p:nvSpPr>
        <p:spPr>
          <a:xfrm>
            <a:off x="5608179" y="2662610"/>
            <a:ext cx="3017900" cy="2120131"/>
          </a:xfrm>
          <a:prstGeom prst="roundRect">
            <a:avLst>
              <a:gd name="adj" fmla="val 6290"/>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42" name="Text 39"/>
          <p:cNvSpPr/>
          <p:nvPr/>
        </p:nvSpPr>
        <p:spPr>
          <a:xfrm>
            <a:off x="5797488" y="2794769"/>
            <a:ext cx="135731" cy="135731"/>
          </a:xfrm>
          <a:prstGeom prst="rect">
            <a:avLst/>
          </a:prstGeom>
          <a:noFill/>
          <a:ln/>
        </p:spPr>
        <p:txBody>
          <a:bodyPr wrap="none" lIns="0" tIns="0" rIns="0" bIns="0" rtlCol="0" anchor="ctr"/>
          <a:lstStyle/>
          <a:p>
            <a:pPr algn="ctr" indent="0" marL="0">
              <a:buNone/>
            </a:pPr>
            <a:r>
              <a:rPr lang="en-US" sz="1336" dirty="0">
                <a:solidFill>
                  <a:srgbClr val="8B5CF6"/>
                </a:solidFill>
                <a:latin typeface="Segoe UI Symbol" pitchFamily="34" charset="0"/>
                <a:ea typeface="Segoe UI Symbol" pitchFamily="34" charset="-122"/>
                <a:cs typeface="Segoe UI Symbol" pitchFamily="34" charset="-120"/>
              </a:rPr>
              <a:t>♛</a:t>
            </a:r>
            <a:endParaRPr lang="en-US" sz="1336" dirty="0"/>
          </a:p>
        </p:txBody>
      </p:sp>
      <p:sp>
        <p:nvSpPr>
          <p:cNvPr id="43" name="Text 40"/>
          <p:cNvSpPr/>
          <p:nvPr/>
        </p:nvSpPr>
        <p:spPr>
          <a:xfrm>
            <a:off x="6004657" y="2803699"/>
            <a:ext cx="2432112"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EDEFF9"/>
                </a:solidFill>
                <a:latin typeface="Courier New" pitchFamily="34" charset="0"/>
                <a:ea typeface="Courier New" pitchFamily="34" charset="-122"/>
                <a:cs typeface="Courier New" pitchFamily="34" charset="-120"/>
              </a:rPr>
              <a:t>CUSTOMER IMPACT</a:t>
            </a:r>
            <a:endParaRPr lang="en-US" sz="800" dirty="0"/>
          </a:p>
        </p:txBody>
      </p:sp>
      <p:sp>
        <p:nvSpPr>
          <p:cNvPr id="44" name="Text 41"/>
          <p:cNvSpPr/>
          <p:nvPr/>
        </p:nvSpPr>
        <p:spPr>
          <a:xfrm>
            <a:off x="5797488" y="3319053"/>
            <a:ext cx="825818" cy="308610"/>
          </a:xfrm>
          <a:prstGeom prst="rect">
            <a:avLst/>
          </a:prstGeom>
          <a:noFill/>
          <a:ln/>
        </p:spPr>
        <p:txBody>
          <a:bodyPr wrap="none" lIns="0" tIns="0" rIns="0" bIns="0" rtlCol="0" anchor="t"/>
          <a:lstStyle/>
          <a:p>
            <a:pPr algn="l" indent="0" marL="0">
              <a:lnSpc>
                <a:spcPts val="2250"/>
              </a:lnSpc>
              <a:buNone/>
            </a:pPr>
            <a:r>
              <a:rPr lang="en-US" sz="2250" b="1" dirty="0">
                <a:solidFill>
                  <a:srgbClr val="EDEFF9"/>
                </a:solidFill>
                <a:latin typeface="Liberation Sans Narrow" pitchFamily="34" charset="0"/>
                <a:ea typeface="Liberation Sans Narrow" pitchFamily="34" charset="-122"/>
                <a:cs typeface="Liberation Sans Narrow" pitchFamily="34" charset="-120"/>
              </a:rPr>
              <a:t>94%</a:t>
            </a:r>
            <a:endParaRPr lang="en-US" sz="2250" dirty="0"/>
          </a:p>
        </p:txBody>
      </p:sp>
      <p:sp>
        <p:nvSpPr>
          <p:cNvPr id="45" name="Text 42"/>
          <p:cNvSpPr/>
          <p:nvPr/>
        </p:nvSpPr>
        <p:spPr>
          <a:xfrm>
            <a:off x="6399349" y="3469072"/>
            <a:ext cx="2037420" cy="164592"/>
          </a:xfrm>
          <a:prstGeom prst="rect">
            <a:avLst/>
          </a:prstGeom>
          <a:noFill/>
          <a:ln/>
        </p:spPr>
        <p:txBody>
          <a:bodyPr wrap="square" lIns="0" tIns="0" rIns="0" bIns="0" rtlCol="0" anchor="t"/>
          <a:lstStyle/>
          <a:p>
            <a:pPr algn="l" indent="0" marL="0">
              <a:lnSpc>
                <a:spcPts val="1055"/>
              </a:lnSpc>
              <a:buNone/>
            </a:pPr>
            <a:r>
              <a:rPr lang="en-US" sz="800" dirty="0">
                <a:solidFill>
                  <a:srgbClr val="A7B0CE"/>
                </a:solidFill>
                <a:latin typeface="Carlito" pitchFamily="34" charset="0"/>
                <a:ea typeface="Carlito" pitchFamily="34" charset="-122"/>
                <a:cs typeface="Carlito" pitchFamily="34" charset="-120"/>
              </a:rPr>
              <a:t>customer satisfaction score</a:t>
            </a:r>
            <a:endParaRPr lang="en-US" sz="800" dirty="0"/>
          </a:p>
        </p:txBody>
      </p:sp>
      <p:sp>
        <p:nvSpPr>
          <p:cNvPr id="46" name="Text 43"/>
          <p:cNvSpPr/>
          <p:nvPr/>
        </p:nvSpPr>
        <p:spPr>
          <a:xfrm>
            <a:off x="5797488" y="3704816"/>
            <a:ext cx="2639281" cy="7144"/>
          </a:xfrm>
          <a:prstGeom prst="rect">
            <a:avLst/>
          </a:prstGeom>
          <a:solidFill>
            <a:srgbClr val="A7B0CE">
              <a:alpha val="18000"/>
            </a:srgbClr>
          </a:solidFill>
          <a:ln/>
        </p:spPr>
        <p:txBody>
          <a:bodyPr wrap="square" rtlCol="0" anchor="ctr"/>
          <a:lstStyle/>
          <a:p>
            <a:pPr indent="0" marL="0">
              <a:buNone/>
            </a:pPr>
            <a:endParaRPr lang="en-US" dirty="0"/>
          </a:p>
        </p:txBody>
      </p:sp>
      <p:sp>
        <p:nvSpPr>
          <p:cNvPr id="47" name="Text 44"/>
          <p:cNvSpPr/>
          <p:nvPr/>
        </p:nvSpPr>
        <p:spPr>
          <a:xfrm>
            <a:off x="5796702" y="3961991"/>
            <a:ext cx="425339" cy="164592"/>
          </a:xfrm>
          <a:prstGeom prst="rect">
            <a:avLst/>
          </a:prstGeom>
          <a:noFill/>
          <a:ln/>
        </p:spPr>
        <p:txBody>
          <a:bodyPr wrap="none" lIns="0" tIns="0" rIns="0" bIns="0" rtlCol="0" anchor="t"/>
          <a:lstStyle/>
          <a:p>
            <a:pPr algn="l" indent="0" marL="0">
              <a:lnSpc>
                <a:spcPts val="1055"/>
              </a:lnSpc>
              <a:buNone/>
            </a:pPr>
            <a:r>
              <a:rPr lang="en-US" sz="703" dirty="0">
                <a:solidFill>
                  <a:srgbClr val="A7B0CE"/>
                </a:solidFill>
                <a:latin typeface="Carlito" pitchFamily="34" charset="0"/>
                <a:ea typeface="Carlito" pitchFamily="34" charset="-122"/>
                <a:cs typeface="Carlito" pitchFamily="34" charset="-120"/>
              </a:rPr>
              <a:t>Average</a:t>
            </a:r>
            <a:endParaRPr lang="en-US" sz="703" dirty="0"/>
          </a:p>
        </p:txBody>
      </p:sp>
      <p:sp>
        <p:nvSpPr>
          <p:cNvPr id="48" name="Text 45"/>
          <p:cNvSpPr/>
          <p:nvPr/>
        </p:nvSpPr>
        <p:spPr>
          <a:xfrm>
            <a:off x="6214281" y="3811972"/>
            <a:ext cx="1376422" cy="308610"/>
          </a:xfrm>
          <a:prstGeom prst="rect">
            <a:avLst/>
          </a:prstGeom>
          <a:noFill/>
          <a:ln/>
        </p:spPr>
        <p:txBody>
          <a:bodyPr wrap="none" lIns="0" tIns="0" rIns="0" bIns="0" rtlCol="0" anchor="t"/>
          <a:lstStyle/>
          <a:p>
            <a:pPr algn="l" indent="0" marL="0">
              <a:lnSpc>
                <a:spcPts val="2250"/>
              </a:lnSpc>
              <a:buNone/>
            </a:pPr>
            <a:r>
              <a:rPr lang="en-US" sz="2250" b="1" dirty="0">
                <a:solidFill>
                  <a:srgbClr val="EDEFF9"/>
                </a:solidFill>
                <a:latin typeface="Liberation Sans Narrow" pitchFamily="34" charset="0"/>
                <a:ea typeface="Liberation Sans Narrow" pitchFamily="34" charset="-122"/>
                <a:cs typeface="Liberation Sans Narrow" pitchFamily="34" charset="-120"/>
              </a:rPr>
              <a:t>4.7/5</a:t>
            </a:r>
            <a:endParaRPr lang="en-US" sz="2250" dirty="0"/>
          </a:p>
        </p:txBody>
      </p:sp>
      <p:sp>
        <p:nvSpPr>
          <p:cNvPr id="49" name="Text 46"/>
          <p:cNvSpPr/>
          <p:nvPr/>
        </p:nvSpPr>
        <p:spPr>
          <a:xfrm>
            <a:off x="7160270" y="3961991"/>
            <a:ext cx="1276499" cy="164592"/>
          </a:xfrm>
          <a:prstGeom prst="rect">
            <a:avLst/>
          </a:prstGeom>
          <a:noFill/>
          <a:ln/>
        </p:spPr>
        <p:txBody>
          <a:bodyPr wrap="square" lIns="0" tIns="0" rIns="0" bIns="0" rtlCol="0" anchor="t"/>
          <a:lstStyle/>
          <a:p>
            <a:pPr algn="l" indent="0" marL="0">
              <a:lnSpc>
                <a:spcPts val="1055"/>
              </a:lnSpc>
              <a:buNone/>
            </a:pPr>
            <a:r>
              <a:rPr lang="en-US" sz="800" dirty="0">
                <a:solidFill>
                  <a:srgbClr val="A7B0CE"/>
                </a:solidFill>
                <a:latin typeface="Liberation Sans Narrow" pitchFamily="34" charset="0"/>
                <a:ea typeface="Liberation Sans Narrow" pitchFamily="34" charset="-122"/>
                <a:cs typeface="Liberation Sans Narrow" pitchFamily="34" charset="-120"/>
              </a:rPr>
              <a:t>on G2 rating</a:t>
            </a:r>
            <a:endParaRPr lang="en-US" sz="800" dirty="0"/>
          </a:p>
        </p:txBody>
      </p:sp>
      <p:sp>
        <p:nvSpPr>
          <p:cNvPr id="50" name="Text 47"/>
          <p:cNvSpPr/>
          <p:nvPr/>
        </p:nvSpPr>
        <p:spPr>
          <a:xfrm>
            <a:off x="5797488" y="4147728"/>
            <a:ext cx="114300" cy="114300"/>
          </a:xfrm>
          <a:prstGeom prst="rect">
            <a:avLst/>
          </a:prstGeom>
          <a:noFill/>
          <a:ln/>
        </p:spPr>
        <p:txBody>
          <a:bodyPr wrap="none" lIns="0" tIns="0" rIns="0" bIns="0" rtlCol="0" anchor="ctr"/>
          <a:lstStyle/>
          <a:p>
            <a:pPr algn="ctr" indent="0" marL="0">
              <a:buNone/>
            </a:pPr>
            <a:r>
              <a:rPr lang="en-US" sz="1125" dirty="0">
                <a:solidFill>
                  <a:srgbClr val="2DD4A7"/>
                </a:solidFill>
                <a:latin typeface="Segoe UI Symbol" pitchFamily="34" charset="0"/>
                <a:ea typeface="Segoe UI Symbol" pitchFamily="34" charset="-122"/>
                <a:cs typeface="Segoe UI Symbol" pitchFamily="34" charset="-120"/>
              </a:rPr>
              <a:t>★</a:t>
            </a:r>
            <a:endParaRPr lang="en-US" sz="1125" dirty="0"/>
          </a:p>
        </p:txBody>
      </p:sp>
      <p:sp>
        <p:nvSpPr>
          <p:cNvPr id="51" name="Text 48"/>
          <p:cNvSpPr/>
          <p:nvPr/>
        </p:nvSpPr>
        <p:spPr>
          <a:xfrm>
            <a:off x="5933219" y="4147728"/>
            <a:ext cx="114300" cy="114300"/>
          </a:xfrm>
          <a:prstGeom prst="rect">
            <a:avLst/>
          </a:prstGeom>
          <a:noFill/>
          <a:ln/>
        </p:spPr>
        <p:txBody>
          <a:bodyPr wrap="none" lIns="0" tIns="0" rIns="0" bIns="0" rtlCol="0" anchor="ctr"/>
          <a:lstStyle/>
          <a:p>
            <a:pPr algn="ctr" indent="0" marL="0">
              <a:buNone/>
            </a:pPr>
            <a:r>
              <a:rPr lang="en-US" sz="1125" dirty="0">
                <a:solidFill>
                  <a:srgbClr val="2DD4A7"/>
                </a:solidFill>
                <a:latin typeface="Segoe UI Symbol" pitchFamily="34" charset="0"/>
                <a:ea typeface="Segoe UI Symbol" pitchFamily="34" charset="-122"/>
                <a:cs typeface="Segoe UI Symbol" pitchFamily="34" charset="-120"/>
              </a:rPr>
              <a:t>★</a:t>
            </a:r>
            <a:endParaRPr lang="en-US" sz="1125" dirty="0"/>
          </a:p>
        </p:txBody>
      </p:sp>
      <p:sp>
        <p:nvSpPr>
          <p:cNvPr id="52" name="Text 49"/>
          <p:cNvSpPr/>
          <p:nvPr/>
        </p:nvSpPr>
        <p:spPr>
          <a:xfrm>
            <a:off x="6068950" y="4147728"/>
            <a:ext cx="114300" cy="114300"/>
          </a:xfrm>
          <a:prstGeom prst="rect">
            <a:avLst/>
          </a:prstGeom>
          <a:noFill/>
          <a:ln/>
        </p:spPr>
        <p:txBody>
          <a:bodyPr wrap="none" lIns="0" tIns="0" rIns="0" bIns="0" rtlCol="0" anchor="ctr"/>
          <a:lstStyle/>
          <a:p>
            <a:pPr algn="ctr" indent="0" marL="0">
              <a:buNone/>
            </a:pPr>
            <a:r>
              <a:rPr lang="en-US" sz="1125" dirty="0">
                <a:solidFill>
                  <a:srgbClr val="2DD4A7"/>
                </a:solidFill>
                <a:latin typeface="Segoe UI Symbol" pitchFamily="34" charset="0"/>
                <a:ea typeface="Segoe UI Symbol" pitchFamily="34" charset="-122"/>
                <a:cs typeface="Segoe UI Symbol" pitchFamily="34" charset="-120"/>
              </a:rPr>
              <a:t>★</a:t>
            </a:r>
            <a:endParaRPr lang="en-US" sz="1125" dirty="0"/>
          </a:p>
        </p:txBody>
      </p:sp>
      <p:sp>
        <p:nvSpPr>
          <p:cNvPr id="53" name="Text 50"/>
          <p:cNvSpPr/>
          <p:nvPr/>
        </p:nvSpPr>
        <p:spPr>
          <a:xfrm>
            <a:off x="6204682" y="4147728"/>
            <a:ext cx="114300" cy="114300"/>
          </a:xfrm>
          <a:prstGeom prst="rect">
            <a:avLst/>
          </a:prstGeom>
          <a:noFill/>
          <a:ln/>
        </p:spPr>
        <p:txBody>
          <a:bodyPr wrap="none" lIns="0" tIns="0" rIns="0" bIns="0" rtlCol="0" anchor="ctr"/>
          <a:lstStyle/>
          <a:p>
            <a:pPr algn="ctr" indent="0" marL="0">
              <a:buNone/>
            </a:pPr>
            <a:r>
              <a:rPr lang="en-US" sz="1125" dirty="0">
                <a:solidFill>
                  <a:srgbClr val="2DD4A7"/>
                </a:solidFill>
                <a:latin typeface="Segoe UI Symbol" pitchFamily="34" charset="0"/>
                <a:ea typeface="Segoe UI Symbol" pitchFamily="34" charset="-122"/>
                <a:cs typeface="Segoe UI Symbol" pitchFamily="34" charset="-120"/>
              </a:rPr>
              <a:t>★</a:t>
            </a:r>
            <a:endParaRPr lang="en-US" sz="1125" dirty="0"/>
          </a:p>
        </p:txBody>
      </p:sp>
      <p:sp>
        <p:nvSpPr>
          <p:cNvPr id="54" name="Text 51"/>
          <p:cNvSpPr/>
          <p:nvPr/>
        </p:nvSpPr>
        <p:spPr>
          <a:xfrm>
            <a:off x="6340413" y="4147728"/>
            <a:ext cx="114300" cy="114300"/>
          </a:xfrm>
          <a:prstGeom prst="rect">
            <a:avLst/>
          </a:prstGeom>
          <a:noFill/>
          <a:ln/>
        </p:spPr>
        <p:txBody>
          <a:bodyPr wrap="none" lIns="0" tIns="0" rIns="0" bIns="0" rtlCol="0" anchor="ctr"/>
          <a:lstStyle/>
          <a:p>
            <a:pPr algn="ctr" indent="0" marL="0">
              <a:buNone/>
            </a:pPr>
            <a:r>
              <a:rPr lang="en-US" sz="1125" dirty="0">
                <a:solidFill>
                  <a:srgbClr val="2DD4A7"/>
                </a:solidFill>
                <a:latin typeface="Segoe UI Symbol" pitchFamily="34" charset="0"/>
                <a:ea typeface="Segoe UI Symbol" pitchFamily="34" charset="-122"/>
                <a:cs typeface="Segoe UI Symbol" pitchFamily="34" charset="-120"/>
              </a:rPr>
              <a:t>★</a:t>
            </a:r>
            <a:endParaRPr lang="en-US" sz="11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29375" y="-1857375"/>
            <a:ext cx="4000500" cy="4000500"/>
          </a:xfrm>
          <a:prstGeom prst="rect">
            <a:avLst/>
          </a:prstGeom>
        </p:spPr>
      </p:pic>
      <p:sp>
        <p:nvSpPr>
          <p:cNvPr id="3" name="Text 0"/>
          <p:cNvSpPr/>
          <p:nvPr/>
        </p:nvSpPr>
        <p:spPr>
          <a:xfrm>
            <a:off x="6429375" y="-1857375"/>
            <a:ext cx="4000500" cy="4000500"/>
          </a:xfrm>
          <a:prstGeom prst="ellipse">
            <a:avLst/>
          </a:prstGeom>
          <a:solidFill>
            <a:srgbClr val="FFFFFF">
              <a:alpha val="0"/>
            </a:srgbClr>
          </a:solidFill>
          <a:ln/>
        </p:spPr>
        <p:txBody>
          <a:bodyPr wrap="square" rtlCol="0" anchor="ctr"/>
          <a:lstStyle/>
          <a:p>
            <a:pPr indent="0" marL="0">
              <a:buNone/>
            </a:pPr>
            <a:endParaRPr lang="en-US" dirty="0"/>
          </a:p>
        </p:txBody>
      </p:sp>
      <p:pic>
        <p:nvPicPr>
          <p:cNvPr id="4" name="Image 1" descr="preencoded.png">    </p:cNvPr>
          <p:cNvPicPr>
            <a:picLocks noChangeAspect="1"/>
          </p:cNvPicPr>
          <p:nvPr/>
        </p:nvPicPr>
        <p:blipFill>
          <a:blip r:embed="rId2"/>
          <a:stretch>
            <a:fillRect/>
          </a:stretch>
        </p:blipFill>
        <p:spPr>
          <a:xfrm>
            <a:off x="-1285875" y="3714750"/>
            <a:ext cx="3286125" cy="3286125"/>
          </a:xfrm>
          <a:prstGeom prst="rect">
            <a:avLst/>
          </a:prstGeom>
        </p:spPr>
      </p:pic>
      <p:sp>
        <p:nvSpPr>
          <p:cNvPr id="5" name="Text 1"/>
          <p:cNvSpPr/>
          <p:nvPr/>
        </p:nvSpPr>
        <p:spPr>
          <a:xfrm>
            <a:off x="-1285875" y="3714750"/>
            <a:ext cx="3286125" cy="3286125"/>
          </a:xfrm>
          <a:prstGeom prst="ellipse">
            <a:avLst/>
          </a:prstGeom>
          <a:solidFill>
            <a:srgbClr val="FFFFFF">
              <a:alpha val="0"/>
            </a:srgbClr>
          </a:solidFill>
          <a:ln/>
        </p:spPr>
        <p:txBody>
          <a:bodyPr wrap="square" rtlCol="0" anchor="ctr"/>
          <a:lstStyle/>
          <a:p>
            <a:pPr indent="0" marL="0">
              <a:buNone/>
            </a:pPr>
            <a:endParaRPr lang="en-US" dirty="0"/>
          </a:p>
        </p:txBody>
      </p:sp>
      <p:sp>
        <p:nvSpPr>
          <p:cNvPr id="6" name="Text 2"/>
          <p:cNvSpPr/>
          <p:nvPr/>
        </p:nvSpPr>
        <p:spPr>
          <a:xfrm>
            <a:off x="457200" y="400050"/>
            <a:ext cx="8636000" cy="164592"/>
          </a:xfrm>
          <a:prstGeom prst="rect">
            <a:avLst/>
          </a:prstGeom>
          <a:noFill/>
          <a:ln/>
        </p:spPr>
        <p:txBody>
          <a:bodyPr wrap="none" lIns="0" tIns="0" rIns="0" bIns="0" rtlCol="0" anchor="t"/>
          <a:lstStyle/>
          <a:p>
            <a:pPr algn="l" indent="0" marL="0">
              <a:lnSpc>
                <a:spcPts val="886"/>
              </a:lnSpc>
              <a:buNone/>
            </a:pPr>
            <a:r>
              <a:rPr lang="en-US" sz="800" spc="130" kern="0" dirty="0">
                <a:solidFill>
                  <a:srgbClr val="8B5CF6"/>
                </a:solidFill>
                <a:latin typeface="Courier New" pitchFamily="34" charset="0"/>
                <a:ea typeface="Courier New" pitchFamily="34" charset="-122"/>
                <a:cs typeface="Courier New" pitchFamily="34" charset="-120"/>
              </a:rPr>
              <a:t>MARKET OPPORTUNITY</a:t>
            </a:r>
            <a:endParaRPr lang="en-US" sz="800" dirty="0"/>
          </a:p>
        </p:txBody>
      </p:sp>
      <p:sp>
        <p:nvSpPr>
          <p:cNvPr id="7" name="Text 3"/>
          <p:cNvSpPr/>
          <p:nvPr/>
        </p:nvSpPr>
        <p:spPr>
          <a:xfrm>
            <a:off x="457200" y="598289"/>
            <a:ext cx="8636000" cy="354902"/>
          </a:xfrm>
          <a:prstGeom prst="rect">
            <a:avLst/>
          </a:prstGeom>
          <a:noFill/>
          <a:ln/>
        </p:spPr>
        <p:txBody>
          <a:bodyPr wrap="square" lIns="0" tIns="0" rIns="0" bIns="0" rtlCol="0" anchor="t"/>
          <a:lstStyle/>
          <a:p>
            <a:pPr algn="l" indent="0" marL="0">
              <a:lnSpc>
                <a:spcPts val="2588"/>
              </a:lnSpc>
              <a:buNone/>
            </a:pPr>
            <a:r>
              <a:rPr lang="en-US" sz="2250" b="1" spc="-34" kern="0" dirty="0">
                <a:solidFill>
                  <a:srgbClr val="EDEFF9"/>
                </a:solidFill>
                <a:latin typeface="Carlito" pitchFamily="34" charset="0"/>
                <a:ea typeface="Carlito" pitchFamily="34" charset="-122"/>
                <a:cs typeface="Carlito" pitchFamily="34" charset="-120"/>
              </a:rPr>
              <a:t>Capturing a Growing Market</a:t>
            </a:r>
            <a:endParaRPr lang="en-US" sz="2250" dirty="0"/>
          </a:p>
        </p:txBody>
      </p:sp>
      <p:sp>
        <p:nvSpPr>
          <p:cNvPr id="8" name="Text 4"/>
          <p:cNvSpPr/>
          <p:nvPr/>
        </p:nvSpPr>
        <p:spPr>
          <a:xfrm>
            <a:off x="457200" y="998339"/>
            <a:ext cx="4714875" cy="173593"/>
          </a:xfrm>
          <a:prstGeom prst="rect">
            <a:avLst/>
          </a:prstGeom>
          <a:noFill/>
          <a:ln/>
        </p:spPr>
        <p:txBody>
          <a:bodyPr wrap="square" lIns="0" tIns="0" rIns="0" bIns="0" rtlCol="0" anchor="t"/>
          <a:lstStyle/>
          <a:p>
            <a:pPr algn="l" indent="0" marL="0">
              <a:lnSpc>
                <a:spcPts val="1266"/>
              </a:lnSpc>
              <a:buNone/>
            </a:pPr>
            <a:r>
              <a:rPr lang="en-US" sz="844" dirty="0">
                <a:solidFill>
                  <a:srgbClr val="A7B0CE"/>
                </a:solidFill>
                <a:latin typeface="Carlito" pitchFamily="34" charset="0"/>
                <a:ea typeface="Carlito" pitchFamily="34" charset="-122"/>
                <a:cs typeface="Carlito" pitchFamily="34" charset="-120"/>
              </a:rPr>
              <a:t>Enterprise AI spend is compounding fast — and our growth is outpacing the market itself.</a:t>
            </a:r>
            <a:endParaRPr lang="en-US" sz="844" dirty="0"/>
          </a:p>
        </p:txBody>
      </p:sp>
      <p:sp>
        <p:nvSpPr>
          <p:cNvPr id="9" name="Text 5"/>
          <p:cNvSpPr/>
          <p:nvPr/>
        </p:nvSpPr>
        <p:spPr>
          <a:xfrm>
            <a:off x="457200" y="1359098"/>
            <a:ext cx="5885468" cy="164592"/>
          </a:xfrm>
          <a:prstGeom prst="rect">
            <a:avLst/>
          </a:prstGeom>
          <a:noFill/>
          <a:ln/>
        </p:spPr>
        <p:txBody>
          <a:bodyPr wrap="none" lIns="0" tIns="0" rIns="0" bIns="0" rtlCol="0" anchor="t"/>
          <a:lstStyle/>
          <a:p>
            <a:pPr algn="l" indent="0" marL="0">
              <a:lnSpc>
                <a:spcPts val="886"/>
              </a:lnSpc>
              <a:buNone/>
            </a:pPr>
            <a:r>
              <a:rPr lang="en-US" sz="800" spc="118" kern="0" dirty="0">
                <a:solidFill>
                  <a:srgbClr val="A7B0CE"/>
                </a:solidFill>
                <a:latin typeface="Courier New" pitchFamily="34" charset="0"/>
                <a:ea typeface="Courier New" pitchFamily="34" charset="-122"/>
                <a:cs typeface="Courier New" pitchFamily="34" charset="-120"/>
              </a:rPr>
              <a:t>TOTAL ADDRESSABLE MARKET</a:t>
            </a:r>
            <a:endParaRPr lang="en-US" sz="800" dirty="0"/>
          </a:p>
        </p:txBody>
      </p:sp>
      <p:sp>
        <p:nvSpPr>
          <p:cNvPr id="10" name="Text 6"/>
          <p:cNvSpPr/>
          <p:nvPr/>
        </p:nvSpPr>
        <p:spPr>
          <a:xfrm>
            <a:off x="460772" y="1575197"/>
            <a:ext cx="2265685" cy="2721769"/>
          </a:xfrm>
          <a:prstGeom prst="roundRect">
            <a:avLst>
              <a:gd name="adj" fmla="val 5886"/>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11" name="Text 7"/>
          <p:cNvSpPr/>
          <p:nvPr/>
        </p:nvSpPr>
        <p:spPr>
          <a:xfrm>
            <a:off x="664369" y="1764506"/>
            <a:ext cx="1858491" cy="208312"/>
          </a:xfrm>
          <a:prstGeom prst="rect">
            <a:avLst/>
          </a:prstGeom>
          <a:noFill/>
          <a:ln/>
        </p:spPr>
        <p:txBody>
          <a:bodyPr wrap="none" lIns="0" tIns="0" rIns="0" bIns="0" rtlCol="0" anchor="t"/>
          <a:lstStyle/>
          <a:p>
            <a:pPr algn="l" indent="0" marL="0">
              <a:lnSpc>
                <a:spcPts val="1519"/>
              </a:lnSpc>
              <a:buNone/>
            </a:pPr>
            <a:r>
              <a:rPr lang="en-US" sz="1013" dirty="0">
                <a:solidFill>
                  <a:srgbClr val="EDEFF9"/>
                </a:solidFill>
                <a:latin typeface="Carlito" pitchFamily="34" charset="0"/>
                <a:ea typeface="Carlito" pitchFamily="34" charset="-122"/>
                <a:cs typeface="Carlito" pitchFamily="34" charset="-120"/>
              </a:rPr>
              <a:t>Enterprise AI Platforms</a:t>
            </a:r>
            <a:endParaRPr lang="en-US" sz="1013" dirty="0"/>
          </a:p>
        </p:txBody>
      </p:sp>
      <p:sp>
        <p:nvSpPr>
          <p:cNvPr id="12" name="Text 8"/>
          <p:cNvSpPr/>
          <p:nvPr/>
        </p:nvSpPr>
        <p:spPr>
          <a:xfrm>
            <a:off x="664369" y="2591395"/>
            <a:ext cx="1858491" cy="493776"/>
          </a:xfrm>
          <a:prstGeom prst="rect">
            <a:avLst/>
          </a:prstGeom>
          <a:noFill/>
          <a:ln/>
        </p:spPr>
        <p:txBody>
          <a:bodyPr wrap="none" lIns="0" tIns="0" rIns="0" bIns="0" rtlCol="0" anchor="t"/>
          <a:lstStyle/>
          <a:p>
            <a:pPr algn="l" indent="0" marL="0">
              <a:lnSpc>
                <a:spcPts val="3600"/>
              </a:lnSpc>
              <a:buNone/>
            </a:pPr>
            <a:r>
              <a:rPr lang="en-US" sz="3600" b="1" spc="-72" kern="0" dirty="0">
                <a:solidFill>
                  <a:srgbClr val="8B5CF6"/>
                </a:solidFill>
                <a:latin typeface="Liberation Sans Narrow" pitchFamily="34" charset="0"/>
                <a:ea typeface="Liberation Sans Narrow" pitchFamily="34" charset="-122"/>
                <a:cs typeface="Liberation Sans Narrow" pitchFamily="34" charset="-120"/>
              </a:rPr>
              <a:t>$89B</a:t>
            </a:r>
            <a:endParaRPr lang="en-US" sz="3600" dirty="0"/>
          </a:p>
        </p:txBody>
      </p:sp>
      <p:sp>
        <p:nvSpPr>
          <p:cNvPr id="13" name="Text 9"/>
          <p:cNvSpPr/>
          <p:nvPr/>
        </p:nvSpPr>
        <p:spPr>
          <a:xfrm>
            <a:off x="664369" y="3120033"/>
            <a:ext cx="1858491" cy="164592"/>
          </a:xfrm>
          <a:prstGeom prst="rect">
            <a:avLst/>
          </a:prstGeom>
          <a:noFill/>
          <a:ln/>
        </p:spPr>
        <p:txBody>
          <a:bodyPr wrap="none" lIns="0" tIns="0" rIns="0" bIns="0" rtlCol="0" anchor="t"/>
          <a:lstStyle/>
          <a:p>
            <a:pPr algn="l" indent="0" marL="0">
              <a:lnSpc>
                <a:spcPts val="1055"/>
              </a:lnSpc>
              <a:buNone/>
            </a:pPr>
            <a:r>
              <a:rPr lang="en-US" sz="800" dirty="0">
                <a:solidFill>
                  <a:srgbClr val="A7B0CE"/>
                </a:solidFill>
                <a:latin typeface="Liberation Sans Narrow" pitchFamily="34" charset="0"/>
                <a:ea typeface="Liberation Sans Narrow" pitchFamily="34" charset="-122"/>
                <a:cs typeface="Liberation Sans Narrow" pitchFamily="34" charset="-120"/>
              </a:rPr>
              <a:t>by 2026</a:t>
            </a:r>
            <a:endParaRPr lang="en-US" sz="800" dirty="0"/>
          </a:p>
        </p:txBody>
      </p:sp>
      <p:sp>
        <p:nvSpPr>
          <p:cNvPr id="14" name="Text 10"/>
          <p:cNvSpPr/>
          <p:nvPr/>
        </p:nvSpPr>
        <p:spPr>
          <a:xfrm>
            <a:off x="667941" y="3891558"/>
            <a:ext cx="1851347" cy="212527"/>
          </a:xfrm>
          <a:prstGeom prst="roundRect">
            <a:avLst>
              <a:gd name="adj" fmla="val 4477302"/>
            </a:avLst>
          </a:prstGeom>
          <a:solidFill>
            <a:srgbClr val="8B5CF6">
              <a:alpha val="16000"/>
            </a:srgbClr>
          </a:solidFill>
          <a:ln w="7144">
            <a:solidFill>
              <a:srgbClr val="8B5CF6"/>
            </a:solidFill>
            <a:prstDash val="solid"/>
          </a:ln>
        </p:spPr>
        <p:txBody>
          <a:bodyPr wrap="square" rtlCol="0" anchor="ctr"/>
          <a:lstStyle/>
          <a:p>
            <a:pPr indent="0" marL="0">
              <a:buNone/>
            </a:pPr>
            <a:endParaRPr lang="en-US" dirty="0"/>
          </a:p>
        </p:txBody>
      </p:sp>
      <p:sp>
        <p:nvSpPr>
          <p:cNvPr id="15" name="Text 11"/>
          <p:cNvSpPr/>
          <p:nvPr/>
        </p:nvSpPr>
        <p:spPr>
          <a:xfrm>
            <a:off x="757238" y="3972818"/>
            <a:ext cx="50006" cy="50006"/>
          </a:xfrm>
          <a:prstGeom prst="roundRect">
            <a:avLst>
              <a:gd name="adj" fmla="val 66667"/>
            </a:avLst>
          </a:prstGeom>
          <a:solidFill>
            <a:srgbClr val="8B5CF6"/>
          </a:solidFill>
          <a:ln/>
        </p:spPr>
        <p:txBody>
          <a:bodyPr wrap="square" rtlCol="0" anchor="ctr"/>
          <a:lstStyle/>
          <a:p>
            <a:pPr indent="0" marL="0">
              <a:buNone/>
            </a:pPr>
            <a:endParaRPr lang="en-US" dirty="0"/>
          </a:p>
        </p:txBody>
      </p:sp>
      <p:sp>
        <p:nvSpPr>
          <p:cNvPr id="16" name="Text 12"/>
          <p:cNvSpPr/>
          <p:nvPr/>
        </p:nvSpPr>
        <p:spPr>
          <a:xfrm>
            <a:off x="664369" y="3887986"/>
            <a:ext cx="1858491" cy="219670"/>
          </a:xfrm>
          <a:prstGeom prst="rect">
            <a:avLst/>
          </a:prstGeom>
          <a:noFill/>
          <a:ln/>
        </p:spPr>
        <p:txBody>
          <a:bodyPr wrap="none" lIns="0" tIns="0" rIns="0" bIns="0" rtlCol="0" anchor="ctr"/>
          <a:lstStyle/>
          <a:p>
            <a:pPr algn="ctr" indent="0" marL="0">
              <a:lnSpc>
                <a:spcPts val="1055"/>
              </a:lnSpc>
              <a:buNone/>
            </a:pPr>
            <a:r>
              <a:rPr lang="en-US" sz="800" dirty="0">
                <a:solidFill>
                  <a:srgbClr val="EDEFF9"/>
                </a:solidFill>
                <a:latin typeface="Liberation Sans Narrow" pitchFamily="34" charset="0"/>
                <a:ea typeface="Liberation Sans Narrow" pitchFamily="34" charset="-122"/>
                <a:cs typeface="Liberation Sans Narrow" pitchFamily="34" charset="-120"/>
              </a:rPr>
              <a:t>CAGR 32%</a:t>
            </a:r>
            <a:endParaRPr lang="en-US" sz="800" dirty="0"/>
          </a:p>
        </p:txBody>
      </p:sp>
      <p:sp>
        <p:nvSpPr>
          <p:cNvPr id="17" name="Text 13"/>
          <p:cNvSpPr/>
          <p:nvPr/>
        </p:nvSpPr>
        <p:spPr>
          <a:xfrm>
            <a:off x="2905051" y="1575197"/>
            <a:ext cx="2265797" cy="2721769"/>
          </a:xfrm>
          <a:prstGeom prst="roundRect">
            <a:avLst>
              <a:gd name="adj" fmla="val 5885"/>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18" name="Text 14"/>
          <p:cNvSpPr/>
          <p:nvPr/>
        </p:nvSpPr>
        <p:spPr>
          <a:xfrm>
            <a:off x="3108647" y="1764506"/>
            <a:ext cx="1858603" cy="208312"/>
          </a:xfrm>
          <a:prstGeom prst="rect">
            <a:avLst/>
          </a:prstGeom>
          <a:noFill/>
          <a:ln/>
        </p:spPr>
        <p:txBody>
          <a:bodyPr wrap="none" lIns="0" tIns="0" rIns="0" bIns="0" rtlCol="0" anchor="t"/>
          <a:lstStyle/>
          <a:p>
            <a:pPr algn="l" indent="0" marL="0">
              <a:lnSpc>
                <a:spcPts val="1519"/>
              </a:lnSpc>
              <a:buNone/>
            </a:pPr>
            <a:r>
              <a:rPr lang="en-US" sz="1013" dirty="0">
                <a:solidFill>
                  <a:srgbClr val="EDEFF9"/>
                </a:solidFill>
                <a:latin typeface="Carlito" pitchFamily="34" charset="0"/>
                <a:ea typeface="Carlito" pitchFamily="34" charset="-122"/>
                <a:cs typeface="Carlito" pitchFamily="34" charset="-120"/>
              </a:rPr>
              <a:t>AI Professional Services</a:t>
            </a:r>
            <a:endParaRPr lang="en-US" sz="1013" dirty="0"/>
          </a:p>
        </p:txBody>
      </p:sp>
      <p:sp>
        <p:nvSpPr>
          <p:cNvPr id="19" name="Text 15"/>
          <p:cNvSpPr/>
          <p:nvPr/>
        </p:nvSpPr>
        <p:spPr>
          <a:xfrm>
            <a:off x="3108647" y="2591395"/>
            <a:ext cx="1858603" cy="493776"/>
          </a:xfrm>
          <a:prstGeom prst="rect">
            <a:avLst/>
          </a:prstGeom>
          <a:noFill/>
          <a:ln/>
        </p:spPr>
        <p:txBody>
          <a:bodyPr wrap="none" lIns="0" tIns="0" rIns="0" bIns="0" rtlCol="0" anchor="t"/>
          <a:lstStyle/>
          <a:p>
            <a:pPr algn="l" indent="0" marL="0">
              <a:lnSpc>
                <a:spcPts val="3600"/>
              </a:lnSpc>
              <a:buNone/>
            </a:pPr>
            <a:r>
              <a:rPr lang="en-US" sz="3600" b="1" spc="-72" kern="0" dirty="0">
                <a:solidFill>
                  <a:srgbClr val="EDEFF9"/>
                </a:solidFill>
                <a:latin typeface="Liberation Sans Narrow" pitchFamily="34" charset="0"/>
                <a:ea typeface="Liberation Sans Narrow" pitchFamily="34" charset="-122"/>
                <a:cs typeface="Liberation Sans Narrow" pitchFamily="34" charset="-120"/>
              </a:rPr>
              <a:t>$45B</a:t>
            </a:r>
            <a:endParaRPr lang="en-US" sz="3600" dirty="0"/>
          </a:p>
        </p:txBody>
      </p:sp>
      <p:sp>
        <p:nvSpPr>
          <p:cNvPr id="20" name="Text 16"/>
          <p:cNvSpPr/>
          <p:nvPr/>
        </p:nvSpPr>
        <p:spPr>
          <a:xfrm>
            <a:off x="3108647" y="3120033"/>
            <a:ext cx="1858603" cy="164592"/>
          </a:xfrm>
          <a:prstGeom prst="rect">
            <a:avLst/>
          </a:prstGeom>
          <a:noFill/>
          <a:ln/>
        </p:spPr>
        <p:txBody>
          <a:bodyPr wrap="none" lIns="0" tIns="0" rIns="0" bIns="0" rtlCol="0" anchor="t"/>
          <a:lstStyle/>
          <a:p>
            <a:pPr algn="l" indent="0" marL="0">
              <a:lnSpc>
                <a:spcPts val="1055"/>
              </a:lnSpc>
              <a:buNone/>
            </a:pPr>
            <a:r>
              <a:rPr lang="en-US" sz="800" dirty="0">
                <a:solidFill>
                  <a:srgbClr val="A7B0CE"/>
                </a:solidFill>
                <a:latin typeface="Liberation Sans Narrow" pitchFamily="34" charset="0"/>
                <a:ea typeface="Liberation Sans Narrow" pitchFamily="34" charset="-122"/>
                <a:cs typeface="Liberation Sans Narrow" pitchFamily="34" charset="-120"/>
              </a:rPr>
              <a:t>by 2026</a:t>
            </a:r>
            <a:endParaRPr lang="en-US" sz="800" dirty="0"/>
          </a:p>
        </p:txBody>
      </p:sp>
      <p:sp>
        <p:nvSpPr>
          <p:cNvPr id="21" name="Text 17"/>
          <p:cNvSpPr/>
          <p:nvPr/>
        </p:nvSpPr>
        <p:spPr>
          <a:xfrm>
            <a:off x="3112219" y="3891558"/>
            <a:ext cx="1851459" cy="212527"/>
          </a:xfrm>
          <a:prstGeom prst="roundRect">
            <a:avLst>
              <a:gd name="adj" fmla="val 4477302"/>
            </a:avLst>
          </a:prstGeom>
          <a:solidFill>
            <a:srgbClr val="8B5CF6">
              <a:alpha val="16000"/>
            </a:srgbClr>
          </a:solidFill>
          <a:ln w="7144">
            <a:solidFill>
              <a:srgbClr val="8B5CF6"/>
            </a:solidFill>
            <a:prstDash val="solid"/>
          </a:ln>
        </p:spPr>
        <p:txBody>
          <a:bodyPr wrap="square" rtlCol="0" anchor="ctr"/>
          <a:lstStyle/>
          <a:p>
            <a:pPr indent="0" marL="0">
              <a:buNone/>
            </a:pPr>
            <a:endParaRPr lang="en-US" dirty="0"/>
          </a:p>
        </p:txBody>
      </p:sp>
      <p:sp>
        <p:nvSpPr>
          <p:cNvPr id="22" name="Text 18"/>
          <p:cNvSpPr/>
          <p:nvPr/>
        </p:nvSpPr>
        <p:spPr>
          <a:xfrm>
            <a:off x="3201516" y="3972818"/>
            <a:ext cx="50006" cy="50006"/>
          </a:xfrm>
          <a:prstGeom prst="roundRect">
            <a:avLst>
              <a:gd name="adj" fmla="val 66667"/>
            </a:avLst>
          </a:prstGeom>
          <a:solidFill>
            <a:srgbClr val="8B5CF6"/>
          </a:solidFill>
          <a:ln/>
        </p:spPr>
        <p:txBody>
          <a:bodyPr wrap="square" rtlCol="0" anchor="ctr"/>
          <a:lstStyle/>
          <a:p>
            <a:pPr indent="0" marL="0">
              <a:buNone/>
            </a:pPr>
            <a:endParaRPr lang="en-US" dirty="0"/>
          </a:p>
        </p:txBody>
      </p:sp>
      <p:sp>
        <p:nvSpPr>
          <p:cNvPr id="23" name="Text 19"/>
          <p:cNvSpPr/>
          <p:nvPr/>
        </p:nvSpPr>
        <p:spPr>
          <a:xfrm>
            <a:off x="3108647" y="3887986"/>
            <a:ext cx="1858603" cy="219670"/>
          </a:xfrm>
          <a:prstGeom prst="rect">
            <a:avLst/>
          </a:prstGeom>
          <a:noFill/>
          <a:ln/>
        </p:spPr>
        <p:txBody>
          <a:bodyPr wrap="none" lIns="0" tIns="0" rIns="0" bIns="0" rtlCol="0" anchor="ctr"/>
          <a:lstStyle/>
          <a:p>
            <a:pPr algn="ctr" indent="0" marL="0">
              <a:lnSpc>
                <a:spcPts val="1055"/>
              </a:lnSpc>
              <a:buNone/>
            </a:pPr>
            <a:r>
              <a:rPr lang="en-US" sz="800" dirty="0">
                <a:solidFill>
                  <a:srgbClr val="EDEFF9"/>
                </a:solidFill>
                <a:latin typeface="Liberation Sans Narrow" pitchFamily="34" charset="0"/>
                <a:ea typeface="Liberation Sans Narrow" pitchFamily="34" charset="-122"/>
                <a:cs typeface="Liberation Sans Narrow" pitchFamily="34" charset="-120"/>
              </a:rPr>
              <a:t>CAGR 28%</a:t>
            </a:r>
            <a:endParaRPr lang="en-US" sz="800" dirty="0"/>
          </a:p>
        </p:txBody>
      </p:sp>
      <p:sp>
        <p:nvSpPr>
          <p:cNvPr id="24" name="Text 20"/>
          <p:cNvSpPr/>
          <p:nvPr/>
        </p:nvSpPr>
        <p:spPr>
          <a:xfrm>
            <a:off x="457200" y="4443413"/>
            <a:ext cx="4717219" cy="7144"/>
          </a:xfrm>
          <a:prstGeom prst="rect">
            <a:avLst/>
          </a:prstGeom>
          <a:solidFill>
            <a:srgbClr val="A7B0CE">
              <a:alpha val="18000"/>
            </a:srgbClr>
          </a:solidFill>
          <a:ln/>
        </p:spPr>
        <p:txBody>
          <a:bodyPr wrap="square" rtlCol="0" anchor="ctr"/>
          <a:lstStyle/>
          <a:p>
            <a:pPr indent="0" marL="0">
              <a:buNone/>
            </a:pPr>
            <a:endParaRPr lang="en-US" dirty="0"/>
          </a:p>
        </p:txBody>
      </p:sp>
      <p:sp>
        <p:nvSpPr>
          <p:cNvPr id="25" name="Text 21"/>
          <p:cNvSpPr/>
          <p:nvPr/>
        </p:nvSpPr>
        <p:spPr>
          <a:xfrm>
            <a:off x="457200" y="4565749"/>
            <a:ext cx="3696444" cy="164592"/>
          </a:xfrm>
          <a:prstGeom prst="rect">
            <a:avLst/>
          </a:prstGeom>
          <a:noFill/>
          <a:ln/>
        </p:spPr>
        <p:txBody>
          <a:bodyPr wrap="square" lIns="0" tIns="0" rIns="0" bIns="0" rtlCol="0" anchor="t"/>
          <a:lstStyle/>
          <a:p>
            <a:pPr algn="l" indent="0" marL="0">
              <a:lnSpc>
                <a:spcPts val="1055"/>
              </a:lnSpc>
              <a:buNone/>
            </a:pPr>
            <a:r>
              <a:rPr lang="en-US" sz="800" dirty="0">
                <a:solidFill>
                  <a:srgbClr val="A7B0CE"/>
                </a:solidFill>
                <a:latin typeface="Carlito" pitchFamily="34" charset="0"/>
                <a:ea typeface="Carlito" pitchFamily="34" charset="-122"/>
                <a:cs typeface="Carlito" pitchFamily="34" charset="-120"/>
              </a:rPr>
              <a:t>Combined addressable market</a:t>
            </a:r>
            <a:endParaRPr lang="en-US" sz="800" dirty="0"/>
          </a:p>
        </p:txBody>
      </p:sp>
      <p:sp>
        <p:nvSpPr>
          <p:cNvPr id="26" name="Text 22"/>
          <p:cNvSpPr/>
          <p:nvPr/>
        </p:nvSpPr>
        <p:spPr>
          <a:xfrm>
            <a:off x="4167932" y="4536281"/>
            <a:ext cx="1179603" cy="208312"/>
          </a:xfrm>
          <a:prstGeom prst="rect">
            <a:avLst/>
          </a:prstGeom>
          <a:noFill/>
          <a:ln/>
        </p:spPr>
        <p:txBody>
          <a:bodyPr wrap="none" lIns="0" tIns="0" rIns="0" bIns="0" rtlCol="0" anchor="t"/>
          <a:lstStyle/>
          <a:p>
            <a:pPr algn="l" indent="0" marL="0">
              <a:lnSpc>
                <a:spcPts val="1519"/>
              </a:lnSpc>
              <a:buNone/>
            </a:pPr>
            <a:r>
              <a:rPr lang="en-US" sz="1013" dirty="0">
                <a:solidFill>
                  <a:srgbClr val="EDEFF9"/>
                </a:solidFill>
                <a:latin typeface="Liberation Sans Narrow" pitchFamily="34" charset="0"/>
                <a:ea typeface="Liberation Sans Narrow" pitchFamily="34" charset="-122"/>
                <a:cs typeface="Liberation Sans Narrow" pitchFamily="34" charset="-120"/>
              </a:rPr>
              <a:t>$134B by 2026</a:t>
            </a:r>
            <a:endParaRPr lang="en-US" sz="1013" dirty="0"/>
          </a:p>
        </p:txBody>
      </p:sp>
      <p:sp>
        <p:nvSpPr>
          <p:cNvPr id="27" name="Text 23"/>
          <p:cNvSpPr/>
          <p:nvPr/>
        </p:nvSpPr>
        <p:spPr>
          <a:xfrm>
            <a:off x="5374444" y="1359098"/>
            <a:ext cx="3312356" cy="2264569"/>
          </a:xfrm>
          <a:prstGeom prst="roundRect">
            <a:avLst>
              <a:gd name="adj" fmla="val 5889"/>
            </a:avLst>
          </a:prstGeom>
          <a:solidFill>
            <a:srgbClr val="151C36"/>
          </a:solidFill>
          <a:ln/>
        </p:spPr>
        <p:txBody>
          <a:bodyPr wrap="square" rtlCol="0" anchor="ctr"/>
          <a:lstStyle/>
          <a:p>
            <a:pPr indent="0" marL="0">
              <a:buNone/>
            </a:pPr>
            <a:endParaRPr lang="en-US" dirty="0"/>
          </a:p>
        </p:txBody>
      </p:sp>
      <p:sp>
        <p:nvSpPr>
          <p:cNvPr id="28" name="Shape 24"/>
          <p:cNvSpPr/>
          <p:nvPr/>
        </p:nvSpPr>
        <p:spPr>
          <a:xfrm>
            <a:off x="5374444" y="1362670"/>
            <a:ext cx="3312356" cy="0"/>
          </a:xfrm>
          <a:prstGeom prst="line">
            <a:avLst/>
          </a:prstGeom>
          <a:noFill/>
          <a:ln w="7144">
            <a:solidFill>
              <a:srgbClr val="A7B0CE"/>
            </a:solidFill>
            <a:prstDash val="solid"/>
          </a:ln>
        </p:spPr>
      </p:sp>
      <p:sp>
        <p:nvSpPr>
          <p:cNvPr id="29" name="Shape 25"/>
          <p:cNvSpPr/>
          <p:nvPr/>
        </p:nvSpPr>
        <p:spPr>
          <a:xfrm>
            <a:off x="8683228" y="1359098"/>
            <a:ext cx="0" cy="2264569"/>
          </a:xfrm>
          <a:prstGeom prst="line">
            <a:avLst/>
          </a:prstGeom>
          <a:noFill/>
          <a:ln w="7144">
            <a:solidFill>
              <a:srgbClr val="A7B0CE"/>
            </a:solidFill>
            <a:prstDash val="solid"/>
          </a:ln>
        </p:spPr>
      </p:sp>
      <p:sp>
        <p:nvSpPr>
          <p:cNvPr id="30" name="Shape 26"/>
          <p:cNvSpPr/>
          <p:nvPr/>
        </p:nvSpPr>
        <p:spPr>
          <a:xfrm>
            <a:off x="5374444" y="3620095"/>
            <a:ext cx="3312356" cy="0"/>
          </a:xfrm>
          <a:prstGeom prst="line">
            <a:avLst/>
          </a:prstGeom>
          <a:noFill/>
          <a:ln w="7144">
            <a:solidFill>
              <a:srgbClr val="A7B0CE"/>
            </a:solidFill>
            <a:prstDash val="solid"/>
          </a:ln>
        </p:spPr>
      </p:sp>
      <p:sp>
        <p:nvSpPr>
          <p:cNvPr id="31" name="Shape 27"/>
          <p:cNvSpPr/>
          <p:nvPr/>
        </p:nvSpPr>
        <p:spPr>
          <a:xfrm>
            <a:off x="5385160" y="1359098"/>
            <a:ext cx="0" cy="2264569"/>
          </a:xfrm>
          <a:prstGeom prst="line">
            <a:avLst/>
          </a:prstGeom>
          <a:noFill/>
          <a:ln w="21431">
            <a:solidFill>
              <a:srgbClr val="8B5CF6"/>
            </a:solidFill>
            <a:prstDash val="solid"/>
          </a:ln>
        </p:spPr>
      </p:sp>
      <p:sp>
        <p:nvSpPr>
          <p:cNvPr id="32" name="Text 28"/>
          <p:cNvSpPr/>
          <p:nvPr/>
        </p:nvSpPr>
        <p:spPr>
          <a:xfrm>
            <a:off x="5581613" y="1537692"/>
            <a:ext cx="2912306" cy="164592"/>
          </a:xfrm>
          <a:prstGeom prst="rect">
            <a:avLst/>
          </a:prstGeom>
          <a:noFill/>
          <a:ln/>
        </p:spPr>
        <p:txBody>
          <a:bodyPr wrap="none" lIns="0" tIns="0" rIns="0" bIns="0" rtlCol="0" anchor="t"/>
          <a:lstStyle/>
          <a:p>
            <a:pPr algn="l" indent="0" marL="0">
              <a:lnSpc>
                <a:spcPts val="886"/>
              </a:lnSpc>
              <a:buNone/>
            </a:pPr>
            <a:r>
              <a:rPr lang="en-US" sz="800" spc="118" kern="0" dirty="0">
                <a:solidFill>
                  <a:srgbClr val="A7B0CE"/>
                </a:solidFill>
                <a:latin typeface="Courier New" pitchFamily="34" charset="0"/>
                <a:ea typeface="Courier New" pitchFamily="34" charset="-122"/>
                <a:cs typeface="Courier New" pitchFamily="34" charset="-120"/>
              </a:rPr>
              <a:t>MARKET POSITION</a:t>
            </a:r>
            <a:endParaRPr lang="en-US" sz="800" dirty="0"/>
          </a:p>
        </p:txBody>
      </p:sp>
      <p:sp>
        <p:nvSpPr>
          <p:cNvPr id="33" name="Text 29"/>
          <p:cNvSpPr/>
          <p:nvPr/>
        </p:nvSpPr>
        <p:spPr>
          <a:xfrm>
            <a:off x="5581613" y="1947676"/>
            <a:ext cx="880824" cy="469063"/>
          </a:xfrm>
          <a:prstGeom prst="rect">
            <a:avLst/>
          </a:prstGeom>
          <a:noFill/>
          <a:ln/>
        </p:spPr>
        <p:txBody>
          <a:bodyPr wrap="none" lIns="0" tIns="0" rIns="0" bIns="0" rtlCol="0" anchor="t"/>
          <a:lstStyle/>
          <a:p>
            <a:pPr algn="l" indent="0" marL="0">
              <a:lnSpc>
                <a:spcPts val="3420"/>
              </a:lnSpc>
              <a:buNone/>
            </a:pPr>
            <a:r>
              <a:rPr lang="en-US" sz="3600" b="1" dirty="0">
                <a:solidFill>
                  <a:srgbClr val="EDEFF9"/>
                </a:solidFill>
                <a:latin typeface="Liberation Sans Narrow" pitchFamily="34" charset="0"/>
                <a:ea typeface="Liberation Sans Narrow" pitchFamily="34" charset="-122"/>
                <a:cs typeface="Liberation Sans Narrow" pitchFamily="34" charset="-120"/>
              </a:rPr>
              <a:t>#2</a:t>
            </a:r>
            <a:endParaRPr lang="en-US" sz="3600" dirty="0"/>
          </a:p>
        </p:txBody>
      </p:sp>
      <p:sp>
        <p:nvSpPr>
          <p:cNvPr id="34" name="Text 30"/>
          <p:cNvSpPr/>
          <p:nvPr/>
        </p:nvSpPr>
        <p:spPr>
          <a:xfrm>
            <a:off x="6246428" y="2192685"/>
            <a:ext cx="2247491" cy="204454"/>
          </a:xfrm>
          <a:prstGeom prst="rect">
            <a:avLst/>
          </a:prstGeom>
          <a:noFill/>
          <a:ln/>
        </p:spPr>
        <p:txBody>
          <a:bodyPr wrap="square" lIns="0" tIns="0" rIns="0" bIns="28575" rtlCol="0" anchor="t"/>
          <a:lstStyle/>
          <a:p>
            <a:pPr algn="l" indent="0" marL="0">
              <a:lnSpc>
                <a:spcPts val="1266"/>
              </a:lnSpc>
              <a:buNone/>
            </a:pPr>
            <a:r>
              <a:rPr lang="en-US" sz="844" dirty="0">
                <a:solidFill>
                  <a:srgbClr val="A7B0CE"/>
                </a:solidFill>
                <a:latin typeface="Carlito" pitchFamily="34" charset="0"/>
                <a:ea typeface="Carlito" pitchFamily="34" charset="-122"/>
                <a:cs typeface="Carlito" pitchFamily="34" charset="-120"/>
              </a:rPr>
              <a:t>in enterprise AI platforms</a:t>
            </a:r>
            <a:endParaRPr lang="en-US" sz="844" dirty="0"/>
          </a:p>
        </p:txBody>
      </p:sp>
      <p:sp>
        <p:nvSpPr>
          <p:cNvPr id="35" name="Text 31"/>
          <p:cNvSpPr/>
          <p:nvPr/>
        </p:nvSpPr>
        <p:spPr>
          <a:xfrm>
            <a:off x="5581613" y="2679464"/>
            <a:ext cx="2736726" cy="164592"/>
          </a:xfrm>
          <a:prstGeom prst="rect">
            <a:avLst/>
          </a:prstGeom>
          <a:noFill/>
          <a:ln/>
        </p:spPr>
        <p:txBody>
          <a:bodyPr wrap="square" lIns="0" tIns="0" rIns="0" bIns="0" rtlCol="0" anchor="t"/>
          <a:lstStyle/>
          <a:p>
            <a:pPr algn="l" indent="0" marL="0">
              <a:lnSpc>
                <a:spcPts val="1055"/>
              </a:lnSpc>
              <a:buNone/>
            </a:pPr>
            <a:r>
              <a:rPr lang="en-US" sz="800" dirty="0">
                <a:solidFill>
                  <a:srgbClr val="A7B0CE"/>
                </a:solidFill>
                <a:latin typeface="Carlito" pitchFamily="34" charset="0"/>
                <a:ea typeface="Carlito" pitchFamily="34" charset="-122"/>
                <a:cs typeface="Carlito" pitchFamily="34" charset="-120"/>
              </a:rPr>
              <a:t>Market share</a:t>
            </a:r>
            <a:endParaRPr lang="en-US" sz="800" dirty="0"/>
          </a:p>
        </p:txBody>
      </p:sp>
      <p:sp>
        <p:nvSpPr>
          <p:cNvPr id="36" name="Text 32"/>
          <p:cNvSpPr/>
          <p:nvPr/>
        </p:nvSpPr>
        <p:spPr>
          <a:xfrm>
            <a:off x="8308608" y="2679464"/>
            <a:ext cx="209330" cy="164592"/>
          </a:xfrm>
          <a:prstGeom prst="rect">
            <a:avLst/>
          </a:prstGeom>
          <a:noFill/>
          <a:ln/>
        </p:spPr>
        <p:txBody>
          <a:bodyPr wrap="none" lIns="0" tIns="0" rIns="0" bIns="0" rtlCol="0" anchor="t"/>
          <a:lstStyle/>
          <a:p>
            <a:pPr algn="l" indent="0" marL="0">
              <a:lnSpc>
                <a:spcPts val="1055"/>
              </a:lnSpc>
              <a:buNone/>
            </a:pPr>
            <a:r>
              <a:rPr lang="en-US" sz="703" dirty="0">
                <a:solidFill>
                  <a:srgbClr val="EDEFF9"/>
                </a:solidFill>
                <a:latin typeface="Liberation Sans Narrow" pitchFamily="34" charset="0"/>
                <a:ea typeface="Liberation Sans Narrow" pitchFamily="34" charset="-122"/>
                <a:cs typeface="Liberation Sans Narrow" pitchFamily="34" charset="-120"/>
              </a:rPr>
              <a:t>18%</a:t>
            </a:r>
            <a:endParaRPr lang="en-US" sz="703" dirty="0"/>
          </a:p>
        </p:txBody>
      </p:sp>
      <p:sp>
        <p:nvSpPr>
          <p:cNvPr id="37" name="Text 33"/>
          <p:cNvSpPr/>
          <p:nvPr/>
        </p:nvSpPr>
        <p:spPr>
          <a:xfrm>
            <a:off x="5581613" y="2870560"/>
            <a:ext cx="2912306" cy="57150"/>
          </a:xfrm>
          <a:prstGeom prst="roundRect">
            <a:avLst>
              <a:gd name="adj" fmla="val 16650000"/>
            </a:avLst>
          </a:prstGeom>
          <a:solidFill>
            <a:srgbClr val="1B2342"/>
          </a:solidFill>
          <a:ln/>
        </p:spPr>
        <p:txBody>
          <a:bodyPr wrap="square" rtlCol="0" anchor="ctr"/>
          <a:lstStyle/>
          <a:p>
            <a:pPr indent="0" marL="0">
              <a:buNone/>
            </a:pPr>
            <a:endParaRPr lang="en-US" dirty="0"/>
          </a:p>
        </p:txBody>
      </p:sp>
      <p:sp>
        <p:nvSpPr>
          <p:cNvPr id="38" name="Text 34"/>
          <p:cNvSpPr/>
          <p:nvPr/>
        </p:nvSpPr>
        <p:spPr>
          <a:xfrm>
            <a:off x="5581613" y="2870560"/>
            <a:ext cx="524173" cy="57150"/>
          </a:xfrm>
          <a:prstGeom prst="roundRect">
            <a:avLst>
              <a:gd name="adj" fmla="val 16650000"/>
            </a:avLst>
          </a:prstGeom>
          <a:solidFill>
            <a:srgbClr val="8B5CF6"/>
          </a:solidFill>
          <a:ln/>
        </p:spPr>
        <p:txBody>
          <a:bodyPr wrap="square" rtlCol="0" anchor="ctr"/>
          <a:lstStyle/>
          <a:p>
            <a:pPr indent="0" marL="0">
              <a:buNone/>
            </a:pPr>
            <a:endParaRPr lang="en-US" dirty="0"/>
          </a:p>
        </p:txBody>
      </p:sp>
      <p:sp>
        <p:nvSpPr>
          <p:cNvPr id="39" name="Text 35"/>
          <p:cNvSpPr/>
          <p:nvPr/>
        </p:nvSpPr>
        <p:spPr>
          <a:xfrm>
            <a:off x="5581613" y="3268042"/>
            <a:ext cx="1823889" cy="164592"/>
          </a:xfrm>
          <a:prstGeom prst="rect">
            <a:avLst/>
          </a:prstGeom>
          <a:noFill/>
          <a:ln/>
        </p:spPr>
        <p:txBody>
          <a:bodyPr wrap="square" lIns="0" tIns="0" rIns="0" bIns="0" rtlCol="0" anchor="t"/>
          <a:lstStyle/>
          <a:p>
            <a:pPr algn="l" indent="0" marL="0">
              <a:lnSpc>
                <a:spcPts val="1055"/>
              </a:lnSpc>
              <a:buNone/>
            </a:pPr>
            <a:r>
              <a:rPr lang="en-US" sz="800" dirty="0">
                <a:solidFill>
                  <a:srgbClr val="A7B0CE"/>
                </a:solidFill>
                <a:latin typeface="Carlito" pitchFamily="34" charset="0"/>
                <a:ea typeface="Carlito" pitchFamily="34" charset="-122"/>
                <a:cs typeface="Carlito" pitchFamily="34" charset="-120"/>
              </a:rPr>
              <a:t>Fastest growing in segment</a:t>
            </a:r>
            <a:endParaRPr lang="en-US" sz="800" dirty="0"/>
          </a:p>
        </p:txBody>
      </p:sp>
      <p:sp>
        <p:nvSpPr>
          <p:cNvPr id="40" name="Text 36"/>
          <p:cNvSpPr/>
          <p:nvPr/>
        </p:nvSpPr>
        <p:spPr>
          <a:xfrm>
            <a:off x="7425504" y="3212378"/>
            <a:ext cx="1091275" cy="245274"/>
          </a:xfrm>
          <a:prstGeom prst="roundRect">
            <a:avLst>
              <a:gd name="adj" fmla="val 3879529"/>
            </a:avLst>
          </a:prstGeom>
          <a:solidFill>
            <a:srgbClr val="2DD4A7">
              <a:alpha val="14000"/>
            </a:srgbClr>
          </a:solidFill>
          <a:ln w="7144">
            <a:solidFill>
              <a:srgbClr val="2DD4A7"/>
            </a:solidFill>
            <a:prstDash val="solid"/>
          </a:ln>
        </p:spPr>
        <p:txBody>
          <a:bodyPr wrap="square" rtlCol="0" anchor="ctr"/>
          <a:lstStyle/>
          <a:p>
            <a:pPr indent="0" marL="0">
              <a:buNone/>
            </a:pPr>
            <a:endParaRPr lang="en-US" dirty="0"/>
          </a:p>
        </p:txBody>
      </p:sp>
      <p:sp>
        <p:nvSpPr>
          <p:cNvPr id="41" name="Text 37"/>
          <p:cNvSpPr/>
          <p:nvPr/>
        </p:nvSpPr>
        <p:spPr>
          <a:xfrm>
            <a:off x="7541233" y="3310012"/>
            <a:ext cx="50006" cy="50006"/>
          </a:xfrm>
          <a:prstGeom prst="roundRect">
            <a:avLst>
              <a:gd name="adj" fmla="val 66667"/>
            </a:avLst>
          </a:prstGeom>
          <a:solidFill>
            <a:srgbClr val="2DD4A7"/>
          </a:solidFill>
          <a:ln/>
        </p:spPr>
        <p:txBody>
          <a:bodyPr wrap="square" rtlCol="0" anchor="ctr"/>
          <a:lstStyle/>
          <a:p>
            <a:pPr indent="0" marL="0">
              <a:buNone/>
            </a:pPr>
            <a:endParaRPr lang="en-US" dirty="0"/>
          </a:p>
        </p:txBody>
      </p:sp>
      <p:sp>
        <p:nvSpPr>
          <p:cNvPr id="42" name="Text 38"/>
          <p:cNvSpPr/>
          <p:nvPr/>
        </p:nvSpPr>
        <p:spPr>
          <a:xfrm>
            <a:off x="7448364" y="3225180"/>
            <a:ext cx="1045555" cy="219670"/>
          </a:xfrm>
          <a:prstGeom prst="rect">
            <a:avLst/>
          </a:prstGeom>
          <a:noFill/>
          <a:ln/>
        </p:spPr>
        <p:txBody>
          <a:bodyPr wrap="none" lIns="0" tIns="0" rIns="0" bIns="0" rtlCol="0" anchor="ctr"/>
          <a:lstStyle/>
          <a:p>
            <a:pPr algn="ctr" indent="0" marL="0">
              <a:lnSpc>
                <a:spcPts val="1055"/>
              </a:lnSpc>
              <a:buNone/>
            </a:pPr>
            <a:r>
              <a:rPr lang="en-US" sz="800" dirty="0">
                <a:solidFill>
                  <a:srgbClr val="2DD4A7"/>
                </a:solidFill>
                <a:latin typeface="Liberation Sans Narrow" pitchFamily="34" charset="0"/>
                <a:ea typeface="Liberation Sans Narrow" pitchFamily="34" charset="-122"/>
                <a:cs typeface="Liberation Sans Narrow" pitchFamily="34" charset="-120"/>
              </a:rPr>
              <a:t>45% YoY growth</a:t>
            </a:r>
            <a:endParaRPr lang="en-US" sz="800" dirty="0"/>
          </a:p>
        </p:txBody>
      </p:sp>
      <p:sp>
        <p:nvSpPr>
          <p:cNvPr id="43" name="Text 39"/>
          <p:cNvSpPr/>
          <p:nvPr/>
        </p:nvSpPr>
        <p:spPr>
          <a:xfrm>
            <a:off x="5378016" y="3770114"/>
            <a:ext cx="3305212" cy="955477"/>
          </a:xfrm>
          <a:prstGeom prst="roundRect">
            <a:avLst>
              <a:gd name="adj" fmla="val 13956"/>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44" name="Text 40"/>
          <p:cNvSpPr/>
          <p:nvPr/>
        </p:nvSpPr>
        <p:spPr>
          <a:xfrm>
            <a:off x="5567325" y="3930848"/>
            <a:ext cx="3036321" cy="164592"/>
          </a:xfrm>
          <a:prstGeom prst="rect">
            <a:avLst/>
          </a:prstGeom>
          <a:noFill/>
          <a:ln/>
        </p:spPr>
        <p:txBody>
          <a:bodyPr wrap="square" lIns="0" tIns="0" rIns="0" bIns="0" rtlCol="0" anchor="t"/>
          <a:lstStyle/>
          <a:p>
            <a:pPr algn="l" indent="0" marL="0">
              <a:lnSpc>
                <a:spcPts val="886"/>
              </a:lnSpc>
              <a:buNone/>
            </a:pPr>
            <a:r>
              <a:rPr lang="en-US" sz="800" spc="118" kern="0" dirty="0">
                <a:solidFill>
                  <a:srgbClr val="A7B0CE"/>
                </a:solidFill>
                <a:latin typeface="Courier New" pitchFamily="34" charset="0"/>
                <a:ea typeface="Courier New" pitchFamily="34" charset="-122"/>
                <a:cs typeface="Courier New" pitchFamily="34" charset="-120"/>
              </a:rPr>
              <a:t>COMPETITIVE DIFFERENTIATION</a:t>
            </a:r>
            <a:endParaRPr lang="en-US" sz="800" dirty="0"/>
          </a:p>
        </p:txBody>
      </p:sp>
      <p:sp>
        <p:nvSpPr>
          <p:cNvPr id="45" name="Text 41"/>
          <p:cNvSpPr/>
          <p:nvPr/>
        </p:nvSpPr>
        <p:spPr>
          <a:xfrm>
            <a:off x="5567325" y="4157663"/>
            <a:ext cx="142875" cy="142875"/>
          </a:xfrm>
          <a:prstGeom prst="rect">
            <a:avLst/>
          </a:prstGeom>
          <a:noFill/>
          <a:ln/>
        </p:spPr>
        <p:txBody>
          <a:bodyPr wrap="none" lIns="0" tIns="0" rIns="0" bIns="0" rtlCol="0" anchor="ctr"/>
          <a:lstStyle/>
          <a:p>
            <a:pPr algn="ctr" indent="0" marL="0">
              <a:buNone/>
            </a:pPr>
            <a:r>
              <a:rPr lang="en-US" sz="1406" dirty="0">
                <a:solidFill>
                  <a:srgbClr val="8B5CF6"/>
                </a:solidFill>
                <a:latin typeface="Segoe UI Symbol" pitchFamily="34" charset="0"/>
                <a:ea typeface="Segoe UI Symbol" pitchFamily="34" charset="-122"/>
                <a:cs typeface="Segoe UI Symbol" pitchFamily="34" charset="-120"/>
              </a:rPr>
              <a:t>♛</a:t>
            </a:r>
            <a:endParaRPr lang="en-US" sz="1406" dirty="0"/>
          </a:p>
        </p:txBody>
      </p:sp>
      <p:sp>
        <p:nvSpPr>
          <p:cNvPr id="46" name="Text 42"/>
          <p:cNvSpPr/>
          <p:nvPr/>
        </p:nvSpPr>
        <p:spPr>
          <a:xfrm>
            <a:off x="5795925" y="4157663"/>
            <a:ext cx="2697993" cy="173593"/>
          </a:xfrm>
          <a:prstGeom prst="rect">
            <a:avLst/>
          </a:prstGeom>
          <a:noFill/>
          <a:ln/>
        </p:spPr>
        <p:txBody>
          <a:bodyPr wrap="square" lIns="0" tIns="0" rIns="0" bIns="0" rtlCol="0" anchor="t"/>
          <a:lstStyle/>
          <a:p>
            <a:pPr algn="l" indent="0" marL="0">
              <a:lnSpc>
                <a:spcPts val="1266"/>
              </a:lnSpc>
              <a:buNone/>
            </a:pPr>
            <a:r>
              <a:rPr lang="en-US" sz="844" dirty="0">
                <a:solidFill>
                  <a:srgbClr val="EDEFF9"/>
                </a:solidFill>
                <a:latin typeface="Carlito" pitchFamily="34" charset="0"/>
                <a:ea typeface="Carlito" pitchFamily="34" charset="-122"/>
                <a:cs typeface="Carlito" pitchFamily="34" charset="-120"/>
              </a:rPr>
              <a:t>Most comprehensive enterprise AI solution</a:t>
            </a:r>
            <a:endParaRPr lang="en-US" sz="844" dirty="0"/>
          </a:p>
        </p:txBody>
      </p:sp>
      <p:sp>
        <p:nvSpPr>
          <p:cNvPr id="47" name="Text 43"/>
          <p:cNvSpPr/>
          <p:nvPr/>
        </p:nvSpPr>
        <p:spPr>
          <a:xfrm>
            <a:off x="5567325" y="4404122"/>
            <a:ext cx="142875" cy="142875"/>
          </a:xfrm>
          <a:prstGeom prst="rect">
            <a:avLst/>
          </a:prstGeom>
          <a:noFill/>
          <a:ln/>
        </p:spPr>
        <p:txBody>
          <a:bodyPr wrap="none" lIns="0" tIns="0" rIns="0" bIns="0" rtlCol="0" anchor="ctr"/>
          <a:lstStyle/>
          <a:p>
            <a:pPr algn="ctr" indent="0" marL="0">
              <a:buNone/>
            </a:pPr>
            <a:r>
              <a:rPr lang="en-US" sz="1406" dirty="0">
                <a:solidFill>
                  <a:srgbClr val="8B5CF6"/>
                </a:solidFill>
                <a:latin typeface="Segoe UI Symbol" pitchFamily="34" charset="0"/>
                <a:ea typeface="Segoe UI Symbol" pitchFamily="34" charset="-122"/>
                <a:cs typeface="Segoe UI Symbol" pitchFamily="34" charset="-120"/>
              </a:rPr>
              <a:t>↑</a:t>
            </a:r>
            <a:endParaRPr lang="en-US" sz="1406" dirty="0"/>
          </a:p>
        </p:txBody>
      </p:sp>
      <p:sp>
        <p:nvSpPr>
          <p:cNvPr id="48" name="Text 44"/>
          <p:cNvSpPr/>
          <p:nvPr/>
        </p:nvSpPr>
        <p:spPr>
          <a:xfrm>
            <a:off x="5795925" y="4404122"/>
            <a:ext cx="2697993" cy="160734"/>
          </a:xfrm>
          <a:prstGeom prst="rect">
            <a:avLst/>
          </a:prstGeom>
          <a:noFill/>
          <a:ln/>
        </p:spPr>
        <p:txBody>
          <a:bodyPr wrap="square" lIns="0" tIns="0" rIns="0" bIns="0" rtlCol="0" anchor="t"/>
          <a:lstStyle/>
          <a:p>
            <a:pPr algn="l" indent="0" marL="0">
              <a:lnSpc>
                <a:spcPts val="1266"/>
              </a:lnSpc>
              <a:buNone/>
            </a:pPr>
            <a:r>
              <a:rPr lang="en-US" sz="844" dirty="0">
                <a:solidFill>
                  <a:srgbClr val="EDEFF9"/>
                </a:solidFill>
                <a:latin typeface="Carlito" pitchFamily="34" charset="0"/>
                <a:ea typeface="Carlito" pitchFamily="34" charset="-122"/>
                <a:cs typeface="Carlito" pitchFamily="34" charset="-120"/>
              </a:rPr>
              <a:t>Highest customer satisfaction in segment</a:t>
            </a:r>
            <a:endParaRPr lang="en-US" sz="84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3000" y="-1714500"/>
            <a:ext cx="3857625" cy="3857625"/>
          </a:xfrm>
          <a:prstGeom prst="rect">
            <a:avLst/>
          </a:prstGeom>
        </p:spPr>
      </p:pic>
      <p:sp>
        <p:nvSpPr>
          <p:cNvPr id="3" name="Text 0"/>
          <p:cNvSpPr/>
          <p:nvPr/>
        </p:nvSpPr>
        <p:spPr>
          <a:xfrm>
            <a:off x="-1143000" y="-1714500"/>
            <a:ext cx="3857625" cy="3857625"/>
          </a:xfrm>
          <a:prstGeom prst="ellipse">
            <a:avLst/>
          </a:prstGeom>
          <a:solidFill>
            <a:srgbClr val="FFFFFF">
              <a:alpha val="0"/>
            </a:srgbClr>
          </a:solidFill>
          <a:ln/>
        </p:spPr>
        <p:txBody>
          <a:bodyPr wrap="square" rtlCol="0" anchor="ctr"/>
          <a:lstStyle/>
          <a:p>
            <a:pPr indent="0" marL="0">
              <a:buNone/>
            </a:pPr>
            <a:endParaRPr lang="en-US" dirty="0"/>
          </a:p>
        </p:txBody>
      </p:sp>
      <p:sp>
        <p:nvSpPr>
          <p:cNvPr id="4" name="Text 1"/>
          <p:cNvSpPr/>
          <p:nvPr/>
        </p:nvSpPr>
        <p:spPr>
          <a:xfrm>
            <a:off x="457200" y="400050"/>
            <a:ext cx="8636000" cy="164592"/>
          </a:xfrm>
          <a:prstGeom prst="rect">
            <a:avLst/>
          </a:prstGeom>
          <a:noFill/>
          <a:ln/>
        </p:spPr>
        <p:txBody>
          <a:bodyPr wrap="none" lIns="0" tIns="0" rIns="0" bIns="0" rtlCol="0" anchor="t"/>
          <a:lstStyle/>
          <a:p>
            <a:pPr algn="l" indent="0" marL="0">
              <a:lnSpc>
                <a:spcPts val="886"/>
              </a:lnSpc>
              <a:buNone/>
            </a:pPr>
            <a:r>
              <a:rPr lang="en-US" sz="800" spc="130" kern="0" dirty="0">
                <a:solidFill>
                  <a:srgbClr val="8B5CF6"/>
                </a:solidFill>
                <a:latin typeface="Courier New" pitchFamily="34" charset="0"/>
                <a:ea typeface="Courier New" pitchFamily="34" charset="-122"/>
                <a:cs typeface="Courier New" pitchFamily="34" charset="-120"/>
              </a:rPr>
              <a:t>GO-TO-MARKET STRATEGY</a:t>
            </a:r>
            <a:endParaRPr lang="en-US" sz="800" dirty="0"/>
          </a:p>
        </p:txBody>
      </p:sp>
      <p:sp>
        <p:nvSpPr>
          <p:cNvPr id="5" name="Text 2"/>
          <p:cNvSpPr/>
          <p:nvPr/>
        </p:nvSpPr>
        <p:spPr>
          <a:xfrm>
            <a:off x="457200" y="598289"/>
            <a:ext cx="8636000" cy="354902"/>
          </a:xfrm>
          <a:prstGeom prst="rect">
            <a:avLst/>
          </a:prstGeom>
          <a:noFill/>
          <a:ln/>
        </p:spPr>
        <p:txBody>
          <a:bodyPr wrap="square" lIns="0" tIns="0" rIns="0" bIns="0" rtlCol="0" anchor="t"/>
          <a:lstStyle/>
          <a:p>
            <a:pPr algn="l" indent="0" marL="0">
              <a:lnSpc>
                <a:spcPts val="2588"/>
              </a:lnSpc>
              <a:buNone/>
            </a:pPr>
            <a:r>
              <a:rPr lang="en-US" sz="2250" b="1" spc="-34" kern="0" dirty="0">
                <a:solidFill>
                  <a:srgbClr val="EDEFF9"/>
                </a:solidFill>
                <a:latin typeface="Carlito" pitchFamily="34" charset="0"/>
                <a:ea typeface="Carlito" pitchFamily="34" charset="-122"/>
                <a:cs typeface="Carlito" pitchFamily="34" charset="-120"/>
              </a:rPr>
              <a:t>Scaling Sales &amp; Marketing Efficiency</a:t>
            </a:r>
            <a:endParaRPr lang="en-US" sz="2250" dirty="0"/>
          </a:p>
        </p:txBody>
      </p:sp>
      <p:sp>
        <p:nvSpPr>
          <p:cNvPr id="6" name="Text 3"/>
          <p:cNvSpPr/>
          <p:nvPr/>
        </p:nvSpPr>
        <p:spPr>
          <a:xfrm>
            <a:off x="457200" y="998339"/>
            <a:ext cx="5000625" cy="173593"/>
          </a:xfrm>
          <a:prstGeom prst="rect">
            <a:avLst/>
          </a:prstGeom>
          <a:noFill/>
          <a:ln/>
        </p:spPr>
        <p:txBody>
          <a:bodyPr wrap="square" lIns="0" tIns="0" rIns="0" bIns="0" rtlCol="0" anchor="t"/>
          <a:lstStyle/>
          <a:p>
            <a:pPr algn="l" indent="0" marL="0">
              <a:lnSpc>
                <a:spcPts val="1266"/>
              </a:lnSpc>
              <a:buNone/>
            </a:pPr>
            <a:r>
              <a:rPr lang="en-US" sz="844" dirty="0">
                <a:solidFill>
                  <a:srgbClr val="A7B0CE"/>
                </a:solidFill>
                <a:latin typeface="Carlito" pitchFamily="34" charset="0"/>
                <a:ea typeface="Carlito" pitchFamily="34" charset="-122"/>
                <a:cs typeface="Carlito" pitchFamily="34" charset="-120"/>
              </a:rPr>
              <a:t>Investing ahead of growth — while every efficiency metric moves in the right direction.</a:t>
            </a:r>
            <a:endParaRPr lang="en-US" sz="844" dirty="0"/>
          </a:p>
        </p:txBody>
      </p:sp>
      <p:sp>
        <p:nvSpPr>
          <p:cNvPr id="7" name="Text 4"/>
          <p:cNvSpPr/>
          <p:nvPr/>
        </p:nvSpPr>
        <p:spPr>
          <a:xfrm>
            <a:off x="460772" y="1362670"/>
            <a:ext cx="1693069" cy="3362920"/>
          </a:xfrm>
          <a:prstGeom prst="roundRect">
            <a:avLst>
              <a:gd name="adj" fmla="val 7876"/>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8" name="Text 5"/>
          <p:cNvSpPr/>
          <p:nvPr/>
        </p:nvSpPr>
        <p:spPr>
          <a:xfrm>
            <a:off x="635794" y="1537692"/>
            <a:ext cx="1343025" cy="91440"/>
          </a:xfrm>
          <a:prstGeom prst="rect">
            <a:avLst/>
          </a:prstGeom>
          <a:noFill/>
          <a:ln/>
        </p:spPr>
        <p:txBody>
          <a:bodyPr wrap="none" lIns="0" tIns="0" rIns="0" bIns="0" rtlCol="0" anchor="t">
            <a:normAutofit/>
          </a:bodyPr>
          <a:lstStyle/>
          <a:p>
            <a:pPr algn="l" indent="0" marL="0">
              <a:lnSpc>
                <a:spcPts val="886"/>
              </a:lnSpc>
              <a:buNone/>
            </a:pPr>
            <a:r>
              <a:rPr lang="en-US" sz="800" spc="118" kern="0" dirty="0">
                <a:solidFill>
                  <a:srgbClr val="A7B0CE"/>
                </a:solidFill>
                <a:latin typeface="Courier New" pitchFamily="34" charset="0"/>
                <a:ea typeface="Courier New" pitchFamily="34" charset="-122"/>
                <a:cs typeface="Courier New" pitchFamily="34" charset="-120"/>
              </a:rPr>
              <a:t>PIPELINE</a:t>
            </a:r>
            <a:endParaRPr lang="en-US" sz="800" dirty="0"/>
          </a:p>
        </p:txBody>
      </p:sp>
      <p:sp>
        <p:nvSpPr>
          <p:cNvPr id="9" name="Text 6"/>
          <p:cNvSpPr/>
          <p:nvPr/>
        </p:nvSpPr>
        <p:spPr>
          <a:xfrm>
            <a:off x="635794" y="2119015"/>
            <a:ext cx="1343025" cy="164592"/>
          </a:xfrm>
          <a:prstGeom prst="rect">
            <a:avLst/>
          </a:prstGeom>
          <a:noFill/>
          <a:ln/>
        </p:spPr>
        <p:txBody>
          <a:bodyPr wrap="none" lIns="0" tIns="0" rIns="0" bIns="0" rtlCol="0" anchor="t"/>
          <a:lstStyle/>
          <a:p>
            <a:pPr algn="l" indent="0" marL="0">
              <a:lnSpc>
                <a:spcPts val="1055"/>
              </a:lnSpc>
              <a:buNone/>
            </a:pPr>
            <a:r>
              <a:rPr lang="en-US" sz="800" dirty="0">
                <a:solidFill>
                  <a:srgbClr val="EDEFF9"/>
                </a:solidFill>
                <a:latin typeface="Carlito" pitchFamily="34" charset="0"/>
                <a:ea typeface="Carlito" pitchFamily="34" charset="-122"/>
                <a:cs typeface="Carlito" pitchFamily="34" charset="-120"/>
              </a:rPr>
              <a:t>Leads</a:t>
            </a:r>
            <a:endParaRPr lang="en-US" sz="800" dirty="0"/>
          </a:p>
        </p:txBody>
      </p:sp>
      <p:pic>
        <p:nvPicPr>
          <p:cNvPr id="10" name="Image 1" descr="preencoded.png">    </p:cNvPr>
          <p:cNvPicPr>
            <a:picLocks noChangeAspect="1"/>
          </p:cNvPicPr>
          <p:nvPr/>
        </p:nvPicPr>
        <p:blipFill>
          <a:blip r:embed="rId2"/>
          <a:stretch>
            <a:fillRect/>
          </a:stretch>
        </p:blipFill>
        <p:spPr>
          <a:xfrm>
            <a:off x="635794" y="2295823"/>
            <a:ext cx="1343025" cy="185738"/>
          </a:xfrm>
          <a:prstGeom prst="rect">
            <a:avLst/>
          </a:prstGeom>
        </p:spPr>
      </p:pic>
      <p:sp>
        <p:nvSpPr>
          <p:cNvPr id="11" name="Text 7"/>
          <p:cNvSpPr/>
          <p:nvPr/>
        </p:nvSpPr>
        <p:spPr>
          <a:xfrm>
            <a:off x="1250156" y="2552998"/>
            <a:ext cx="114300" cy="114300"/>
          </a:xfrm>
          <a:prstGeom prst="rect">
            <a:avLst/>
          </a:prstGeom>
          <a:noFill/>
          <a:ln/>
        </p:spPr>
        <p:txBody>
          <a:bodyPr wrap="none" lIns="0" tIns="0" rIns="0" bIns="0" rtlCol="0" anchor="ctr"/>
          <a:lstStyle/>
          <a:p>
            <a:pPr algn="ctr" indent="0" marL="0">
              <a:buNone/>
            </a:pPr>
            <a:r>
              <a:rPr lang="en-US" sz="1125" dirty="0">
                <a:solidFill>
                  <a:srgbClr val="6B7699"/>
                </a:solidFill>
                <a:latin typeface="Segoe UI Symbol" pitchFamily="34" charset="0"/>
                <a:ea typeface="Segoe UI Symbol" pitchFamily="34" charset="-122"/>
                <a:cs typeface="Segoe UI Symbol" pitchFamily="34" charset="-120"/>
              </a:rPr>
              <a:t>↓</a:t>
            </a:r>
            <a:endParaRPr lang="en-US" sz="1125" dirty="0"/>
          </a:p>
        </p:txBody>
      </p:sp>
      <p:sp>
        <p:nvSpPr>
          <p:cNvPr id="12" name="Text 8"/>
          <p:cNvSpPr/>
          <p:nvPr/>
        </p:nvSpPr>
        <p:spPr>
          <a:xfrm>
            <a:off x="635794" y="2738735"/>
            <a:ext cx="1343025" cy="164592"/>
          </a:xfrm>
          <a:prstGeom prst="rect">
            <a:avLst/>
          </a:prstGeom>
          <a:noFill/>
          <a:ln/>
        </p:spPr>
        <p:txBody>
          <a:bodyPr wrap="none" lIns="0" tIns="0" rIns="0" bIns="0" rtlCol="0" anchor="t"/>
          <a:lstStyle/>
          <a:p>
            <a:pPr algn="l" indent="0" marL="0">
              <a:lnSpc>
                <a:spcPts val="1055"/>
              </a:lnSpc>
              <a:buNone/>
            </a:pPr>
            <a:r>
              <a:rPr lang="en-US" sz="800" dirty="0">
                <a:solidFill>
                  <a:srgbClr val="EDEFF9"/>
                </a:solidFill>
                <a:latin typeface="Carlito" pitchFamily="34" charset="0"/>
                <a:ea typeface="Carlito" pitchFamily="34" charset="-122"/>
                <a:cs typeface="Carlito" pitchFamily="34" charset="-120"/>
              </a:rPr>
              <a:t>Qualified</a:t>
            </a:r>
            <a:endParaRPr lang="en-US" sz="800" dirty="0"/>
          </a:p>
        </p:txBody>
      </p:sp>
      <p:pic>
        <p:nvPicPr>
          <p:cNvPr id="13" name="Image 2" descr="preencoded.png">    </p:cNvPr>
          <p:cNvPicPr>
            <a:picLocks noChangeAspect="1"/>
          </p:cNvPicPr>
          <p:nvPr/>
        </p:nvPicPr>
        <p:blipFill>
          <a:blip r:embed="rId3"/>
          <a:stretch>
            <a:fillRect/>
          </a:stretch>
        </p:blipFill>
        <p:spPr>
          <a:xfrm>
            <a:off x="635794" y="2915543"/>
            <a:ext cx="778892" cy="185738"/>
          </a:xfrm>
          <a:prstGeom prst="rect">
            <a:avLst/>
          </a:prstGeom>
        </p:spPr>
      </p:pic>
      <p:sp>
        <p:nvSpPr>
          <p:cNvPr id="14" name="Text 9"/>
          <p:cNvSpPr/>
          <p:nvPr/>
        </p:nvSpPr>
        <p:spPr>
          <a:xfrm>
            <a:off x="1250156" y="3172718"/>
            <a:ext cx="114300" cy="114300"/>
          </a:xfrm>
          <a:prstGeom prst="rect">
            <a:avLst/>
          </a:prstGeom>
          <a:noFill/>
          <a:ln/>
        </p:spPr>
        <p:txBody>
          <a:bodyPr wrap="none" lIns="0" tIns="0" rIns="0" bIns="0" rtlCol="0" anchor="ctr"/>
          <a:lstStyle/>
          <a:p>
            <a:pPr algn="ctr" indent="0" marL="0">
              <a:buNone/>
            </a:pPr>
            <a:r>
              <a:rPr lang="en-US" sz="1125" dirty="0">
                <a:solidFill>
                  <a:srgbClr val="6B7699"/>
                </a:solidFill>
                <a:latin typeface="Segoe UI Symbol" pitchFamily="34" charset="0"/>
                <a:ea typeface="Segoe UI Symbol" pitchFamily="34" charset="-122"/>
                <a:cs typeface="Segoe UI Symbol" pitchFamily="34" charset="-120"/>
              </a:rPr>
              <a:t>↓</a:t>
            </a:r>
            <a:endParaRPr lang="en-US" sz="1125" dirty="0"/>
          </a:p>
        </p:txBody>
      </p:sp>
      <p:sp>
        <p:nvSpPr>
          <p:cNvPr id="15" name="Text 10"/>
          <p:cNvSpPr/>
          <p:nvPr/>
        </p:nvSpPr>
        <p:spPr>
          <a:xfrm>
            <a:off x="635794" y="3358455"/>
            <a:ext cx="1343025" cy="164592"/>
          </a:xfrm>
          <a:prstGeom prst="rect">
            <a:avLst/>
          </a:prstGeom>
          <a:noFill/>
          <a:ln/>
        </p:spPr>
        <p:txBody>
          <a:bodyPr wrap="none" lIns="0" tIns="0" rIns="0" bIns="0" rtlCol="0" anchor="t"/>
          <a:lstStyle/>
          <a:p>
            <a:pPr algn="l" indent="0" marL="0">
              <a:lnSpc>
                <a:spcPts val="1055"/>
              </a:lnSpc>
              <a:buNone/>
            </a:pPr>
            <a:r>
              <a:rPr lang="en-US" sz="800" dirty="0">
                <a:solidFill>
                  <a:srgbClr val="EDEFF9"/>
                </a:solidFill>
                <a:latin typeface="Carlito" pitchFamily="34" charset="0"/>
                <a:ea typeface="Carlito" pitchFamily="34" charset="-122"/>
                <a:cs typeface="Carlito" pitchFamily="34" charset="-120"/>
              </a:rPr>
              <a:t>Customers</a:t>
            </a:r>
            <a:endParaRPr lang="en-US" sz="800" dirty="0"/>
          </a:p>
        </p:txBody>
      </p:sp>
      <p:pic>
        <p:nvPicPr>
          <p:cNvPr id="16" name="Image 3" descr="preencoded.png">    </p:cNvPr>
          <p:cNvPicPr>
            <a:picLocks noChangeAspect="1"/>
          </p:cNvPicPr>
          <p:nvPr/>
        </p:nvPicPr>
        <p:blipFill>
          <a:blip r:embed="rId4"/>
          <a:stretch>
            <a:fillRect/>
          </a:stretch>
        </p:blipFill>
        <p:spPr>
          <a:xfrm>
            <a:off x="635794" y="3535263"/>
            <a:ext cx="402841" cy="185738"/>
          </a:xfrm>
          <a:prstGeom prst="rect">
            <a:avLst/>
          </a:prstGeom>
        </p:spPr>
      </p:pic>
      <p:sp>
        <p:nvSpPr>
          <p:cNvPr id="17" name="Text 11"/>
          <p:cNvSpPr/>
          <p:nvPr/>
        </p:nvSpPr>
        <p:spPr>
          <a:xfrm>
            <a:off x="635794" y="4189809"/>
            <a:ext cx="1343025" cy="7144"/>
          </a:xfrm>
          <a:prstGeom prst="rect">
            <a:avLst/>
          </a:prstGeom>
          <a:solidFill>
            <a:srgbClr val="A7B0CE">
              <a:alpha val="18000"/>
            </a:srgbClr>
          </a:solidFill>
          <a:ln/>
        </p:spPr>
        <p:txBody>
          <a:bodyPr wrap="square" rtlCol="0" anchor="ctr"/>
          <a:lstStyle/>
          <a:p>
            <a:pPr indent="0" marL="0">
              <a:buNone/>
            </a:pPr>
            <a:endParaRPr lang="en-US" dirty="0"/>
          </a:p>
        </p:txBody>
      </p:sp>
      <p:sp>
        <p:nvSpPr>
          <p:cNvPr id="18" name="Text 12"/>
          <p:cNvSpPr/>
          <p:nvPr/>
        </p:nvSpPr>
        <p:spPr>
          <a:xfrm>
            <a:off x="635794" y="4282678"/>
            <a:ext cx="1423607" cy="267891"/>
          </a:xfrm>
          <a:prstGeom prst="rect">
            <a:avLst/>
          </a:prstGeom>
          <a:noFill/>
          <a:ln/>
        </p:spPr>
        <p:txBody>
          <a:bodyPr wrap="square" lIns="0" tIns="0" rIns="0" bIns="0" rtlCol="0" anchor="t"/>
          <a:lstStyle/>
          <a:p>
            <a:pPr algn="l" indent="0" marL="0">
              <a:lnSpc>
                <a:spcPts val="1055"/>
              </a:lnSpc>
              <a:buNone/>
            </a:pPr>
            <a:r>
              <a:rPr lang="en-US" sz="800" dirty="0">
                <a:solidFill>
                  <a:srgbClr val="A7B0CE"/>
                </a:solidFill>
                <a:latin typeface="Carlito" pitchFamily="34" charset="0"/>
                <a:ea typeface="Carlito" pitchFamily="34" charset="-122"/>
                <a:cs typeface="Carlito" pitchFamily="34" charset="-120"/>
              </a:rPr>
              <a:t>Efficiency gains compound at every stage of the funnel.</a:t>
            </a:r>
            <a:endParaRPr lang="en-US" sz="800" dirty="0"/>
          </a:p>
        </p:txBody>
      </p:sp>
      <p:sp>
        <p:nvSpPr>
          <p:cNvPr id="19" name="Text 13"/>
          <p:cNvSpPr/>
          <p:nvPr/>
        </p:nvSpPr>
        <p:spPr>
          <a:xfrm>
            <a:off x="2361009" y="1362670"/>
            <a:ext cx="1988307" cy="3362920"/>
          </a:xfrm>
          <a:prstGeom prst="roundRect">
            <a:avLst>
              <a:gd name="adj" fmla="val 6707"/>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20" name="Text 14"/>
          <p:cNvSpPr/>
          <p:nvPr/>
        </p:nvSpPr>
        <p:spPr>
          <a:xfrm>
            <a:off x="2536031" y="1537692"/>
            <a:ext cx="271463" cy="271463"/>
          </a:xfrm>
          <a:prstGeom prst="roundRect">
            <a:avLst>
              <a:gd name="adj" fmla="val 35088"/>
            </a:avLst>
          </a:prstGeom>
          <a:solidFill>
            <a:srgbClr val="8B5CF6">
              <a:alpha val="16000"/>
            </a:srgbClr>
          </a:solidFill>
          <a:ln/>
        </p:spPr>
        <p:txBody>
          <a:bodyPr wrap="square" rtlCol="0" anchor="ctr"/>
          <a:lstStyle/>
          <a:p>
            <a:pPr indent="0" marL="0">
              <a:buNone/>
            </a:pPr>
            <a:endParaRPr lang="en-US" dirty="0"/>
          </a:p>
        </p:txBody>
      </p:sp>
      <p:sp>
        <p:nvSpPr>
          <p:cNvPr id="21" name="Text 15"/>
          <p:cNvSpPr/>
          <p:nvPr/>
        </p:nvSpPr>
        <p:spPr>
          <a:xfrm>
            <a:off x="2562999" y="1564660"/>
            <a:ext cx="217527" cy="217527"/>
          </a:xfrm>
          <a:prstGeom prst="rect">
            <a:avLst/>
          </a:prstGeom>
          <a:noFill/>
          <a:ln/>
        </p:spPr>
        <p:txBody>
          <a:bodyPr wrap="none" lIns="0" tIns="0" rIns="0" bIns="0" rtlCol="0" anchor="ctr"/>
          <a:lstStyle/>
          <a:p>
            <a:pPr algn="ctr" indent="0" marL="0">
              <a:buNone/>
            </a:pPr>
            <a:r>
              <a:rPr lang="en-US" sz="1477" dirty="0">
                <a:solidFill>
                  <a:srgbClr val="8B5CF6"/>
                </a:solidFill>
                <a:latin typeface="Segoe UI Symbol" pitchFamily="34" charset="0"/>
                <a:ea typeface="Segoe UI Symbol" pitchFamily="34" charset="-122"/>
                <a:cs typeface="Segoe UI Symbol" pitchFamily="34" charset="-120"/>
              </a:rPr>
              <a:t>♟</a:t>
            </a:r>
            <a:endParaRPr lang="en-US" sz="1477" dirty="0"/>
          </a:p>
        </p:txBody>
      </p:sp>
      <p:sp>
        <p:nvSpPr>
          <p:cNvPr id="22" name="Text 16"/>
          <p:cNvSpPr/>
          <p:nvPr/>
        </p:nvSpPr>
        <p:spPr>
          <a:xfrm>
            <a:off x="2893219" y="1576983"/>
            <a:ext cx="1281075" cy="208312"/>
          </a:xfrm>
          <a:prstGeom prst="rect">
            <a:avLst/>
          </a:prstGeom>
          <a:noFill/>
          <a:ln/>
        </p:spPr>
        <p:txBody>
          <a:bodyPr wrap="none" lIns="0" tIns="0" rIns="0" bIns="0" rtlCol="0" anchor="t"/>
          <a:lstStyle/>
          <a:p>
            <a:pPr algn="l" indent="0" marL="0">
              <a:lnSpc>
                <a:spcPts val="1519"/>
              </a:lnSpc>
              <a:buNone/>
            </a:pPr>
            <a:r>
              <a:rPr lang="en-US" sz="1013" dirty="0">
                <a:solidFill>
                  <a:srgbClr val="EDEFF9"/>
                </a:solidFill>
                <a:latin typeface="Carlito" pitchFamily="34" charset="0"/>
                <a:ea typeface="Carlito" pitchFamily="34" charset="-122"/>
                <a:cs typeface="Carlito" pitchFamily="34" charset="-120"/>
              </a:rPr>
              <a:t>Sales Expansion</a:t>
            </a:r>
            <a:endParaRPr lang="en-US" sz="1013" dirty="0"/>
          </a:p>
        </p:txBody>
      </p:sp>
      <p:sp>
        <p:nvSpPr>
          <p:cNvPr id="23" name="Text 17"/>
          <p:cNvSpPr/>
          <p:nvPr/>
        </p:nvSpPr>
        <p:spPr>
          <a:xfrm>
            <a:off x="2536031" y="1937742"/>
            <a:ext cx="1638263" cy="7144"/>
          </a:xfrm>
          <a:prstGeom prst="rect">
            <a:avLst/>
          </a:prstGeom>
          <a:solidFill>
            <a:srgbClr val="A7B0CE">
              <a:alpha val="18000"/>
            </a:srgbClr>
          </a:solidFill>
          <a:ln/>
        </p:spPr>
        <p:txBody>
          <a:bodyPr wrap="square" rtlCol="0" anchor="ctr"/>
          <a:lstStyle/>
          <a:p>
            <a:pPr indent="0" marL="0">
              <a:buNone/>
            </a:pPr>
            <a:endParaRPr lang="en-US" dirty="0"/>
          </a:p>
        </p:txBody>
      </p:sp>
      <p:sp>
        <p:nvSpPr>
          <p:cNvPr id="24" name="Text 18"/>
          <p:cNvSpPr/>
          <p:nvPr/>
        </p:nvSpPr>
        <p:spPr>
          <a:xfrm>
            <a:off x="2536031" y="2328863"/>
            <a:ext cx="1638263" cy="398179"/>
          </a:xfrm>
          <a:prstGeom prst="rect">
            <a:avLst/>
          </a:prstGeom>
          <a:noFill/>
          <a:ln/>
        </p:spPr>
        <p:txBody>
          <a:bodyPr wrap="square" lIns="0" tIns="0" rIns="0" bIns="0" rtlCol="0" anchor="t"/>
          <a:lstStyle/>
          <a:p>
            <a:pPr algn="l" indent="0" marL="0">
              <a:lnSpc>
                <a:spcPts val="1596"/>
              </a:lnSpc>
              <a:buNone/>
            </a:pPr>
            <a:r>
              <a:rPr lang="en-US" sz="844" dirty="0">
                <a:solidFill>
                  <a:srgbClr val="A7B0CE"/>
                </a:solidFill>
                <a:latin typeface="Carlito" pitchFamily="34" charset="0"/>
                <a:ea typeface="Carlito" pitchFamily="34" charset="-122"/>
                <a:cs typeface="Carlito" pitchFamily="34" charset="-120"/>
              </a:rPr>
              <a:t>Enterprise sales team increased by </a:t>
            </a:r>
            <a:pPr algn="l" indent="0" marL="0">
              <a:lnSpc>
                <a:spcPts val="1596"/>
              </a:lnSpc>
              <a:buNone/>
            </a:pPr>
            <a:r>
              <a:rPr lang="en-US" sz="1029" b="1" dirty="0">
                <a:solidFill>
                  <a:srgbClr val="2DD4A7"/>
                </a:solidFill>
                <a:latin typeface="Liberation Sans Narrow" pitchFamily="34" charset="0"/>
                <a:ea typeface="Liberation Sans Narrow" pitchFamily="34" charset="-122"/>
                <a:cs typeface="Liberation Sans Narrow" pitchFamily="34" charset="-120"/>
              </a:rPr>
              <a:t>40%</a:t>
            </a:r>
            <a:endParaRPr lang="en-US" sz="844" dirty="0"/>
          </a:p>
        </p:txBody>
      </p:sp>
      <p:sp>
        <p:nvSpPr>
          <p:cNvPr id="25" name="Text 19"/>
          <p:cNvSpPr/>
          <p:nvPr/>
        </p:nvSpPr>
        <p:spPr>
          <a:xfrm>
            <a:off x="2536031" y="3081524"/>
            <a:ext cx="1638263" cy="358759"/>
          </a:xfrm>
          <a:prstGeom prst="rect">
            <a:avLst/>
          </a:prstGeom>
          <a:noFill/>
          <a:ln/>
        </p:spPr>
        <p:txBody>
          <a:bodyPr wrap="square" lIns="0" tIns="0" rIns="0" bIns="0" rtlCol="0" anchor="t"/>
          <a:lstStyle/>
          <a:p>
            <a:pPr algn="l" indent="0" marL="0">
              <a:lnSpc>
                <a:spcPts val="1308"/>
              </a:lnSpc>
              <a:buNone/>
            </a:pPr>
            <a:r>
              <a:rPr lang="en-US" sz="844" dirty="0">
                <a:solidFill>
                  <a:srgbClr val="A7B0CE"/>
                </a:solidFill>
                <a:latin typeface="Carlito" pitchFamily="34" charset="0"/>
                <a:ea typeface="Carlito" pitchFamily="34" charset="-122"/>
                <a:cs typeface="Carlito" pitchFamily="34" charset="-120"/>
              </a:rPr>
              <a:t>New verticals: </a:t>
            </a:r>
            <a:pPr algn="l" indent="0" marL="0">
              <a:lnSpc>
                <a:spcPts val="1308"/>
              </a:lnSpc>
              <a:buNone/>
            </a:pPr>
            <a:r>
              <a:rPr lang="en-US" sz="844" dirty="0">
                <a:solidFill>
                  <a:srgbClr val="EDEFF9"/>
                </a:solidFill>
                <a:latin typeface="Carlito" pitchFamily="34" charset="0"/>
                <a:ea typeface="Carlito" pitchFamily="34" charset="-122"/>
                <a:cs typeface="Carlito" pitchFamily="34" charset="-120"/>
              </a:rPr>
              <a:t>Healthcare, Financial Services</a:t>
            </a:r>
            <a:endParaRPr lang="en-US" sz="844" dirty="0"/>
          </a:p>
        </p:txBody>
      </p:sp>
      <p:sp>
        <p:nvSpPr>
          <p:cNvPr id="26" name="Text 20"/>
          <p:cNvSpPr/>
          <p:nvPr/>
        </p:nvSpPr>
        <p:spPr>
          <a:xfrm>
            <a:off x="2536031" y="3797684"/>
            <a:ext cx="1638263" cy="398179"/>
          </a:xfrm>
          <a:prstGeom prst="rect">
            <a:avLst/>
          </a:prstGeom>
          <a:noFill/>
          <a:ln/>
        </p:spPr>
        <p:txBody>
          <a:bodyPr wrap="square" lIns="0" tIns="0" rIns="0" bIns="0" rtlCol="0" anchor="t"/>
          <a:lstStyle/>
          <a:p>
            <a:pPr algn="l" indent="0" marL="0">
              <a:lnSpc>
                <a:spcPts val="1596"/>
              </a:lnSpc>
              <a:buNone/>
            </a:pPr>
            <a:r>
              <a:rPr lang="en-US" sz="844" dirty="0">
                <a:solidFill>
                  <a:srgbClr val="A7B0CE"/>
                </a:solidFill>
                <a:latin typeface="Carlito" pitchFamily="34" charset="0"/>
                <a:ea typeface="Carlito" pitchFamily="34" charset="-122"/>
                <a:cs typeface="Carlito" pitchFamily="34" charset="-120"/>
              </a:rPr>
              <a:t>Average sales cycle reduced by </a:t>
            </a:r>
            <a:pPr algn="l" indent="0" marL="0">
              <a:lnSpc>
                <a:spcPts val="1596"/>
              </a:lnSpc>
              <a:buNone/>
            </a:pPr>
            <a:r>
              <a:rPr lang="en-US" sz="1029" b="1" dirty="0">
                <a:solidFill>
                  <a:srgbClr val="2DD4A7"/>
                </a:solidFill>
                <a:latin typeface="Liberation Sans Narrow" pitchFamily="34" charset="0"/>
                <a:ea typeface="Liberation Sans Narrow" pitchFamily="34" charset="-122"/>
                <a:cs typeface="Liberation Sans Narrow" pitchFamily="34" charset="-120"/>
              </a:rPr>
              <a:t>25%</a:t>
            </a:r>
            <a:endParaRPr lang="en-US" sz="844" dirty="0"/>
          </a:p>
        </p:txBody>
      </p:sp>
      <p:sp>
        <p:nvSpPr>
          <p:cNvPr id="27" name="Text 21"/>
          <p:cNvSpPr/>
          <p:nvPr/>
        </p:nvSpPr>
        <p:spPr>
          <a:xfrm>
            <a:off x="4527910" y="1362670"/>
            <a:ext cx="1988307" cy="3362920"/>
          </a:xfrm>
          <a:prstGeom prst="roundRect">
            <a:avLst>
              <a:gd name="adj" fmla="val 6707"/>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28" name="Text 22"/>
          <p:cNvSpPr/>
          <p:nvPr/>
        </p:nvSpPr>
        <p:spPr>
          <a:xfrm>
            <a:off x="4702932" y="1537692"/>
            <a:ext cx="271463" cy="271463"/>
          </a:xfrm>
          <a:prstGeom prst="roundRect">
            <a:avLst>
              <a:gd name="adj" fmla="val 35088"/>
            </a:avLst>
          </a:prstGeom>
          <a:solidFill>
            <a:srgbClr val="8B5CF6">
              <a:alpha val="16000"/>
            </a:srgbClr>
          </a:solidFill>
          <a:ln/>
        </p:spPr>
        <p:txBody>
          <a:bodyPr wrap="square" rtlCol="0" anchor="ctr"/>
          <a:lstStyle/>
          <a:p>
            <a:pPr indent="0" marL="0">
              <a:buNone/>
            </a:pPr>
            <a:endParaRPr lang="en-US" dirty="0"/>
          </a:p>
        </p:txBody>
      </p:sp>
      <p:sp>
        <p:nvSpPr>
          <p:cNvPr id="29" name="Text 23"/>
          <p:cNvSpPr/>
          <p:nvPr/>
        </p:nvSpPr>
        <p:spPr>
          <a:xfrm>
            <a:off x="4729899" y="1564660"/>
            <a:ext cx="217527" cy="217527"/>
          </a:xfrm>
          <a:prstGeom prst="rect">
            <a:avLst/>
          </a:prstGeom>
          <a:noFill/>
          <a:ln/>
        </p:spPr>
        <p:txBody>
          <a:bodyPr wrap="none" lIns="0" tIns="0" rIns="0" bIns="0" rtlCol="0" anchor="ctr"/>
          <a:lstStyle/>
          <a:p>
            <a:pPr algn="ctr" indent="0" marL="0">
              <a:buNone/>
            </a:pPr>
            <a:r>
              <a:rPr lang="en-US" sz="1477" dirty="0">
                <a:solidFill>
                  <a:srgbClr val="8B5CF6"/>
                </a:solidFill>
                <a:latin typeface="Segoe UI Symbol" pitchFamily="34" charset="0"/>
                <a:ea typeface="Segoe UI Symbol" pitchFamily="34" charset="-122"/>
                <a:cs typeface="Segoe UI Symbol" pitchFamily="34" charset="-120"/>
              </a:rPr>
              <a:t>◖</a:t>
            </a:r>
            <a:endParaRPr lang="en-US" sz="1477" dirty="0"/>
          </a:p>
        </p:txBody>
      </p:sp>
      <p:sp>
        <p:nvSpPr>
          <p:cNvPr id="30" name="Text 24"/>
          <p:cNvSpPr/>
          <p:nvPr/>
        </p:nvSpPr>
        <p:spPr>
          <a:xfrm>
            <a:off x="5060119" y="1576983"/>
            <a:ext cx="1281075" cy="208312"/>
          </a:xfrm>
          <a:prstGeom prst="rect">
            <a:avLst/>
          </a:prstGeom>
          <a:noFill/>
          <a:ln/>
        </p:spPr>
        <p:txBody>
          <a:bodyPr wrap="none" lIns="0" tIns="0" rIns="0" bIns="0" rtlCol="0" anchor="t"/>
          <a:lstStyle/>
          <a:p>
            <a:pPr algn="l" indent="0" marL="0">
              <a:lnSpc>
                <a:spcPts val="1519"/>
              </a:lnSpc>
              <a:buNone/>
            </a:pPr>
            <a:r>
              <a:rPr lang="en-US" sz="1013" dirty="0">
                <a:solidFill>
                  <a:srgbClr val="EDEFF9"/>
                </a:solidFill>
                <a:latin typeface="Carlito" pitchFamily="34" charset="0"/>
                <a:ea typeface="Carlito" pitchFamily="34" charset="-122"/>
                <a:cs typeface="Carlito" pitchFamily="34" charset="-120"/>
              </a:rPr>
              <a:t>Marketing Impact</a:t>
            </a:r>
            <a:endParaRPr lang="en-US" sz="1013" dirty="0"/>
          </a:p>
        </p:txBody>
      </p:sp>
      <p:sp>
        <p:nvSpPr>
          <p:cNvPr id="31" name="Text 25"/>
          <p:cNvSpPr/>
          <p:nvPr/>
        </p:nvSpPr>
        <p:spPr>
          <a:xfrm>
            <a:off x="4702932" y="1937742"/>
            <a:ext cx="1638263" cy="7144"/>
          </a:xfrm>
          <a:prstGeom prst="rect">
            <a:avLst/>
          </a:prstGeom>
          <a:solidFill>
            <a:srgbClr val="A7B0CE">
              <a:alpha val="18000"/>
            </a:srgbClr>
          </a:solidFill>
          <a:ln/>
        </p:spPr>
        <p:txBody>
          <a:bodyPr wrap="square" rtlCol="0" anchor="ctr"/>
          <a:lstStyle/>
          <a:p>
            <a:pPr indent="0" marL="0">
              <a:buNone/>
            </a:pPr>
            <a:endParaRPr lang="en-US" dirty="0"/>
          </a:p>
        </p:txBody>
      </p:sp>
      <p:sp>
        <p:nvSpPr>
          <p:cNvPr id="32" name="Text 26"/>
          <p:cNvSpPr/>
          <p:nvPr/>
        </p:nvSpPr>
        <p:spPr>
          <a:xfrm>
            <a:off x="4702932" y="2567620"/>
            <a:ext cx="1638263" cy="398179"/>
          </a:xfrm>
          <a:prstGeom prst="rect">
            <a:avLst/>
          </a:prstGeom>
          <a:noFill/>
          <a:ln/>
        </p:spPr>
        <p:txBody>
          <a:bodyPr wrap="square" lIns="0" tIns="0" rIns="0" bIns="0" rtlCol="0" anchor="t"/>
          <a:lstStyle/>
          <a:p>
            <a:pPr algn="l" indent="0" marL="0">
              <a:lnSpc>
                <a:spcPts val="1596"/>
              </a:lnSpc>
              <a:buNone/>
            </a:pPr>
            <a:r>
              <a:rPr lang="en-US" sz="844" dirty="0">
                <a:solidFill>
                  <a:srgbClr val="A7B0CE"/>
                </a:solidFill>
                <a:latin typeface="Carlito" pitchFamily="34" charset="0"/>
                <a:ea typeface="Carlito" pitchFamily="34" charset="-122"/>
                <a:cs typeface="Carlito" pitchFamily="34" charset="-120"/>
              </a:rPr>
              <a:t>Brand awareness up </a:t>
            </a:r>
            <a:pPr algn="l" indent="0" marL="0">
              <a:lnSpc>
                <a:spcPts val="1596"/>
              </a:lnSpc>
              <a:buNone/>
            </a:pPr>
            <a:r>
              <a:rPr lang="en-US" sz="1029" b="1" dirty="0">
                <a:solidFill>
                  <a:srgbClr val="2DD4A7"/>
                </a:solidFill>
                <a:latin typeface="Liberation Sans Narrow" pitchFamily="34" charset="0"/>
                <a:ea typeface="Liberation Sans Narrow" pitchFamily="34" charset="-122"/>
                <a:cs typeface="Liberation Sans Narrow" pitchFamily="34" charset="-120"/>
              </a:rPr>
              <a:t>60%</a:t>
            </a:r>
            <a:pPr algn="l" indent="0" marL="0">
              <a:lnSpc>
                <a:spcPts val="1596"/>
              </a:lnSpc>
              <a:buNone/>
            </a:pPr>
            <a:r>
              <a:rPr lang="en-US" sz="844" dirty="0">
                <a:solidFill>
                  <a:srgbClr val="A7B0CE"/>
                </a:solidFill>
                <a:latin typeface="Carlito" pitchFamily="34" charset="0"/>
                <a:ea typeface="Carlito" pitchFamily="34" charset="-122"/>
                <a:cs typeface="Carlito" pitchFamily="34" charset="-120"/>
              </a:rPr>
              <a:t> (share of voice)</a:t>
            </a:r>
            <a:endParaRPr lang="en-US" sz="844" dirty="0"/>
          </a:p>
        </p:txBody>
      </p:sp>
      <p:sp>
        <p:nvSpPr>
          <p:cNvPr id="33" name="Text 27"/>
          <p:cNvSpPr/>
          <p:nvPr/>
        </p:nvSpPr>
        <p:spPr>
          <a:xfrm>
            <a:off x="4702932" y="3559039"/>
            <a:ext cx="1638263" cy="398179"/>
          </a:xfrm>
          <a:prstGeom prst="rect">
            <a:avLst/>
          </a:prstGeom>
          <a:noFill/>
          <a:ln/>
        </p:spPr>
        <p:txBody>
          <a:bodyPr wrap="square" lIns="0" tIns="0" rIns="0" bIns="0" rtlCol="0" anchor="t"/>
          <a:lstStyle/>
          <a:p>
            <a:pPr algn="l" indent="0" marL="0">
              <a:lnSpc>
                <a:spcPts val="1596"/>
              </a:lnSpc>
              <a:buNone/>
            </a:pPr>
            <a:r>
              <a:rPr lang="en-US" sz="844" dirty="0">
                <a:solidFill>
                  <a:srgbClr val="A7B0CE"/>
                </a:solidFill>
                <a:latin typeface="Carlito" pitchFamily="34" charset="0"/>
                <a:ea typeface="Carlito" pitchFamily="34" charset="-122"/>
                <a:cs typeface="Carlito" pitchFamily="34" charset="-120"/>
              </a:rPr>
              <a:t>Marketing efficiency: </a:t>
            </a:r>
            <a:pPr algn="l" indent="0" marL="0">
              <a:lnSpc>
                <a:spcPts val="1596"/>
              </a:lnSpc>
              <a:buNone/>
            </a:pPr>
            <a:r>
              <a:rPr lang="en-US" sz="1029" b="1" dirty="0">
                <a:solidFill>
                  <a:srgbClr val="EDEFF9"/>
                </a:solidFill>
                <a:latin typeface="Liberation Sans Narrow" pitchFamily="34" charset="0"/>
                <a:ea typeface="Liberation Sans Narrow" pitchFamily="34" charset="-122"/>
                <a:cs typeface="Liberation Sans Narrow" pitchFamily="34" charset="-120"/>
              </a:rPr>
              <a:t>$1.20</a:t>
            </a:r>
            <a:pPr algn="l" indent="0" marL="0">
              <a:lnSpc>
                <a:spcPts val="1596"/>
              </a:lnSpc>
              <a:buNone/>
            </a:pPr>
            <a:r>
              <a:rPr lang="en-US" sz="844" dirty="0">
                <a:solidFill>
                  <a:srgbClr val="A7B0CE"/>
                </a:solidFill>
                <a:latin typeface="Carlito" pitchFamily="34" charset="0"/>
                <a:ea typeface="Carlito" pitchFamily="34" charset="-122"/>
                <a:cs typeface="Carlito" pitchFamily="34" charset="-120"/>
              </a:rPr>
              <a:t> CAC/LTV ratio</a:t>
            </a:r>
            <a:endParaRPr lang="en-US" sz="844" dirty="0"/>
          </a:p>
        </p:txBody>
      </p:sp>
      <p:sp>
        <p:nvSpPr>
          <p:cNvPr id="34" name="Text 28"/>
          <p:cNvSpPr/>
          <p:nvPr/>
        </p:nvSpPr>
        <p:spPr>
          <a:xfrm>
            <a:off x="6694810" y="1362670"/>
            <a:ext cx="1988418" cy="3362920"/>
          </a:xfrm>
          <a:prstGeom prst="roundRect">
            <a:avLst>
              <a:gd name="adj" fmla="val 6706"/>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35" name="Text 29"/>
          <p:cNvSpPr/>
          <p:nvPr/>
        </p:nvSpPr>
        <p:spPr>
          <a:xfrm>
            <a:off x="6869832" y="1594842"/>
            <a:ext cx="271463" cy="271463"/>
          </a:xfrm>
          <a:prstGeom prst="roundRect">
            <a:avLst>
              <a:gd name="adj" fmla="val 35088"/>
            </a:avLst>
          </a:prstGeom>
          <a:solidFill>
            <a:srgbClr val="8B5CF6">
              <a:alpha val="16000"/>
            </a:srgbClr>
          </a:solidFill>
          <a:ln/>
        </p:spPr>
        <p:txBody>
          <a:bodyPr wrap="square" rtlCol="0" anchor="ctr"/>
          <a:lstStyle/>
          <a:p>
            <a:pPr indent="0" marL="0">
              <a:buNone/>
            </a:pPr>
            <a:endParaRPr lang="en-US" dirty="0"/>
          </a:p>
        </p:txBody>
      </p:sp>
      <p:sp>
        <p:nvSpPr>
          <p:cNvPr id="36" name="Text 30"/>
          <p:cNvSpPr/>
          <p:nvPr/>
        </p:nvSpPr>
        <p:spPr>
          <a:xfrm>
            <a:off x="6896799" y="1621810"/>
            <a:ext cx="217527" cy="217527"/>
          </a:xfrm>
          <a:prstGeom prst="rect">
            <a:avLst/>
          </a:prstGeom>
          <a:noFill/>
          <a:ln/>
        </p:spPr>
        <p:txBody>
          <a:bodyPr wrap="none" lIns="0" tIns="0" rIns="0" bIns="0" rtlCol="0" anchor="ctr"/>
          <a:lstStyle/>
          <a:p>
            <a:pPr algn="ctr" indent="0" marL="0">
              <a:buNone/>
            </a:pPr>
            <a:r>
              <a:rPr lang="en-US" sz="1477" dirty="0">
                <a:solidFill>
                  <a:srgbClr val="8B5CF6"/>
                </a:solidFill>
                <a:latin typeface="Segoe UI Symbol" pitchFamily="34" charset="0"/>
                <a:ea typeface="Segoe UI Symbol" pitchFamily="34" charset="-122"/>
                <a:cs typeface="Segoe UI Symbol" pitchFamily="34" charset="-120"/>
              </a:rPr>
              <a:t>✻</a:t>
            </a:r>
            <a:endParaRPr lang="en-US" sz="1477" dirty="0"/>
          </a:p>
        </p:txBody>
      </p:sp>
      <p:sp>
        <p:nvSpPr>
          <p:cNvPr id="37" name="Text 31"/>
          <p:cNvSpPr/>
          <p:nvPr/>
        </p:nvSpPr>
        <p:spPr>
          <a:xfrm>
            <a:off x="7227019" y="1537692"/>
            <a:ext cx="1281187" cy="416624"/>
          </a:xfrm>
          <a:prstGeom prst="rect">
            <a:avLst/>
          </a:prstGeom>
          <a:noFill/>
          <a:ln/>
        </p:spPr>
        <p:txBody>
          <a:bodyPr wrap="none" lIns="0" tIns="0" rIns="0" bIns="0" rtlCol="0" anchor="t"/>
          <a:lstStyle/>
          <a:p>
            <a:pPr algn="l" indent="0" marL="0">
              <a:lnSpc>
                <a:spcPts val="1519"/>
              </a:lnSpc>
              <a:buNone/>
            </a:pPr>
            <a:r>
              <a:rPr lang="en-US" sz="1013" dirty="0">
                <a:solidFill>
                  <a:srgbClr val="EDEFF9"/>
                </a:solidFill>
                <a:latin typeface="Carlito" pitchFamily="34" charset="0"/>
                <a:ea typeface="Carlito" pitchFamily="34" charset="-122"/>
                <a:cs typeface="Carlito" pitchFamily="34" charset="-120"/>
              </a:rPr>
              <a:t>Channel Partnerships</a:t>
            </a:r>
            <a:endParaRPr lang="en-US" sz="1013" dirty="0"/>
          </a:p>
        </p:txBody>
      </p:sp>
      <p:sp>
        <p:nvSpPr>
          <p:cNvPr id="38" name="Text 32"/>
          <p:cNvSpPr/>
          <p:nvPr/>
        </p:nvSpPr>
        <p:spPr>
          <a:xfrm>
            <a:off x="6869832" y="2052042"/>
            <a:ext cx="1638374" cy="7144"/>
          </a:xfrm>
          <a:prstGeom prst="rect">
            <a:avLst/>
          </a:prstGeom>
          <a:solidFill>
            <a:srgbClr val="A7B0CE">
              <a:alpha val="18000"/>
            </a:srgbClr>
          </a:solidFill>
          <a:ln/>
        </p:spPr>
        <p:txBody>
          <a:bodyPr wrap="square" rtlCol="0" anchor="ctr"/>
          <a:lstStyle/>
          <a:p>
            <a:pPr indent="0" marL="0">
              <a:buNone/>
            </a:pPr>
            <a:endParaRPr lang="en-US" dirty="0"/>
          </a:p>
        </p:txBody>
      </p:sp>
      <p:sp>
        <p:nvSpPr>
          <p:cNvPr id="39" name="Text 33"/>
          <p:cNvSpPr/>
          <p:nvPr/>
        </p:nvSpPr>
        <p:spPr>
          <a:xfrm>
            <a:off x="6869832" y="2754585"/>
            <a:ext cx="1736677" cy="218800"/>
          </a:xfrm>
          <a:prstGeom prst="rect">
            <a:avLst/>
          </a:prstGeom>
          <a:noFill/>
          <a:ln/>
        </p:spPr>
        <p:txBody>
          <a:bodyPr wrap="square" lIns="0" tIns="0" rIns="0" bIns="0" rtlCol="0" anchor="t"/>
          <a:lstStyle/>
          <a:p>
            <a:pPr algn="l" indent="0" marL="0">
              <a:lnSpc>
                <a:spcPts val="1596"/>
              </a:lnSpc>
              <a:buNone/>
            </a:pPr>
            <a:r>
              <a:rPr lang="en-US" sz="1029" b="1" dirty="0">
                <a:solidFill>
                  <a:srgbClr val="EDEFF9"/>
                </a:solidFill>
                <a:latin typeface="Liberation Sans Narrow" pitchFamily="34" charset="0"/>
                <a:ea typeface="Liberation Sans Narrow" pitchFamily="34" charset="-122"/>
                <a:cs typeface="Liberation Sans Narrow" pitchFamily="34" charset="-120"/>
              </a:rPr>
              <a:t>15</a:t>
            </a:r>
            <a:pPr algn="l" indent="0" marL="0">
              <a:lnSpc>
                <a:spcPts val="1596"/>
              </a:lnSpc>
              <a:buNone/>
            </a:pPr>
            <a:r>
              <a:rPr lang="en-US" sz="844" dirty="0">
                <a:solidFill>
                  <a:srgbClr val="A7B0CE"/>
                </a:solidFill>
                <a:latin typeface="Carlito" pitchFamily="34" charset="0"/>
                <a:ea typeface="Carlito" pitchFamily="34" charset="-122"/>
                <a:cs typeface="Carlito" pitchFamily="34" charset="-120"/>
              </a:rPr>
              <a:t> new strategic partnerships</a:t>
            </a:r>
            <a:endParaRPr lang="en-US" sz="844" dirty="0"/>
          </a:p>
        </p:txBody>
      </p:sp>
      <p:sp>
        <p:nvSpPr>
          <p:cNvPr id="40" name="Text 34"/>
          <p:cNvSpPr/>
          <p:nvPr/>
        </p:nvSpPr>
        <p:spPr>
          <a:xfrm>
            <a:off x="6869832" y="3652577"/>
            <a:ext cx="1736677" cy="218800"/>
          </a:xfrm>
          <a:prstGeom prst="rect">
            <a:avLst/>
          </a:prstGeom>
          <a:noFill/>
          <a:ln/>
        </p:spPr>
        <p:txBody>
          <a:bodyPr wrap="square" lIns="0" tIns="0" rIns="0" bIns="0" rtlCol="0" anchor="t"/>
          <a:lstStyle/>
          <a:p>
            <a:pPr algn="l" indent="0" marL="0">
              <a:lnSpc>
                <a:spcPts val="1596"/>
              </a:lnSpc>
              <a:buNone/>
            </a:pPr>
            <a:r>
              <a:rPr lang="en-US" sz="1029" b="1" dirty="0">
                <a:solidFill>
                  <a:srgbClr val="2DD4A7"/>
                </a:solidFill>
                <a:latin typeface="Liberation Sans Narrow" pitchFamily="34" charset="0"/>
                <a:ea typeface="Liberation Sans Narrow" pitchFamily="34" charset="-122"/>
                <a:cs typeface="Liberation Sans Narrow" pitchFamily="34" charset="-120"/>
              </a:rPr>
              <a:t>30%</a:t>
            </a:r>
            <a:pPr algn="l" indent="0" marL="0">
              <a:lnSpc>
                <a:spcPts val="1596"/>
              </a:lnSpc>
              <a:buNone/>
            </a:pPr>
            <a:r>
              <a:rPr lang="en-US" sz="844" dirty="0">
                <a:solidFill>
                  <a:srgbClr val="A7B0CE"/>
                </a:solidFill>
                <a:latin typeface="Carlito" pitchFamily="34" charset="0"/>
                <a:ea typeface="Carlito" pitchFamily="34" charset="-122"/>
                <a:cs typeface="Carlito" pitchFamily="34" charset="-120"/>
              </a:rPr>
              <a:t> of revenue through channels</a:t>
            </a:r>
            <a:endParaRPr lang="en-US" sz="844"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286500" y="-2000250"/>
            <a:ext cx="4286250" cy="4286250"/>
          </a:xfrm>
          <a:prstGeom prst="rect">
            <a:avLst/>
          </a:prstGeom>
        </p:spPr>
      </p:pic>
      <p:sp>
        <p:nvSpPr>
          <p:cNvPr id="3" name="Text 0"/>
          <p:cNvSpPr/>
          <p:nvPr/>
        </p:nvSpPr>
        <p:spPr>
          <a:xfrm>
            <a:off x="6286500" y="-2000250"/>
            <a:ext cx="4286250" cy="4286250"/>
          </a:xfrm>
          <a:prstGeom prst="ellipse">
            <a:avLst/>
          </a:prstGeom>
          <a:solidFill>
            <a:srgbClr val="FFFFFF">
              <a:alpha val="0"/>
            </a:srgbClr>
          </a:solidFill>
          <a:ln/>
        </p:spPr>
        <p:txBody>
          <a:bodyPr wrap="square" rtlCol="0" anchor="ctr"/>
          <a:lstStyle/>
          <a:p>
            <a:pPr indent="0" marL="0">
              <a:buNone/>
            </a:pPr>
            <a:endParaRPr lang="en-US" dirty="0"/>
          </a:p>
        </p:txBody>
      </p:sp>
      <p:sp>
        <p:nvSpPr>
          <p:cNvPr id="4" name="Text 1"/>
          <p:cNvSpPr/>
          <p:nvPr/>
        </p:nvSpPr>
        <p:spPr>
          <a:xfrm>
            <a:off x="457200" y="400050"/>
            <a:ext cx="8636000" cy="164592"/>
          </a:xfrm>
          <a:prstGeom prst="rect">
            <a:avLst/>
          </a:prstGeom>
          <a:noFill/>
          <a:ln/>
        </p:spPr>
        <p:txBody>
          <a:bodyPr wrap="none" lIns="0" tIns="0" rIns="0" bIns="0" rtlCol="0" anchor="t"/>
          <a:lstStyle/>
          <a:p>
            <a:pPr algn="l" indent="0" marL="0">
              <a:lnSpc>
                <a:spcPts val="886"/>
              </a:lnSpc>
              <a:buNone/>
            </a:pPr>
            <a:r>
              <a:rPr lang="en-US" sz="800" spc="130" kern="0" dirty="0">
                <a:solidFill>
                  <a:srgbClr val="8B5CF6"/>
                </a:solidFill>
                <a:latin typeface="Courier New" pitchFamily="34" charset="0"/>
                <a:ea typeface="Courier New" pitchFamily="34" charset="-122"/>
                <a:cs typeface="Courier New" pitchFamily="34" charset="-120"/>
              </a:rPr>
              <a:t>ROADMAP &amp; VISION</a:t>
            </a:r>
            <a:endParaRPr lang="en-US" sz="800" dirty="0"/>
          </a:p>
        </p:txBody>
      </p:sp>
      <p:sp>
        <p:nvSpPr>
          <p:cNvPr id="5" name="Text 2"/>
          <p:cNvSpPr/>
          <p:nvPr/>
        </p:nvSpPr>
        <p:spPr>
          <a:xfrm>
            <a:off x="457200" y="598289"/>
            <a:ext cx="8636000" cy="354902"/>
          </a:xfrm>
          <a:prstGeom prst="rect">
            <a:avLst/>
          </a:prstGeom>
          <a:noFill/>
          <a:ln/>
        </p:spPr>
        <p:txBody>
          <a:bodyPr wrap="square" lIns="0" tIns="0" rIns="0" bIns="0" rtlCol="0" anchor="t"/>
          <a:lstStyle/>
          <a:p>
            <a:pPr algn="l" indent="0" marL="0">
              <a:lnSpc>
                <a:spcPts val="2588"/>
              </a:lnSpc>
              <a:buNone/>
            </a:pPr>
            <a:r>
              <a:rPr lang="en-US" sz="2250" b="1" spc="-34" kern="0" dirty="0">
                <a:solidFill>
                  <a:srgbClr val="EDEFF9"/>
                </a:solidFill>
                <a:latin typeface="Carlito" pitchFamily="34" charset="0"/>
                <a:ea typeface="Carlito" pitchFamily="34" charset="-122"/>
                <a:cs typeface="Carlito" pitchFamily="34" charset="-120"/>
              </a:rPr>
              <a:t>Accelerating Growth Through Innovation</a:t>
            </a:r>
            <a:endParaRPr lang="en-US" sz="2250" dirty="0"/>
          </a:p>
        </p:txBody>
      </p:sp>
      <p:sp>
        <p:nvSpPr>
          <p:cNvPr id="6" name="Text 3"/>
          <p:cNvSpPr/>
          <p:nvPr/>
        </p:nvSpPr>
        <p:spPr>
          <a:xfrm>
            <a:off x="457200" y="998339"/>
            <a:ext cx="5000625" cy="173593"/>
          </a:xfrm>
          <a:prstGeom prst="rect">
            <a:avLst/>
          </a:prstGeom>
          <a:noFill/>
          <a:ln/>
        </p:spPr>
        <p:txBody>
          <a:bodyPr wrap="square" lIns="0" tIns="0" rIns="0" bIns="0" rtlCol="0" anchor="t"/>
          <a:lstStyle/>
          <a:p>
            <a:pPr algn="l" indent="0" marL="0">
              <a:lnSpc>
                <a:spcPts val="1266"/>
              </a:lnSpc>
              <a:buNone/>
            </a:pPr>
            <a:r>
              <a:rPr lang="en-US" sz="844" dirty="0">
                <a:solidFill>
                  <a:srgbClr val="A7B0CE"/>
                </a:solidFill>
                <a:latin typeface="Carlito" pitchFamily="34" charset="0"/>
                <a:ea typeface="Carlito" pitchFamily="34" charset="-122"/>
                <a:cs typeface="Carlito" pitchFamily="34" charset="-120"/>
              </a:rPr>
              <a:t>Near-term execution, building toward long-term category leadership.</a:t>
            </a:r>
            <a:endParaRPr lang="en-US" sz="844" dirty="0"/>
          </a:p>
        </p:txBody>
      </p:sp>
      <p:sp>
        <p:nvSpPr>
          <p:cNvPr id="7" name="Text 4"/>
          <p:cNvSpPr/>
          <p:nvPr/>
        </p:nvSpPr>
        <p:spPr>
          <a:xfrm>
            <a:off x="460772" y="1362670"/>
            <a:ext cx="2621756" cy="3362920"/>
          </a:xfrm>
          <a:prstGeom prst="roundRect">
            <a:avLst>
              <a:gd name="adj" fmla="val 5086"/>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8" name="Text 5"/>
          <p:cNvSpPr/>
          <p:nvPr/>
        </p:nvSpPr>
        <p:spPr>
          <a:xfrm>
            <a:off x="1872874" y="1466255"/>
            <a:ext cx="1243493" cy="740664"/>
          </a:xfrm>
          <a:prstGeom prst="rect">
            <a:avLst/>
          </a:prstGeom>
          <a:noFill/>
          <a:ln/>
        </p:spPr>
        <p:txBody>
          <a:bodyPr wrap="none" lIns="0" tIns="0" rIns="0" bIns="0" rtlCol="0" anchor="t"/>
          <a:lstStyle/>
          <a:p>
            <a:pPr algn="l" indent="0" marL="0">
              <a:lnSpc>
                <a:spcPts val="5400"/>
              </a:lnSpc>
              <a:buNone/>
            </a:pPr>
            <a:r>
              <a:rPr lang="en-US" sz="5400" b="1" dirty="0">
                <a:solidFill>
                  <a:srgbClr val="A7B0CE">
                    <a:alpha val="6000"/>
                  </a:srgbClr>
                </a:solidFill>
                <a:latin typeface="Liberation Sans Narrow" pitchFamily="34" charset="0"/>
                <a:ea typeface="Liberation Sans Narrow" pitchFamily="34" charset="-122"/>
                <a:cs typeface="Liberation Sans Narrow" pitchFamily="34" charset="-120"/>
              </a:rPr>
              <a:t>01</a:t>
            </a:r>
            <a:endParaRPr lang="en-US" sz="5400" dirty="0"/>
          </a:p>
        </p:txBody>
      </p:sp>
      <p:sp>
        <p:nvSpPr>
          <p:cNvPr id="9" name="Text 6"/>
          <p:cNvSpPr/>
          <p:nvPr/>
        </p:nvSpPr>
        <p:spPr>
          <a:xfrm>
            <a:off x="641509" y="1540085"/>
            <a:ext cx="700824" cy="222028"/>
          </a:xfrm>
          <a:prstGeom prst="roundRect">
            <a:avLst>
              <a:gd name="adj" fmla="val 4285709"/>
            </a:avLst>
          </a:prstGeom>
          <a:noFill/>
          <a:ln w="7144">
            <a:solidFill>
              <a:srgbClr val="A7B0CE"/>
            </a:solidFill>
            <a:prstDash val="solid"/>
          </a:ln>
        </p:spPr>
        <p:txBody>
          <a:bodyPr wrap="square" rtlCol="0" anchor="ctr"/>
          <a:lstStyle/>
          <a:p>
            <a:pPr indent="0" marL="0">
              <a:buNone/>
            </a:pPr>
            <a:endParaRPr lang="en-US" dirty="0"/>
          </a:p>
        </p:txBody>
      </p:sp>
      <p:sp>
        <p:nvSpPr>
          <p:cNvPr id="10" name="Text 7"/>
          <p:cNvSpPr/>
          <p:nvPr/>
        </p:nvSpPr>
        <p:spPr>
          <a:xfrm>
            <a:off x="664369" y="1551980"/>
            <a:ext cx="655104" cy="198239"/>
          </a:xfrm>
          <a:prstGeom prst="rect">
            <a:avLst/>
          </a:prstGeom>
          <a:noFill/>
          <a:ln/>
        </p:spPr>
        <p:txBody>
          <a:bodyPr wrap="none" lIns="0" tIns="0" rIns="0" bIns="0" rtlCol="0" anchor="ctr"/>
          <a:lstStyle/>
          <a:p>
            <a:pPr algn="ctr" indent="0" marL="0">
              <a:lnSpc>
                <a:spcPts val="886"/>
              </a:lnSpc>
              <a:buNone/>
            </a:pPr>
            <a:r>
              <a:rPr lang="en-US" sz="800" spc="106" kern="0" dirty="0">
                <a:solidFill>
                  <a:srgbClr val="A7B0CE"/>
                </a:solidFill>
                <a:latin typeface="Liberation Sans Narrow" pitchFamily="34" charset="0"/>
                <a:ea typeface="Liberation Sans Narrow" pitchFamily="34" charset="-122"/>
                <a:cs typeface="Liberation Sans Narrow" pitchFamily="34" charset="-120"/>
              </a:rPr>
              <a:t>PHASE 01</a:t>
            </a:r>
            <a:endParaRPr lang="en-US" sz="800" dirty="0"/>
          </a:p>
        </p:txBody>
      </p:sp>
      <p:sp>
        <p:nvSpPr>
          <p:cNvPr id="11" name="Text 8"/>
          <p:cNvSpPr/>
          <p:nvPr/>
        </p:nvSpPr>
        <p:spPr>
          <a:xfrm>
            <a:off x="664369" y="1850231"/>
            <a:ext cx="2214563" cy="208312"/>
          </a:xfrm>
          <a:prstGeom prst="rect">
            <a:avLst/>
          </a:prstGeom>
          <a:noFill/>
          <a:ln/>
        </p:spPr>
        <p:txBody>
          <a:bodyPr wrap="none" lIns="0" tIns="0" rIns="0" bIns="0" rtlCol="0" anchor="t"/>
          <a:lstStyle/>
          <a:p>
            <a:pPr algn="l" indent="0" marL="0">
              <a:lnSpc>
                <a:spcPts val="1519"/>
              </a:lnSpc>
              <a:buNone/>
            </a:pPr>
            <a:r>
              <a:rPr lang="en-US" sz="1013" spc="-10" kern="0" dirty="0">
                <a:solidFill>
                  <a:srgbClr val="EDEFF9"/>
                </a:solidFill>
                <a:latin typeface="Liberation Sans Narrow" pitchFamily="34" charset="0"/>
                <a:ea typeface="Liberation Sans Narrow" pitchFamily="34" charset="-122"/>
                <a:cs typeface="Liberation Sans Narrow" pitchFamily="34" charset="-120"/>
              </a:rPr>
              <a:t>Q4 2023 – Q1 2024</a:t>
            </a:r>
            <a:endParaRPr lang="en-US" sz="1013" dirty="0"/>
          </a:p>
        </p:txBody>
      </p:sp>
      <p:sp>
        <p:nvSpPr>
          <p:cNvPr id="12" name="Text 9"/>
          <p:cNvSpPr/>
          <p:nvPr/>
        </p:nvSpPr>
        <p:spPr>
          <a:xfrm>
            <a:off x="664369" y="2157413"/>
            <a:ext cx="2214563" cy="7144"/>
          </a:xfrm>
          <a:prstGeom prst="rect">
            <a:avLst/>
          </a:prstGeom>
          <a:solidFill>
            <a:srgbClr val="A7B0CE">
              <a:alpha val="18000"/>
            </a:srgbClr>
          </a:solidFill>
          <a:ln/>
        </p:spPr>
        <p:txBody>
          <a:bodyPr wrap="square" rtlCol="0" anchor="ctr"/>
          <a:lstStyle/>
          <a:p>
            <a:pPr indent="0" marL="0">
              <a:buNone/>
            </a:pPr>
            <a:endParaRPr lang="en-US" dirty="0"/>
          </a:p>
        </p:txBody>
      </p:sp>
      <p:sp>
        <p:nvSpPr>
          <p:cNvPr id="13" name="Text 10"/>
          <p:cNvSpPr/>
          <p:nvPr/>
        </p:nvSpPr>
        <p:spPr>
          <a:xfrm>
            <a:off x="664369" y="2690068"/>
            <a:ext cx="128588" cy="128588"/>
          </a:xfrm>
          <a:prstGeom prst="rect">
            <a:avLst/>
          </a:prstGeom>
          <a:noFill/>
          <a:ln/>
        </p:spPr>
        <p:txBody>
          <a:bodyPr wrap="none" lIns="0" tIns="0" rIns="0" bIns="0" rtlCol="0" anchor="ctr"/>
          <a:lstStyle/>
          <a:p>
            <a:pPr algn="ctr" indent="0" marL="0">
              <a:buNone/>
            </a:pPr>
            <a:r>
              <a:rPr lang="en-US" sz="1266" dirty="0">
                <a:solidFill>
                  <a:srgbClr val="8B5CF6"/>
                </a:solidFill>
                <a:latin typeface="Segoe UI Symbol" pitchFamily="34" charset="0"/>
                <a:ea typeface="Segoe UI Symbol" pitchFamily="34" charset="-122"/>
                <a:cs typeface="Segoe UI Symbol" pitchFamily="34" charset="-120"/>
              </a:rPr>
              <a:t>→</a:t>
            </a:r>
            <a:endParaRPr lang="en-US" sz="1266" dirty="0"/>
          </a:p>
        </p:txBody>
      </p:sp>
      <p:sp>
        <p:nvSpPr>
          <p:cNvPr id="14" name="Text 11"/>
          <p:cNvSpPr/>
          <p:nvPr/>
        </p:nvSpPr>
        <p:spPr>
          <a:xfrm>
            <a:off x="878681" y="2675781"/>
            <a:ext cx="2000250" cy="179380"/>
          </a:xfrm>
          <a:prstGeom prst="rect">
            <a:avLst/>
          </a:prstGeom>
          <a:noFill/>
          <a:ln/>
        </p:spPr>
        <p:txBody>
          <a:bodyPr wrap="square" lIns="0" tIns="0" rIns="0" bIns="0" rtlCol="0" anchor="t"/>
          <a:lstStyle/>
          <a:p>
            <a:pPr algn="l" indent="0" marL="0">
              <a:lnSpc>
                <a:spcPts val="1308"/>
              </a:lnSpc>
              <a:buNone/>
            </a:pPr>
            <a:r>
              <a:rPr lang="en-US" sz="844" dirty="0">
                <a:solidFill>
                  <a:srgbClr val="A7B0CE"/>
                </a:solidFill>
                <a:latin typeface="Carlito" pitchFamily="34" charset="0"/>
                <a:ea typeface="Carlito" pitchFamily="34" charset="-122"/>
                <a:cs typeface="Carlito" pitchFamily="34" charset="-120"/>
              </a:rPr>
              <a:t>Launch of industry-specific AI solutions</a:t>
            </a:r>
            <a:endParaRPr lang="en-US" sz="844" dirty="0"/>
          </a:p>
        </p:txBody>
      </p:sp>
      <p:sp>
        <p:nvSpPr>
          <p:cNvPr id="15" name="Text 12"/>
          <p:cNvSpPr/>
          <p:nvPr/>
        </p:nvSpPr>
        <p:spPr>
          <a:xfrm>
            <a:off x="664369" y="3310235"/>
            <a:ext cx="128588" cy="128588"/>
          </a:xfrm>
          <a:prstGeom prst="rect">
            <a:avLst/>
          </a:prstGeom>
          <a:noFill/>
          <a:ln/>
        </p:spPr>
        <p:txBody>
          <a:bodyPr wrap="none" lIns="0" tIns="0" rIns="0" bIns="0" rtlCol="0" anchor="ctr"/>
          <a:lstStyle/>
          <a:p>
            <a:pPr algn="ctr" indent="0" marL="0">
              <a:buNone/>
            </a:pPr>
            <a:r>
              <a:rPr lang="en-US" sz="1266" dirty="0">
                <a:solidFill>
                  <a:srgbClr val="8B5CF6"/>
                </a:solidFill>
                <a:latin typeface="Segoe UI Symbol" pitchFamily="34" charset="0"/>
                <a:ea typeface="Segoe UI Symbol" pitchFamily="34" charset="-122"/>
                <a:cs typeface="Segoe UI Symbol" pitchFamily="34" charset="-120"/>
              </a:rPr>
              <a:t>→</a:t>
            </a:r>
            <a:endParaRPr lang="en-US" sz="1266" dirty="0"/>
          </a:p>
        </p:txBody>
      </p:sp>
      <p:sp>
        <p:nvSpPr>
          <p:cNvPr id="16" name="Text 13"/>
          <p:cNvSpPr/>
          <p:nvPr/>
        </p:nvSpPr>
        <p:spPr>
          <a:xfrm>
            <a:off x="878681" y="3295948"/>
            <a:ext cx="2000250" cy="179380"/>
          </a:xfrm>
          <a:prstGeom prst="rect">
            <a:avLst/>
          </a:prstGeom>
          <a:noFill/>
          <a:ln/>
        </p:spPr>
        <p:txBody>
          <a:bodyPr wrap="square" lIns="0" tIns="0" rIns="0" bIns="0" rtlCol="0" anchor="t"/>
          <a:lstStyle/>
          <a:p>
            <a:pPr algn="l" indent="0" marL="0">
              <a:lnSpc>
                <a:spcPts val="1308"/>
              </a:lnSpc>
              <a:buNone/>
            </a:pPr>
            <a:r>
              <a:rPr lang="en-US" sz="844" dirty="0">
                <a:solidFill>
                  <a:srgbClr val="A7B0CE"/>
                </a:solidFill>
                <a:latin typeface="Carlito" pitchFamily="34" charset="0"/>
                <a:ea typeface="Carlito" pitchFamily="34" charset="-122"/>
                <a:cs typeface="Carlito" pitchFamily="34" charset="-120"/>
              </a:rPr>
              <a:t>Expansion into European markets</a:t>
            </a:r>
            <a:endParaRPr lang="en-US" sz="844" dirty="0"/>
          </a:p>
        </p:txBody>
      </p:sp>
      <p:sp>
        <p:nvSpPr>
          <p:cNvPr id="17" name="Text 14"/>
          <p:cNvSpPr/>
          <p:nvPr/>
        </p:nvSpPr>
        <p:spPr>
          <a:xfrm>
            <a:off x="664369" y="3930402"/>
            <a:ext cx="128588" cy="128588"/>
          </a:xfrm>
          <a:prstGeom prst="rect">
            <a:avLst/>
          </a:prstGeom>
          <a:noFill/>
          <a:ln/>
        </p:spPr>
        <p:txBody>
          <a:bodyPr wrap="none" lIns="0" tIns="0" rIns="0" bIns="0" rtlCol="0" anchor="ctr"/>
          <a:lstStyle/>
          <a:p>
            <a:pPr algn="ctr" indent="0" marL="0">
              <a:buNone/>
            </a:pPr>
            <a:r>
              <a:rPr lang="en-US" sz="1266" dirty="0">
                <a:solidFill>
                  <a:srgbClr val="8B5CF6"/>
                </a:solidFill>
                <a:latin typeface="Segoe UI Symbol" pitchFamily="34" charset="0"/>
                <a:ea typeface="Segoe UI Symbol" pitchFamily="34" charset="-122"/>
                <a:cs typeface="Segoe UI Symbol" pitchFamily="34" charset="-120"/>
              </a:rPr>
              <a:t>→</a:t>
            </a:r>
            <a:endParaRPr lang="en-US" sz="1266" dirty="0"/>
          </a:p>
        </p:txBody>
      </p:sp>
      <p:sp>
        <p:nvSpPr>
          <p:cNvPr id="18" name="Text 15"/>
          <p:cNvSpPr/>
          <p:nvPr/>
        </p:nvSpPr>
        <p:spPr>
          <a:xfrm>
            <a:off x="878681" y="3916114"/>
            <a:ext cx="2000250" cy="179380"/>
          </a:xfrm>
          <a:prstGeom prst="rect">
            <a:avLst/>
          </a:prstGeom>
          <a:noFill/>
          <a:ln/>
        </p:spPr>
        <p:txBody>
          <a:bodyPr wrap="square" lIns="0" tIns="0" rIns="0" bIns="0" rtlCol="0" anchor="t"/>
          <a:lstStyle/>
          <a:p>
            <a:pPr algn="l" indent="0" marL="0">
              <a:lnSpc>
                <a:spcPts val="1308"/>
              </a:lnSpc>
              <a:buNone/>
            </a:pPr>
            <a:r>
              <a:rPr lang="en-US" sz="844" dirty="0">
                <a:solidFill>
                  <a:srgbClr val="A7B0CE"/>
                </a:solidFill>
                <a:latin typeface="Carlito" pitchFamily="34" charset="0"/>
                <a:ea typeface="Carlito" pitchFamily="34" charset="-122"/>
                <a:cs typeface="Carlito" pitchFamily="34" charset="-120"/>
              </a:rPr>
              <a:t>Complete API platform overhaul</a:t>
            </a:r>
            <a:endParaRPr lang="en-US" sz="844" dirty="0"/>
          </a:p>
        </p:txBody>
      </p:sp>
      <p:sp>
        <p:nvSpPr>
          <p:cNvPr id="19" name="Text 16"/>
          <p:cNvSpPr/>
          <p:nvPr/>
        </p:nvSpPr>
        <p:spPr>
          <a:xfrm>
            <a:off x="3261122" y="1362670"/>
            <a:ext cx="2621756" cy="3362920"/>
          </a:xfrm>
          <a:prstGeom prst="roundRect">
            <a:avLst>
              <a:gd name="adj" fmla="val 5086"/>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20" name="Text 17"/>
          <p:cNvSpPr/>
          <p:nvPr/>
        </p:nvSpPr>
        <p:spPr>
          <a:xfrm>
            <a:off x="4673224" y="1466255"/>
            <a:ext cx="1243493" cy="740664"/>
          </a:xfrm>
          <a:prstGeom prst="rect">
            <a:avLst/>
          </a:prstGeom>
          <a:noFill/>
          <a:ln/>
        </p:spPr>
        <p:txBody>
          <a:bodyPr wrap="none" lIns="0" tIns="0" rIns="0" bIns="0" rtlCol="0" anchor="t"/>
          <a:lstStyle/>
          <a:p>
            <a:pPr algn="l" indent="0" marL="0">
              <a:lnSpc>
                <a:spcPts val="5400"/>
              </a:lnSpc>
              <a:buNone/>
            </a:pPr>
            <a:r>
              <a:rPr lang="en-US" sz="5400" b="1" dirty="0">
                <a:solidFill>
                  <a:srgbClr val="A7B0CE">
                    <a:alpha val="6000"/>
                  </a:srgbClr>
                </a:solidFill>
                <a:latin typeface="Liberation Sans Narrow" pitchFamily="34" charset="0"/>
                <a:ea typeface="Liberation Sans Narrow" pitchFamily="34" charset="-122"/>
                <a:cs typeface="Liberation Sans Narrow" pitchFamily="34" charset="-120"/>
              </a:rPr>
              <a:t>02</a:t>
            </a:r>
            <a:endParaRPr lang="en-US" sz="5400" dirty="0"/>
          </a:p>
        </p:txBody>
      </p:sp>
      <p:sp>
        <p:nvSpPr>
          <p:cNvPr id="21" name="Text 18"/>
          <p:cNvSpPr/>
          <p:nvPr/>
        </p:nvSpPr>
        <p:spPr>
          <a:xfrm>
            <a:off x="3441859" y="1540085"/>
            <a:ext cx="700824" cy="222028"/>
          </a:xfrm>
          <a:prstGeom prst="roundRect">
            <a:avLst>
              <a:gd name="adj" fmla="val 4285709"/>
            </a:avLst>
          </a:prstGeom>
          <a:noFill/>
          <a:ln w="7144">
            <a:solidFill>
              <a:srgbClr val="A7B0CE"/>
            </a:solidFill>
            <a:prstDash val="solid"/>
          </a:ln>
        </p:spPr>
        <p:txBody>
          <a:bodyPr wrap="square" rtlCol="0" anchor="ctr"/>
          <a:lstStyle/>
          <a:p>
            <a:pPr indent="0" marL="0">
              <a:buNone/>
            </a:pPr>
            <a:endParaRPr lang="en-US" dirty="0"/>
          </a:p>
        </p:txBody>
      </p:sp>
      <p:sp>
        <p:nvSpPr>
          <p:cNvPr id="22" name="Text 19"/>
          <p:cNvSpPr/>
          <p:nvPr/>
        </p:nvSpPr>
        <p:spPr>
          <a:xfrm>
            <a:off x="3464719" y="1551980"/>
            <a:ext cx="655104" cy="198239"/>
          </a:xfrm>
          <a:prstGeom prst="rect">
            <a:avLst/>
          </a:prstGeom>
          <a:noFill/>
          <a:ln/>
        </p:spPr>
        <p:txBody>
          <a:bodyPr wrap="none" lIns="0" tIns="0" rIns="0" bIns="0" rtlCol="0" anchor="ctr"/>
          <a:lstStyle/>
          <a:p>
            <a:pPr algn="ctr" indent="0" marL="0">
              <a:lnSpc>
                <a:spcPts val="886"/>
              </a:lnSpc>
              <a:buNone/>
            </a:pPr>
            <a:r>
              <a:rPr lang="en-US" sz="800" spc="106" kern="0" dirty="0">
                <a:solidFill>
                  <a:srgbClr val="A7B0CE"/>
                </a:solidFill>
                <a:latin typeface="Liberation Sans Narrow" pitchFamily="34" charset="0"/>
                <a:ea typeface="Liberation Sans Narrow" pitchFamily="34" charset="-122"/>
                <a:cs typeface="Liberation Sans Narrow" pitchFamily="34" charset="-120"/>
              </a:rPr>
              <a:t>PHASE 02</a:t>
            </a:r>
            <a:endParaRPr lang="en-US" sz="800" dirty="0"/>
          </a:p>
        </p:txBody>
      </p:sp>
      <p:sp>
        <p:nvSpPr>
          <p:cNvPr id="23" name="Text 20"/>
          <p:cNvSpPr/>
          <p:nvPr/>
        </p:nvSpPr>
        <p:spPr>
          <a:xfrm>
            <a:off x="3464719" y="1850231"/>
            <a:ext cx="2214563" cy="208312"/>
          </a:xfrm>
          <a:prstGeom prst="rect">
            <a:avLst/>
          </a:prstGeom>
          <a:noFill/>
          <a:ln/>
        </p:spPr>
        <p:txBody>
          <a:bodyPr wrap="none" lIns="0" tIns="0" rIns="0" bIns="0" rtlCol="0" anchor="t"/>
          <a:lstStyle/>
          <a:p>
            <a:pPr algn="l" indent="0" marL="0">
              <a:lnSpc>
                <a:spcPts val="1519"/>
              </a:lnSpc>
              <a:buNone/>
            </a:pPr>
            <a:r>
              <a:rPr lang="en-US" sz="1013" spc="-10" kern="0" dirty="0">
                <a:solidFill>
                  <a:srgbClr val="EDEFF9"/>
                </a:solidFill>
                <a:latin typeface="Liberation Sans Narrow" pitchFamily="34" charset="0"/>
                <a:ea typeface="Liberation Sans Narrow" pitchFamily="34" charset="-122"/>
                <a:cs typeface="Liberation Sans Narrow" pitchFamily="34" charset="-120"/>
              </a:rPr>
              <a:t>Q2 – Q4 2024</a:t>
            </a:r>
            <a:endParaRPr lang="en-US" sz="1013" dirty="0"/>
          </a:p>
        </p:txBody>
      </p:sp>
      <p:sp>
        <p:nvSpPr>
          <p:cNvPr id="24" name="Text 21"/>
          <p:cNvSpPr/>
          <p:nvPr/>
        </p:nvSpPr>
        <p:spPr>
          <a:xfrm>
            <a:off x="3464719" y="2157413"/>
            <a:ext cx="2214563" cy="7144"/>
          </a:xfrm>
          <a:prstGeom prst="rect">
            <a:avLst/>
          </a:prstGeom>
          <a:solidFill>
            <a:srgbClr val="A7B0CE">
              <a:alpha val="18000"/>
            </a:srgbClr>
          </a:solidFill>
          <a:ln/>
        </p:spPr>
        <p:txBody>
          <a:bodyPr wrap="square" rtlCol="0" anchor="ctr"/>
          <a:lstStyle/>
          <a:p>
            <a:pPr indent="0" marL="0">
              <a:buNone/>
            </a:pPr>
            <a:endParaRPr lang="en-US" dirty="0"/>
          </a:p>
        </p:txBody>
      </p:sp>
      <p:sp>
        <p:nvSpPr>
          <p:cNvPr id="25" name="Text 22"/>
          <p:cNvSpPr/>
          <p:nvPr/>
        </p:nvSpPr>
        <p:spPr>
          <a:xfrm>
            <a:off x="3464719" y="2690068"/>
            <a:ext cx="128588" cy="128588"/>
          </a:xfrm>
          <a:prstGeom prst="rect">
            <a:avLst/>
          </a:prstGeom>
          <a:noFill/>
          <a:ln/>
        </p:spPr>
        <p:txBody>
          <a:bodyPr wrap="none" lIns="0" tIns="0" rIns="0" bIns="0" rtlCol="0" anchor="ctr"/>
          <a:lstStyle/>
          <a:p>
            <a:pPr algn="ctr" indent="0" marL="0">
              <a:buNone/>
            </a:pPr>
            <a:r>
              <a:rPr lang="en-US" sz="1266" dirty="0">
                <a:solidFill>
                  <a:srgbClr val="8B5CF6"/>
                </a:solidFill>
                <a:latin typeface="Segoe UI Symbol" pitchFamily="34" charset="0"/>
                <a:ea typeface="Segoe UI Symbol" pitchFamily="34" charset="-122"/>
                <a:cs typeface="Segoe UI Symbol" pitchFamily="34" charset="-120"/>
              </a:rPr>
              <a:t>→</a:t>
            </a:r>
            <a:endParaRPr lang="en-US" sz="1266" dirty="0"/>
          </a:p>
        </p:txBody>
      </p:sp>
      <p:sp>
        <p:nvSpPr>
          <p:cNvPr id="26" name="Text 23"/>
          <p:cNvSpPr/>
          <p:nvPr/>
        </p:nvSpPr>
        <p:spPr>
          <a:xfrm>
            <a:off x="3679031" y="2675781"/>
            <a:ext cx="2000250" cy="179380"/>
          </a:xfrm>
          <a:prstGeom prst="rect">
            <a:avLst/>
          </a:prstGeom>
          <a:noFill/>
          <a:ln/>
        </p:spPr>
        <p:txBody>
          <a:bodyPr wrap="none" lIns="0" tIns="0" rIns="0" bIns="0" rtlCol="0" anchor="t"/>
          <a:lstStyle/>
          <a:p>
            <a:pPr algn="l" indent="0" marL="0">
              <a:lnSpc>
                <a:spcPts val="1308"/>
              </a:lnSpc>
              <a:buNone/>
            </a:pPr>
            <a:r>
              <a:rPr lang="en-US" sz="844" dirty="0">
                <a:solidFill>
                  <a:srgbClr val="A7B0CE"/>
                </a:solidFill>
                <a:latin typeface="Carlito" pitchFamily="34" charset="0"/>
                <a:ea typeface="Carlito" pitchFamily="34" charset="-122"/>
                <a:cs typeface="Carlito" pitchFamily="34" charset="-120"/>
              </a:rPr>
              <a:t>AI marketplace launch</a:t>
            </a:r>
            <a:endParaRPr lang="en-US" sz="844" dirty="0"/>
          </a:p>
        </p:txBody>
      </p:sp>
      <p:sp>
        <p:nvSpPr>
          <p:cNvPr id="27" name="Text 24"/>
          <p:cNvSpPr/>
          <p:nvPr/>
        </p:nvSpPr>
        <p:spPr>
          <a:xfrm>
            <a:off x="3464719" y="3310235"/>
            <a:ext cx="128588" cy="128588"/>
          </a:xfrm>
          <a:prstGeom prst="rect">
            <a:avLst/>
          </a:prstGeom>
          <a:noFill/>
          <a:ln/>
        </p:spPr>
        <p:txBody>
          <a:bodyPr wrap="none" lIns="0" tIns="0" rIns="0" bIns="0" rtlCol="0" anchor="ctr"/>
          <a:lstStyle/>
          <a:p>
            <a:pPr algn="ctr" indent="0" marL="0">
              <a:buNone/>
            </a:pPr>
            <a:r>
              <a:rPr lang="en-US" sz="1266" dirty="0">
                <a:solidFill>
                  <a:srgbClr val="8B5CF6"/>
                </a:solidFill>
                <a:latin typeface="Segoe UI Symbol" pitchFamily="34" charset="0"/>
                <a:ea typeface="Segoe UI Symbol" pitchFamily="34" charset="-122"/>
                <a:cs typeface="Segoe UI Symbol" pitchFamily="34" charset="-120"/>
              </a:rPr>
              <a:t>→</a:t>
            </a:r>
            <a:endParaRPr lang="en-US" sz="1266" dirty="0"/>
          </a:p>
        </p:txBody>
      </p:sp>
      <p:sp>
        <p:nvSpPr>
          <p:cNvPr id="28" name="Text 25"/>
          <p:cNvSpPr/>
          <p:nvPr/>
        </p:nvSpPr>
        <p:spPr>
          <a:xfrm>
            <a:off x="3679031" y="3295948"/>
            <a:ext cx="2000250" cy="179380"/>
          </a:xfrm>
          <a:prstGeom prst="rect">
            <a:avLst/>
          </a:prstGeom>
          <a:noFill/>
          <a:ln/>
        </p:spPr>
        <p:txBody>
          <a:bodyPr wrap="square" lIns="0" tIns="0" rIns="0" bIns="0" rtlCol="0" anchor="t"/>
          <a:lstStyle/>
          <a:p>
            <a:pPr algn="l" indent="0" marL="0">
              <a:lnSpc>
                <a:spcPts val="1308"/>
              </a:lnSpc>
              <a:buNone/>
            </a:pPr>
            <a:r>
              <a:rPr lang="en-US" sz="844" dirty="0">
                <a:solidFill>
                  <a:srgbClr val="A7B0CE"/>
                </a:solidFill>
                <a:latin typeface="Carlito" pitchFamily="34" charset="0"/>
                <a:ea typeface="Carlito" pitchFamily="34" charset="-122"/>
                <a:cs typeface="Carlito" pitchFamily="34" charset="-120"/>
              </a:rPr>
              <a:t>Strategic acquisition target integration</a:t>
            </a:r>
            <a:endParaRPr lang="en-US" sz="844" dirty="0"/>
          </a:p>
        </p:txBody>
      </p:sp>
      <p:sp>
        <p:nvSpPr>
          <p:cNvPr id="29" name="Text 26"/>
          <p:cNvSpPr/>
          <p:nvPr/>
        </p:nvSpPr>
        <p:spPr>
          <a:xfrm>
            <a:off x="3464719" y="3930402"/>
            <a:ext cx="128588" cy="128588"/>
          </a:xfrm>
          <a:prstGeom prst="rect">
            <a:avLst/>
          </a:prstGeom>
          <a:noFill/>
          <a:ln/>
        </p:spPr>
        <p:txBody>
          <a:bodyPr wrap="none" lIns="0" tIns="0" rIns="0" bIns="0" rtlCol="0" anchor="ctr"/>
          <a:lstStyle/>
          <a:p>
            <a:pPr algn="ctr" indent="0" marL="0">
              <a:buNone/>
            </a:pPr>
            <a:r>
              <a:rPr lang="en-US" sz="1266" dirty="0">
                <a:solidFill>
                  <a:srgbClr val="8B5CF6"/>
                </a:solidFill>
                <a:latin typeface="Segoe UI Symbol" pitchFamily="34" charset="0"/>
                <a:ea typeface="Segoe UI Symbol" pitchFamily="34" charset="-122"/>
                <a:cs typeface="Segoe UI Symbol" pitchFamily="34" charset="-120"/>
              </a:rPr>
              <a:t>→</a:t>
            </a:r>
            <a:endParaRPr lang="en-US" sz="1266" dirty="0"/>
          </a:p>
        </p:txBody>
      </p:sp>
      <p:sp>
        <p:nvSpPr>
          <p:cNvPr id="30" name="Text 27"/>
          <p:cNvSpPr/>
          <p:nvPr/>
        </p:nvSpPr>
        <p:spPr>
          <a:xfrm>
            <a:off x="3679031" y="3916114"/>
            <a:ext cx="2000250" cy="179380"/>
          </a:xfrm>
          <a:prstGeom prst="rect">
            <a:avLst/>
          </a:prstGeom>
          <a:noFill/>
          <a:ln/>
        </p:spPr>
        <p:txBody>
          <a:bodyPr wrap="square" lIns="0" tIns="0" rIns="0" bIns="0" rtlCol="0" anchor="t"/>
          <a:lstStyle/>
          <a:p>
            <a:pPr algn="l" indent="0" marL="0">
              <a:lnSpc>
                <a:spcPts val="1308"/>
              </a:lnSpc>
              <a:buNone/>
            </a:pPr>
            <a:r>
              <a:rPr lang="en-US" sz="844" dirty="0">
                <a:solidFill>
                  <a:srgbClr val="A7B0CE"/>
                </a:solidFill>
                <a:latin typeface="Carlito" pitchFamily="34" charset="0"/>
                <a:ea typeface="Carlito" pitchFamily="34" charset="-122"/>
                <a:cs typeface="Carlito" pitchFamily="34" charset="-120"/>
              </a:rPr>
              <a:t>International expansion (APAC)</a:t>
            </a:r>
            <a:endParaRPr lang="en-US" sz="844" dirty="0"/>
          </a:p>
        </p:txBody>
      </p:sp>
      <p:pic>
        <p:nvPicPr>
          <p:cNvPr id="31" name="Image 1" descr="preencoded.png">    </p:cNvPr>
          <p:cNvPicPr>
            <a:picLocks noChangeAspect="1"/>
          </p:cNvPicPr>
          <p:nvPr/>
        </p:nvPicPr>
        <p:blipFill>
          <a:blip r:embed="rId2"/>
          <a:stretch>
            <a:fillRect/>
          </a:stretch>
        </p:blipFill>
        <p:spPr>
          <a:xfrm>
            <a:off x="6057900" y="1359098"/>
            <a:ext cx="2628900" cy="3370064"/>
          </a:xfrm>
          <a:prstGeom prst="rect">
            <a:avLst/>
          </a:prstGeom>
        </p:spPr>
      </p:pic>
      <p:sp>
        <p:nvSpPr>
          <p:cNvPr id="32" name="Text 28"/>
          <p:cNvSpPr/>
          <p:nvPr/>
        </p:nvSpPr>
        <p:spPr>
          <a:xfrm>
            <a:off x="6061472" y="1362670"/>
            <a:ext cx="2621756" cy="3362920"/>
          </a:xfrm>
          <a:prstGeom prst="roundRect">
            <a:avLst>
              <a:gd name="adj" fmla="val 5086"/>
            </a:avLst>
          </a:prstGeom>
          <a:noFill/>
          <a:ln w="7144">
            <a:solidFill>
              <a:srgbClr val="8B5CF6"/>
            </a:solidFill>
            <a:prstDash val="solid"/>
          </a:ln>
          <a:effectLst>
            <a:outerShdw sx="100000" sy="100000" kx="0" ky="0" algn="bl" rotWithShape="0" blurRad="571500" dist="50800" dir="16200000">
              <a:srgbClr val="8B5CF6">
                <a:alpha val="14000"/>
              </a:srgbClr>
            </a:outerShdw>
          </a:effectLst>
        </p:spPr>
        <p:txBody>
          <a:bodyPr wrap="square" rtlCol="0" anchor="ctr"/>
          <a:lstStyle/>
          <a:p>
            <a:pPr indent="0" marL="0">
              <a:buNone/>
            </a:pPr>
            <a:endParaRPr lang="en-US" dirty="0"/>
          </a:p>
        </p:txBody>
      </p:sp>
      <p:sp>
        <p:nvSpPr>
          <p:cNvPr id="33" name="Text 29"/>
          <p:cNvSpPr/>
          <p:nvPr/>
        </p:nvSpPr>
        <p:spPr>
          <a:xfrm>
            <a:off x="7473574" y="1466255"/>
            <a:ext cx="1243493" cy="740664"/>
          </a:xfrm>
          <a:prstGeom prst="rect">
            <a:avLst/>
          </a:prstGeom>
          <a:noFill/>
          <a:ln/>
        </p:spPr>
        <p:txBody>
          <a:bodyPr wrap="none" lIns="0" tIns="0" rIns="0" bIns="0" rtlCol="0" anchor="t"/>
          <a:lstStyle/>
          <a:p>
            <a:pPr algn="l" indent="0" marL="0">
              <a:lnSpc>
                <a:spcPts val="5400"/>
              </a:lnSpc>
              <a:buNone/>
            </a:pPr>
            <a:r>
              <a:rPr lang="en-US" sz="5400" b="1" dirty="0">
                <a:solidFill>
                  <a:srgbClr val="8B5CF6">
                    <a:alpha val="12000"/>
                  </a:srgbClr>
                </a:solidFill>
                <a:latin typeface="Liberation Sans Narrow" pitchFamily="34" charset="0"/>
                <a:ea typeface="Liberation Sans Narrow" pitchFamily="34" charset="-122"/>
                <a:cs typeface="Liberation Sans Narrow" pitchFamily="34" charset="-120"/>
              </a:rPr>
              <a:t>03</a:t>
            </a:r>
            <a:endParaRPr lang="en-US" sz="5400" dirty="0"/>
          </a:p>
        </p:txBody>
      </p:sp>
      <p:sp>
        <p:nvSpPr>
          <p:cNvPr id="34" name="Text 30"/>
          <p:cNvSpPr/>
          <p:nvPr/>
        </p:nvSpPr>
        <p:spPr>
          <a:xfrm>
            <a:off x="6242209" y="1540085"/>
            <a:ext cx="1270092" cy="222028"/>
          </a:xfrm>
          <a:prstGeom prst="roundRect">
            <a:avLst>
              <a:gd name="adj" fmla="val 4285709"/>
            </a:avLst>
          </a:prstGeom>
          <a:solidFill>
            <a:srgbClr val="8B5CF6">
              <a:alpha val="16000"/>
            </a:srgbClr>
          </a:solidFill>
          <a:ln w="7144">
            <a:solidFill>
              <a:srgbClr val="8B5CF6"/>
            </a:solidFill>
            <a:prstDash val="solid"/>
          </a:ln>
        </p:spPr>
        <p:txBody>
          <a:bodyPr wrap="square" rtlCol="0" anchor="ctr"/>
          <a:lstStyle/>
          <a:p>
            <a:pPr indent="0" marL="0">
              <a:buNone/>
            </a:pPr>
            <a:endParaRPr lang="en-US" dirty="0"/>
          </a:p>
        </p:txBody>
      </p:sp>
      <p:sp>
        <p:nvSpPr>
          <p:cNvPr id="35" name="Text 31"/>
          <p:cNvSpPr/>
          <p:nvPr/>
        </p:nvSpPr>
        <p:spPr>
          <a:xfrm>
            <a:off x="6357938" y="1626096"/>
            <a:ext cx="50006" cy="50006"/>
          </a:xfrm>
          <a:prstGeom prst="roundRect">
            <a:avLst>
              <a:gd name="adj" fmla="val 66667"/>
            </a:avLst>
          </a:prstGeom>
          <a:solidFill>
            <a:srgbClr val="8B5CF6"/>
          </a:solidFill>
          <a:ln/>
        </p:spPr>
        <p:txBody>
          <a:bodyPr wrap="square" rtlCol="0" anchor="ctr"/>
          <a:lstStyle/>
          <a:p>
            <a:pPr indent="0" marL="0">
              <a:buNone/>
            </a:pPr>
            <a:endParaRPr lang="en-US" dirty="0"/>
          </a:p>
        </p:txBody>
      </p:sp>
      <p:sp>
        <p:nvSpPr>
          <p:cNvPr id="36" name="Text 32"/>
          <p:cNvSpPr/>
          <p:nvPr/>
        </p:nvSpPr>
        <p:spPr>
          <a:xfrm>
            <a:off x="6265069" y="1551980"/>
            <a:ext cx="1224372" cy="170807"/>
          </a:xfrm>
          <a:prstGeom prst="rect">
            <a:avLst/>
          </a:prstGeom>
          <a:noFill/>
          <a:ln/>
        </p:spPr>
        <p:txBody>
          <a:bodyPr wrap="none" lIns="0" tIns="0" rIns="0" bIns="0" rtlCol="0" anchor="ctr">
            <a:normAutofit/>
          </a:bodyPr>
          <a:lstStyle/>
          <a:p>
            <a:pPr algn="ctr" indent="0" marL="0">
              <a:lnSpc>
                <a:spcPts val="886"/>
              </a:lnSpc>
              <a:buNone/>
            </a:pPr>
            <a:r>
              <a:rPr lang="en-US" sz="800" spc="106" kern="0" dirty="0">
                <a:solidFill>
                  <a:srgbClr val="EDEFF9"/>
                </a:solidFill>
                <a:latin typeface="Courier New" pitchFamily="34" charset="0"/>
                <a:ea typeface="Courier New" pitchFamily="34" charset="-122"/>
                <a:cs typeface="Courier New" pitchFamily="34" charset="-120"/>
              </a:rPr>
              <a:t>LONG-TERM VISION</a:t>
            </a:r>
            <a:endParaRPr lang="en-US" sz="800" dirty="0"/>
          </a:p>
        </p:txBody>
      </p:sp>
      <p:sp>
        <p:nvSpPr>
          <p:cNvPr id="37" name="Text 33"/>
          <p:cNvSpPr/>
          <p:nvPr/>
        </p:nvSpPr>
        <p:spPr>
          <a:xfrm>
            <a:off x="6265069" y="2569964"/>
            <a:ext cx="128588" cy="128588"/>
          </a:xfrm>
          <a:prstGeom prst="rect">
            <a:avLst/>
          </a:prstGeom>
          <a:noFill/>
          <a:ln/>
        </p:spPr>
        <p:txBody>
          <a:bodyPr wrap="none" lIns="0" tIns="0" rIns="0" bIns="0" rtlCol="0" anchor="ctr"/>
          <a:lstStyle/>
          <a:p>
            <a:pPr algn="ctr" indent="0" marL="0">
              <a:buNone/>
            </a:pPr>
            <a:r>
              <a:rPr lang="en-US" sz="1266" dirty="0">
                <a:solidFill>
                  <a:srgbClr val="8B5CF6"/>
                </a:solidFill>
                <a:latin typeface="Segoe UI Symbol" pitchFamily="34" charset="0"/>
                <a:ea typeface="Segoe UI Symbol" pitchFamily="34" charset="-122"/>
                <a:cs typeface="Segoe UI Symbol" pitchFamily="34" charset="-120"/>
              </a:rPr>
              <a:t>⚑</a:t>
            </a:r>
            <a:endParaRPr lang="en-US" sz="1266" dirty="0"/>
          </a:p>
        </p:txBody>
      </p:sp>
      <p:sp>
        <p:nvSpPr>
          <p:cNvPr id="38" name="Text 34"/>
          <p:cNvSpPr/>
          <p:nvPr/>
        </p:nvSpPr>
        <p:spPr>
          <a:xfrm>
            <a:off x="6479381" y="2555677"/>
            <a:ext cx="2000250" cy="358759"/>
          </a:xfrm>
          <a:prstGeom prst="rect">
            <a:avLst/>
          </a:prstGeom>
          <a:noFill/>
          <a:ln/>
        </p:spPr>
        <p:txBody>
          <a:bodyPr wrap="square" lIns="0" tIns="0" rIns="0" bIns="0" rtlCol="0" anchor="t"/>
          <a:lstStyle/>
          <a:p>
            <a:pPr algn="l" indent="0" marL="0">
              <a:lnSpc>
                <a:spcPts val="1308"/>
              </a:lnSpc>
              <a:buNone/>
            </a:pPr>
            <a:r>
              <a:rPr lang="en-US" sz="844" dirty="0">
                <a:solidFill>
                  <a:srgbClr val="EDEFF9"/>
                </a:solidFill>
                <a:latin typeface="Carlito" pitchFamily="34" charset="0"/>
                <a:ea typeface="Carlito" pitchFamily="34" charset="-122"/>
                <a:cs typeface="Carlito" pitchFamily="34" charset="-120"/>
              </a:rPr>
              <a:t>Become the definitive enterprise AI platform</a:t>
            </a:r>
            <a:endParaRPr lang="en-US" sz="844" dirty="0"/>
          </a:p>
        </p:txBody>
      </p:sp>
      <p:sp>
        <p:nvSpPr>
          <p:cNvPr id="39" name="Shape 35"/>
          <p:cNvSpPr/>
          <p:nvPr/>
        </p:nvSpPr>
        <p:spPr>
          <a:xfrm>
            <a:off x="6265069" y="3682603"/>
            <a:ext cx="2214563" cy="0"/>
          </a:xfrm>
          <a:prstGeom prst="line">
            <a:avLst/>
          </a:prstGeom>
          <a:noFill/>
          <a:ln w="7144">
            <a:solidFill>
              <a:srgbClr val="8B5CF6"/>
            </a:solidFill>
            <a:prstDash val="solid"/>
          </a:ln>
        </p:spPr>
      </p:sp>
      <p:sp>
        <p:nvSpPr>
          <p:cNvPr id="40" name="Text 36"/>
          <p:cNvSpPr/>
          <p:nvPr/>
        </p:nvSpPr>
        <p:spPr>
          <a:xfrm>
            <a:off x="6265069" y="3814763"/>
            <a:ext cx="2214563" cy="493776"/>
          </a:xfrm>
          <a:prstGeom prst="rect">
            <a:avLst/>
          </a:prstGeom>
          <a:noFill/>
          <a:ln/>
        </p:spPr>
        <p:txBody>
          <a:bodyPr wrap="none" lIns="0" tIns="0" rIns="0" bIns="0" rtlCol="0" anchor="t"/>
          <a:lstStyle/>
          <a:p>
            <a:pPr algn="l" indent="0" marL="0">
              <a:lnSpc>
                <a:spcPts val="3600"/>
              </a:lnSpc>
              <a:buNone/>
            </a:pPr>
            <a:r>
              <a:rPr lang="en-US" sz="3600" b="1" spc="-72" kern="0" dirty="0">
                <a:solidFill>
                  <a:srgbClr val="8B5CF6"/>
                </a:solidFill>
                <a:latin typeface="Liberation Sans Narrow" pitchFamily="34" charset="0"/>
                <a:ea typeface="Liberation Sans Narrow" pitchFamily="34" charset="-122"/>
                <a:cs typeface="Liberation Sans Narrow" pitchFamily="34" charset="-120"/>
              </a:rPr>
              <a:t>$100M</a:t>
            </a:r>
            <a:endParaRPr lang="en-US" sz="3600" dirty="0"/>
          </a:p>
        </p:txBody>
      </p:sp>
      <p:sp>
        <p:nvSpPr>
          <p:cNvPr id="41" name="Text 37"/>
          <p:cNvSpPr/>
          <p:nvPr/>
        </p:nvSpPr>
        <p:spPr>
          <a:xfrm>
            <a:off x="6265069" y="4343400"/>
            <a:ext cx="2214563" cy="192881"/>
          </a:xfrm>
          <a:prstGeom prst="rect">
            <a:avLst/>
          </a:prstGeom>
          <a:noFill/>
          <a:ln/>
        </p:spPr>
        <p:txBody>
          <a:bodyPr wrap="none" lIns="0" tIns="0" rIns="0" bIns="0" rtlCol="0" anchor="t"/>
          <a:lstStyle/>
          <a:p>
            <a:pPr algn="l" indent="0" marL="0">
              <a:lnSpc>
                <a:spcPts val="1519"/>
              </a:lnSpc>
              <a:buNone/>
            </a:pPr>
            <a:r>
              <a:rPr lang="en-US" sz="1013" dirty="0">
                <a:solidFill>
                  <a:srgbClr val="EDEFF9"/>
                </a:solidFill>
                <a:latin typeface="Liberation Sans Narrow" pitchFamily="34" charset="0"/>
                <a:ea typeface="Liberation Sans Narrow" pitchFamily="34" charset="-122"/>
                <a:cs typeface="Liberation Sans Narrow" pitchFamily="34" charset="-120"/>
              </a:rPr>
              <a:t>ARR by 2026</a:t>
            </a:r>
            <a:endParaRPr lang="en-US" sz="1013"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285875" y="-1857375"/>
            <a:ext cx="3857625" cy="3857625"/>
          </a:xfrm>
          <a:prstGeom prst="rect">
            <a:avLst/>
          </a:prstGeom>
        </p:spPr>
      </p:pic>
      <p:sp>
        <p:nvSpPr>
          <p:cNvPr id="3" name="Text 0"/>
          <p:cNvSpPr/>
          <p:nvPr/>
        </p:nvSpPr>
        <p:spPr>
          <a:xfrm>
            <a:off x="-1285875" y="-1857375"/>
            <a:ext cx="3857625" cy="3857625"/>
          </a:xfrm>
          <a:prstGeom prst="ellipse">
            <a:avLst/>
          </a:prstGeom>
          <a:solidFill>
            <a:srgbClr val="FFFFFF">
              <a:alpha val="0"/>
            </a:srgbClr>
          </a:solidFill>
          <a:ln/>
        </p:spPr>
        <p:txBody>
          <a:bodyPr wrap="square" rtlCol="0" anchor="ctr"/>
          <a:lstStyle/>
          <a:p>
            <a:pPr indent="0" marL="0">
              <a:buNone/>
            </a:pPr>
            <a:endParaRPr lang="en-US" dirty="0"/>
          </a:p>
        </p:txBody>
      </p:sp>
      <p:sp>
        <p:nvSpPr>
          <p:cNvPr id="4" name="Text 1"/>
          <p:cNvSpPr/>
          <p:nvPr/>
        </p:nvSpPr>
        <p:spPr>
          <a:xfrm>
            <a:off x="457200" y="400050"/>
            <a:ext cx="8636000" cy="164592"/>
          </a:xfrm>
          <a:prstGeom prst="rect">
            <a:avLst/>
          </a:prstGeom>
          <a:noFill/>
          <a:ln/>
        </p:spPr>
        <p:txBody>
          <a:bodyPr wrap="none" lIns="0" tIns="0" rIns="0" bIns="0" rtlCol="0" anchor="t"/>
          <a:lstStyle/>
          <a:p>
            <a:pPr algn="l" indent="0" marL="0">
              <a:lnSpc>
                <a:spcPts val="886"/>
              </a:lnSpc>
              <a:buNone/>
            </a:pPr>
            <a:r>
              <a:rPr lang="en-US" sz="800" spc="130" kern="0" dirty="0">
                <a:solidFill>
                  <a:srgbClr val="8B5CF6"/>
                </a:solidFill>
                <a:latin typeface="Courier New" pitchFamily="34" charset="0"/>
                <a:ea typeface="Courier New" pitchFamily="34" charset="-122"/>
                <a:cs typeface="Courier New" pitchFamily="34" charset="-120"/>
              </a:rPr>
              <a:t>RISK MANAGEMENT</a:t>
            </a:r>
            <a:endParaRPr lang="en-US" sz="800" dirty="0"/>
          </a:p>
        </p:txBody>
      </p:sp>
      <p:sp>
        <p:nvSpPr>
          <p:cNvPr id="5" name="Text 2"/>
          <p:cNvSpPr/>
          <p:nvPr/>
        </p:nvSpPr>
        <p:spPr>
          <a:xfrm>
            <a:off x="457200" y="598289"/>
            <a:ext cx="8636000" cy="354902"/>
          </a:xfrm>
          <a:prstGeom prst="rect">
            <a:avLst/>
          </a:prstGeom>
          <a:noFill/>
          <a:ln/>
        </p:spPr>
        <p:txBody>
          <a:bodyPr wrap="square" lIns="0" tIns="0" rIns="0" bIns="0" rtlCol="0" anchor="t"/>
          <a:lstStyle/>
          <a:p>
            <a:pPr algn="l" indent="0" marL="0">
              <a:lnSpc>
                <a:spcPts val="2588"/>
              </a:lnSpc>
              <a:buNone/>
            </a:pPr>
            <a:r>
              <a:rPr lang="en-US" sz="2250" b="1" spc="-34" kern="0" dirty="0">
                <a:solidFill>
                  <a:srgbClr val="EDEFF9"/>
                </a:solidFill>
                <a:latin typeface="Carlito" pitchFamily="34" charset="0"/>
                <a:ea typeface="Carlito" pitchFamily="34" charset="-122"/>
                <a:cs typeface="Carlito" pitchFamily="34" charset="-120"/>
              </a:rPr>
              <a:t>Proactive Risk Management</a:t>
            </a:r>
            <a:endParaRPr lang="en-US" sz="2250" dirty="0"/>
          </a:p>
        </p:txBody>
      </p:sp>
      <p:sp>
        <p:nvSpPr>
          <p:cNvPr id="6" name="Text 3"/>
          <p:cNvSpPr/>
          <p:nvPr/>
        </p:nvSpPr>
        <p:spPr>
          <a:xfrm>
            <a:off x="457200" y="998339"/>
            <a:ext cx="5000625" cy="173593"/>
          </a:xfrm>
          <a:prstGeom prst="rect">
            <a:avLst/>
          </a:prstGeom>
          <a:noFill/>
          <a:ln/>
        </p:spPr>
        <p:txBody>
          <a:bodyPr wrap="square" lIns="0" tIns="0" rIns="0" bIns="0" rtlCol="0" anchor="t"/>
          <a:lstStyle/>
          <a:p>
            <a:pPr algn="l" indent="0" marL="0">
              <a:lnSpc>
                <a:spcPts val="1266"/>
              </a:lnSpc>
              <a:buNone/>
            </a:pPr>
            <a:r>
              <a:rPr lang="en-US" sz="844" dirty="0">
                <a:solidFill>
                  <a:srgbClr val="A7B0CE"/>
                </a:solidFill>
                <a:latin typeface="Carlito" pitchFamily="34" charset="0"/>
                <a:ea typeface="Carlito" pitchFamily="34" charset="-122"/>
                <a:cs typeface="Carlito" pitchFamily="34" charset="-120"/>
              </a:rPr>
              <a:t>Every key risk on our register is paired with a concrete mitigation.</a:t>
            </a:r>
            <a:endParaRPr lang="en-US" sz="844" dirty="0"/>
          </a:p>
        </p:txBody>
      </p:sp>
      <p:sp>
        <p:nvSpPr>
          <p:cNvPr id="7" name="Text 4"/>
          <p:cNvSpPr/>
          <p:nvPr/>
        </p:nvSpPr>
        <p:spPr>
          <a:xfrm>
            <a:off x="460772" y="1348383"/>
            <a:ext cx="8222456" cy="3377208"/>
          </a:xfrm>
          <a:prstGeom prst="roundRect">
            <a:avLst>
              <a:gd name="adj" fmla="val 3949"/>
            </a:avLst>
          </a:prstGeom>
          <a:solidFill>
            <a:srgbClr val="151C36"/>
          </a:solidFill>
          <a:ln w="7144">
            <a:solidFill>
              <a:srgbClr val="A7B0CE"/>
            </a:solidFill>
            <a:prstDash val="solid"/>
          </a:ln>
        </p:spPr>
        <p:txBody>
          <a:bodyPr wrap="square" rtlCol="0" anchor="ctr"/>
          <a:lstStyle/>
          <a:p>
            <a:pPr indent="0" marL="0">
              <a:buNone/>
            </a:pPr>
            <a:endParaRPr lang="en-US" dirty="0"/>
          </a:p>
        </p:txBody>
      </p:sp>
      <p:sp>
        <p:nvSpPr>
          <p:cNvPr id="8" name="Shape 5"/>
          <p:cNvSpPr/>
          <p:nvPr/>
        </p:nvSpPr>
        <p:spPr>
          <a:xfrm>
            <a:off x="464344" y="1696641"/>
            <a:ext cx="8215313" cy="0"/>
          </a:xfrm>
          <a:prstGeom prst="line">
            <a:avLst/>
          </a:prstGeom>
          <a:noFill/>
          <a:ln w="7144">
            <a:solidFill>
              <a:srgbClr val="A7B0CE"/>
            </a:solidFill>
            <a:prstDash val="solid"/>
          </a:ln>
        </p:spPr>
      </p:sp>
      <p:sp>
        <p:nvSpPr>
          <p:cNvPr id="9" name="Text 6"/>
          <p:cNvSpPr/>
          <p:nvPr/>
        </p:nvSpPr>
        <p:spPr>
          <a:xfrm>
            <a:off x="678656" y="1466255"/>
            <a:ext cx="3429000" cy="112514"/>
          </a:xfrm>
          <a:prstGeom prst="rect">
            <a:avLst/>
          </a:prstGeom>
          <a:noFill/>
          <a:ln/>
        </p:spPr>
        <p:txBody>
          <a:bodyPr wrap="none" lIns="0" tIns="0" rIns="0" bIns="0" rtlCol="0" anchor="t"/>
          <a:lstStyle/>
          <a:p>
            <a:pPr algn="l" indent="0" marL="0">
              <a:lnSpc>
                <a:spcPts val="886"/>
              </a:lnSpc>
              <a:buNone/>
            </a:pPr>
            <a:r>
              <a:rPr lang="en-US" sz="800" spc="118" kern="0" dirty="0">
                <a:solidFill>
                  <a:srgbClr val="A7B0CE"/>
                </a:solidFill>
                <a:latin typeface="Courier New" pitchFamily="34" charset="0"/>
                <a:ea typeface="Courier New" pitchFamily="34" charset="-122"/>
                <a:cs typeface="Courier New" pitchFamily="34" charset="-120"/>
              </a:rPr>
              <a:t>RISK</a:t>
            </a:r>
            <a:endParaRPr lang="en-US" sz="800" dirty="0"/>
          </a:p>
        </p:txBody>
      </p:sp>
      <p:sp>
        <p:nvSpPr>
          <p:cNvPr id="10" name="Text 7"/>
          <p:cNvSpPr/>
          <p:nvPr/>
        </p:nvSpPr>
        <p:spPr>
          <a:xfrm>
            <a:off x="2993231" y="1466255"/>
            <a:ext cx="1529823" cy="112514"/>
          </a:xfrm>
          <a:prstGeom prst="rect">
            <a:avLst/>
          </a:prstGeom>
          <a:noFill/>
          <a:ln/>
        </p:spPr>
        <p:txBody>
          <a:bodyPr wrap="none" lIns="0" tIns="0" rIns="0" bIns="0" rtlCol="0" anchor="t"/>
          <a:lstStyle/>
          <a:p>
            <a:pPr algn="l" indent="0" marL="0">
              <a:lnSpc>
                <a:spcPts val="886"/>
              </a:lnSpc>
              <a:buNone/>
            </a:pPr>
            <a:r>
              <a:rPr lang="en-US" sz="800" spc="118" kern="0" dirty="0">
                <a:solidFill>
                  <a:srgbClr val="A7B0CE"/>
                </a:solidFill>
                <a:latin typeface="Courier New" pitchFamily="34" charset="0"/>
                <a:ea typeface="Courier New" pitchFamily="34" charset="-122"/>
                <a:cs typeface="Courier New" pitchFamily="34" charset="-120"/>
              </a:rPr>
              <a:t>IMPACT</a:t>
            </a:r>
            <a:endParaRPr lang="en-US" sz="800" dirty="0"/>
          </a:p>
        </p:txBody>
      </p:sp>
      <p:sp>
        <p:nvSpPr>
          <p:cNvPr id="11" name="Text 8"/>
          <p:cNvSpPr/>
          <p:nvPr/>
        </p:nvSpPr>
        <p:spPr>
          <a:xfrm>
            <a:off x="4236244" y="1466255"/>
            <a:ext cx="4229100" cy="112514"/>
          </a:xfrm>
          <a:prstGeom prst="rect">
            <a:avLst/>
          </a:prstGeom>
          <a:noFill/>
          <a:ln/>
        </p:spPr>
        <p:txBody>
          <a:bodyPr wrap="none" lIns="0" tIns="0" rIns="0" bIns="0" rtlCol="0" anchor="t"/>
          <a:lstStyle/>
          <a:p>
            <a:pPr algn="l" indent="0" marL="0">
              <a:lnSpc>
                <a:spcPts val="886"/>
              </a:lnSpc>
              <a:buNone/>
            </a:pPr>
            <a:r>
              <a:rPr lang="en-US" sz="800" spc="118" kern="0" dirty="0">
                <a:solidFill>
                  <a:srgbClr val="A7B0CE"/>
                </a:solidFill>
                <a:latin typeface="Courier New" pitchFamily="34" charset="0"/>
                <a:ea typeface="Courier New" pitchFamily="34" charset="-122"/>
                <a:cs typeface="Courier New" pitchFamily="34" charset="-120"/>
              </a:rPr>
              <a:t>MITIGATION STRATEGY</a:t>
            </a:r>
            <a:endParaRPr lang="en-US" sz="800" dirty="0"/>
          </a:p>
        </p:txBody>
      </p:sp>
      <p:sp>
        <p:nvSpPr>
          <p:cNvPr id="12" name="Shape 9"/>
          <p:cNvSpPr/>
          <p:nvPr/>
        </p:nvSpPr>
        <p:spPr>
          <a:xfrm>
            <a:off x="464344" y="2302408"/>
            <a:ext cx="8215313" cy="0"/>
          </a:xfrm>
          <a:prstGeom prst="line">
            <a:avLst/>
          </a:prstGeom>
          <a:noFill/>
          <a:ln w="7144">
            <a:solidFill>
              <a:srgbClr val="A7B0CE"/>
            </a:solidFill>
            <a:prstDash val="solid"/>
          </a:ln>
        </p:spPr>
      </p:sp>
      <p:sp>
        <p:nvSpPr>
          <p:cNvPr id="13" name="Text 10"/>
          <p:cNvSpPr/>
          <p:nvPr/>
        </p:nvSpPr>
        <p:spPr>
          <a:xfrm>
            <a:off x="678656" y="1928031"/>
            <a:ext cx="142875" cy="142875"/>
          </a:xfrm>
          <a:prstGeom prst="rect">
            <a:avLst/>
          </a:prstGeom>
          <a:noFill/>
          <a:ln/>
        </p:spPr>
        <p:txBody>
          <a:bodyPr wrap="none" lIns="0" tIns="0" rIns="0" bIns="0" rtlCol="0" anchor="ctr"/>
          <a:lstStyle/>
          <a:p>
            <a:pPr algn="ctr" indent="0" marL="0">
              <a:buNone/>
            </a:pPr>
            <a:r>
              <a:rPr lang="en-US" sz="1406" dirty="0">
                <a:solidFill>
                  <a:srgbClr val="A7B0CE"/>
                </a:solidFill>
                <a:latin typeface="Segoe UI Symbol" pitchFamily="34" charset="0"/>
                <a:ea typeface="Segoe UI Symbol" pitchFamily="34" charset="-122"/>
                <a:cs typeface="Segoe UI Symbol" pitchFamily="34" charset="-120"/>
              </a:rPr>
              <a:t>▦</a:t>
            </a:r>
            <a:endParaRPr lang="en-US" sz="1406" dirty="0"/>
          </a:p>
        </p:txBody>
      </p:sp>
      <p:sp>
        <p:nvSpPr>
          <p:cNvPr id="14" name="Text 11"/>
          <p:cNvSpPr/>
          <p:nvPr/>
        </p:nvSpPr>
        <p:spPr>
          <a:xfrm>
            <a:off x="907256" y="1908386"/>
            <a:ext cx="1914525" cy="196739"/>
          </a:xfrm>
          <a:prstGeom prst="rect">
            <a:avLst/>
          </a:prstGeom>
          <a:noFill/>
          <a:ln/>
        </p:spPr>
        <p:txBody>
          <a:bodyPr wrap="none" lIns="0" tIns="0" rIns="0" bIns="0" rtlCol="0" anchor="t"/>
          <a:lstStyle/>
          <a:p>
            <a:pPr algn="l" indent="0" marL="0">
              <a:lnSpc>
                <a:spcPts val="1434"/>
              </a:lnSpc>
              <a:buNone/>
            </a:pPr>
            <a:r>
              <a:rPr lang="en-US" sz="956" dirty="0">
                <a:solidFill>
                  <a:srgbClr val="EDEFF9"/>
                </a:solidFill>
                <a:latin typeface="Carlito" pitchFamily="34" charset="0"/>
                <a:ea typeface="Carlito" pitchFamily="34" charset="-122"/>
                <a:cs typeface="Carlito" pitchFamily="34" charset="-120"/>
              </a:rPr>
              <a:t>Market Competition</a:t>
            </a:r>
            <a:endParaRPr lang="en-US" sz="956" dirty="0"/>
          </a:p>
        </p:txBody>
      </p:sp>
      <p:sp>
        <p:nvSpPr>
          <p:cNvPr id="15" name="Text 12"/>
          <p:cNvSpPr/>
          <p:nvPr/>
        </p:nvSpPr>
        <p:spPr>
          <a:xfrm>
            <a:off x="2971769" y="1876832"/>
            <a:ext cx="579488" cy="245274"/>
          </a:xfrm>
          <a:prstGeom prst="roundRect">
            <a:avLst>
              <a:gd name="adj" fmla="val 3879529"/>
            </a:avLst>
          </a:prstGeom>
          <a:solidFill>
            <a:srgbClr val="F87171">
              <a:alpha val="12000"/>
            </a:srgbClr>
          </a:solidFill>
          <a:ln w="7144">
            <a:solidFill>
              <a:srgbClr val="F87171"/>
            </a:solidFill>
            <a:prstDash val="solid"/>
          </a:ln>
        </p:spPr>
        <p:txBody>
          <a:bodyPr wrap="square" rtlCol="0" anchor="ctr"/>
          <a:lstStyle/>
          <a:p>
            <a:pPr indent="0" marL="0">
              <a:buNone/>
            </a:pPr>
            <a:endParaRPr lang="en-US" dirty="0"/>
          </a:p>
        </p:txBody>
      </p:sp>
      <p:sp>
        <p:nvSpPr>
          <p:cNvPr id="16" name="Text 13"/>
          <p:cNvSpPr/>
          <p:nvPr/>
        </p:nvSpPr>
        <p:spPr>
          <a:xfrm>
            <a:off x="3100388" y="1974466"/>
            <a:ext cx="50006" cy="50006"/>
          </a:xfrm>
          <a:prstGeom prst="roundRect">
            <a:avLst>
              <a:gd name="adj" fmla="val 66667"/>
            </a:avLst>
          </a:prstGeom>
          <a:solidFill>
            <a:srgbClr val="F87171"/>
          </a:solidFill>
          <a:ln/>
        </p:spPr>
        <p:txBody>
          <a:bodyPr wrap="square" rtlCol="0" anchor="ctr"/>
          <a:lstStyle/>
          <a:p>
            <a:pPr indent="0" marL="0">
              <a:buNone/>
            </a:pPr>
            <a:endParaRPr lang="en-US" dirty="0"/>
          </a:p>
        </p:txBody>
      </p:sp>
      <p:sp>
        <p:nvSpPr>
          <p:cNvPr id="17" name="Text 14"/>
          <p:cNvSpPr/>
          <p:nvPr/>
        </p:nvSpPr>
        <p:spPr>
          <a:xfrm>
            <a:off x="2993231" y="1889633"/>
            <a:ext cx="536563" cy="219670"/>
          </a:xfrm>
          <a:prstGeom prst="rect">
            <a:avLst/>
          </a:prstGeom>
          <a:noFill/>
          <a:ln/>
        </p:spPr>
        <p:txBody>
          <a:bodyPr wrap="none" lIns="0" tIns="0" rIns="0" bIns="0" rtlCol="0" anchor="ctr"/>
          <a:lstStyle/>
          <a:p>
            <a:pPr algn="ctr" indent="0" marL="0">
              <a:lnSpc>
                <a:spcPts val="1055"/>
              </a:lnSpc>
              <a:buNone/>
            </a:pPr>
            <a:r>
              <a:rPr lang="en-US" sz="800" dirty="0">
                <a:solidFill>
                  <a:srgbClr val="F87171"/>
                </a:solidFill>
                <a:latin typeface="Courier New" pitchFamily="34" charset="0"/>
                <a:ea typeface="Courier New" pitchFamily="34" charset="-122"/>
                <a:cs typeface="Courier New" pitchFamily="34" charset="-120"/>
              </a:rPr>
              <a:t>High</a:t>
            </a:r>
            <a:endParaRPr lang="en-US" sz="800" dirty="0"/>
          </a:p>
        </p:txBody>
      </p:sp>
      <p:sp>
        <p:nvSpPr>
          <p:cNvPr id="18" name="Text 15"/>
          <p:cNvSpPr/>
          <p:nvPr/>
        </p:nvSpPr>
        <p:spPr>
          <a:xfrm>
            <a:off x="4236244" y="1919101"/>
            <a:ext cx="4229100" cy="173593"/>
          </a:xfrm>
          <a:prstGeom prst="rect">
            <a:avLst/>
          </a:prstGeom>
          <a:noFill/>
          <a:ln/>
        </p:spPr>
        <p:txBody>
          <a:bodyPr wrap="square" lIns="0" tIns="0" rIns="0" bIns="0" rtlCol="0" anchor="t"/>
          <a:lstStyle/>
          <a:p>
            <a:pPr algn="l" indent="0" marL="0">
              <a:lnSpc>
                <a:spcPts val="1266"/>
              </a:lnSpc>
              <a:buNone/>
            </a:pPr>
            <a:r>
              <a:rPr lang="en-US" sz="844" dirty="0">
                <a:solidFill>
                  <a:srgbClr val="A7B0CE"/>
                </a:solidFill>
                <a:latin typeface="Carlito" pitchFamily="34" charset="0"/>
                <a:ea typeface="Carlito" pitchFamily="34" charset="-122"/>
                <a:cs typeface="Carlito" pitchFamily="34" charset="-120"/>
              </a:rPr>
              <a:t>Differentiate through industry-specific solutions</a:t>
            </a:r>
            <a:endParaRPr lang="en-US" sz="844" dirty="0"/>
          </a:p>
        </p:txBody>
      </p:sp>
      <p:sp>
        <p:nvSpPr>
          <p:cNvPr id="19" name="Shape 16"/>
          <p:cNvSpPr/>
          <p:nvPr/>
        </p:nvSpPr>
        <p:spPr>
          <a:xfrm>
            <a:off x="464344" y="2908176"/>
            <a:ext cx="8215313" cy="0"/>
          </a:xfrm>
          <a:prstGeom prst="line">
            <a:avLst/>
          </a:prstGeom>
          <a:noFill/>
          <a:ln w="7144">
            <a:solidFill>
              <a:srgbClr val="A7B0CE"/>
            </a:solidFill>
            <a:prstDash val="solid"/>
          </a:ln>
        </p:spPr>
      </p:sp>
      <p:sp>
        <p:nvSpPr>
          <p:cNvPr id="20" name="Text 17"/>
          <p:cNvSpPr/>
          <p:nvPr/>
        </p:nvSpPr>
        <p:spPr>
          <a:xfrm>
            <a:off x="678656" y="2533799"/>
            <a:ext cx="142875" cy="142875"/>
          </a:xfrm>
          <a:prstGeom prst="rect">
            <a:avLst/>
          </a:prstGeom>
          <a:noFill/>
          <a:ln/>
        </p:spPr>
        <p:txBody>
          <a:bodyPr wrap="none" lIns="0" tIns="0" rIns="0" bIns="0" rtlCol="0" anchor="ctr"/>
          <a:lstStyle/>
          <a:p>
            <a:pPr algn="ctr" indent="0" marL="0">
              <a:buNone/>
            </a:pPr>
            <a:r>
              <a:rPr lang="en-US" sz="1406" dirty="0">
                <a:solidFill>
                  <a:srgbClr val="A7B0CE"/>
                </a:solidFill>
                <a:latin typeface="Segoe UI Symbol" pitchFamily="34" charset="0"/>
                <a:ea typeface="Segoe UI Symbol" pitchFamily="34" charset="-122"/>
                <a:cs typeface="Segoe UI Symbol" pitchFamily="34" charset="-120"/>
              </a:rPr>
              <a:t>♟</a:t>
            </a:r>
            <a:endParaRPr lang="en-US" sz="1406" dirty="0"/>
          </a:p>
        </p:txBody>
      </p:sp>
      <p:sp>
        <p:nvSpPr>
          <p:cNvPr id="21" name="Text 18"/>
          <p:cNvSpPr/>
          <p:nvPr/>
        </p:nvSpPr>
        <p:spPr>
          <a:xfrm>
            <a:off x="907256" y="2514154"/>
            <a:ext cx="1914525" cy="196739"/>
          </a:xfrm>
          <a:prstGeom prst="rect">
            <a:avLst/>
          </a:prstGeom>
          <a:noFill/>
          <a:ln/>
        </p:spPr>
        <p:txBody>
          <a:bodyPr wrap="none" lIns="0" tIns="0" rIns="0" bIns="0" rtlCol="0" anchor="t"/>
          <a:lstStyle/>
          <a:p>
            <a:pPr algn="l" indent="0" marL="0">
              <a:lnSpc>
                <a:spcPts val="1434"/>
              </a:lnSpc>
              <a:buNone/>
            </a:pPr>
            <a:r>
              <a:rPr lang="en-US" sz="956" dirty="0">
                <a:solidFill>
                  <a:srgbClr val="EDEFF9"/>
                </a:solidFill>
                <a:latin typeface="Carlito" pitchFamily="34" charset="0"/>
                <a:ea typeface="Carlito" pitchFamily="34" charset="-122"/>
                <a:cs typeface="Carlito" pitchFamily="34" charset="-120"/>
              </a:rPr>
              <a:t>Talent Acquisition</a:t>
            </a:r>
            <a:endParaRPr lang="en-US" sz="956" dirty="0"/>
          </a:p>
        </p:txBody>
      </p:sp>
      <p:sp>
        <p:nvSpPr>
          <p:cNvPr id="22" name="Text 19"/>
          <p:cNvSpPr/>
          <p:nvPr/>
        </p:nvSpPr>
        <p:spPr>
          <a:xfrm>
            <a:off x="2970371" y="2482600"/>
            <a:ext cx="689774" cy="245274"/>
          </a:xfrm>
          <a:prstGeom prst="roundRect">
            <a:avLst>
              <a:gd name="adj" fmla="val 3879529"/>
            </a:avLst>
          </a:prstGeom>
          <a:solidFill>
            <a:srgbClr val="F59E0B">
              <a:alpha val="12000"/>
            </a:srgbClr>
          </a:solidFill>
          <a:ln w="7144">
            <a:solidFill>
              <a:srgbClr val="F59E0B"/>
            </a:solidFill>
            <a:prstDash val="solid"/>
          </a:ln>
        </p:spPr>
        <p:txBody>
          <a:bodyPr wrap="square" rtlCol="0" anchor="ctr"/>
          <a:lstStyle/>
          <a:p>
            <a:pPr indent="0" marL="0">
              <a:buNone/>
            </a:pPr>
            <a:endParaRPr lang="en-US" dirty="0"/>
          </a:p>
        </p:txBody>
      </p:sp>
      <p:sp>
        <p:nvSpPr>
          <p:cNvPr id="23" name="Text 20"/>
          <p:cNvSpPr/>
          <p:nvPr/>
        </p:nvSpPr>
        <p:spPr>
          <a:xfrm>
            <a:off x="3100388" y="2580233"/>
            <a:ext cx="50006" cy="50006"/>
          </a:xfrm>
          <a:prstGeom prst="roundRect">
            <a:avLst>
              <a:gd name="adj" fmla="val 66667"/>
            </a:avLst>
          </a:prstGeom>
          <a:solidFill>
            <a:srgbClr val="F59E0B"/>
          </a:solidFill>
          <a:ln/>
        </p:spPr>
        <p:txBody>
          <a:bodyPr wrap="square" rtlCol="0" anchor="ctr"/>
          <a:lstStyle/>
          <a:p>
            <a:pPr indent="0" marL="0">
              <a:buNone/>
            </a:pPr>
            <a:endParaRPr lang="en-US" dirty="0"/>
          </a:p>
        </p:txBody>
      </p:sp>
      <p:sp>
        <p:nvSpPr>
          <p:cNvPr id="24" name="Text 21"/>
          <p:cNvSpPr/>
          <p:nvPr/>
        </p:nvSpPr>
        <p:spPr>
          <a:xfrm>
            <a:off x="2993231" y="2495401"/>
            <a:ext cx="644054" cy="219670"/>
          </a:xfrm>
          <a:prstGeom prst="rect">
            <a:avLst/>
          </a:prstGeom>
          <a:noFill/>
          <a:ln/>
        </p:spPr>
        <p:txBody>
          <a:bodyPr wrap="none" lIns="0" tIns="0" rIns="0" bIns="0" rtlCol="0" anchor="ctr"/>
          <a:lstStyle/>
          <a:p>
            <a:pPr algn="ctr" indent="0" marL="0">
              <a:lnSpc>
                <a:spcPts val="1055"/>
              </a:lnSpc>
              <a:buNone/>
            </a:pPr>
            <a:r>
              <a:rPr lang="en-US" sz="800" dirty="0">
                <a:solidFill>
                  <a:srgbClr val="F59E0B"/>
                </a:solidFill>
                <a:latin typeface="Courier New" pitchFamily="34" charset="0"/>
                <a:ea typeface="Courier New" pitchFamily="34" charset="-122"/>
                <a:cs typeface="Courier New" pitchFamily="34" charset="-120"/>
              </a:rPr>
              <a:t>Medium</a:t>
            </a:r>
            <a:endParaRPr lang="en-US" sz="800" dirty="0"/>
          </a:p>
        </p:txBody>
      </p:sp>
      <p:sp>
        <p:nvSpPr>
          <p:cNvPr id="25" name="Text 22"/>
          <p:cNvSpPr/>
          <p:nvPr/>
        </p:nvSpPr>
        <p:spPr>
          <a:xfrm>
            <a:off x="4236244" y="2524869"/>
            <a:ext cx="4229100" cy="173593"/>
          </a:xfrm>
          <a:prstGeom prst="rect">
            <a:avLst/>
          </a:prstGeom>
          <a:noFill/>
          <a:ln/>
        </p:spPr>
        <p:txBody>
          <a:bodyPr wrap="square" lIns="0" tIns="0" rIns="0" bIns="0" rtlCol="0" anchor="t"/>
          <a:lstStyle/>
          <a:p>
            <a:pPr algn="l" indent="0" marL="0">
              <a:lnSpc>
                <a:spcPts val="1266"/>
              </a:lnSpc>
              <a:buNone/>
            </a:pPr>
            <a:r>
              <a:rPr lang="en-US" sz="844" dirty="0">
                <a:solidFill>
                  <a:srgbClr val="A7B0CE"/>
                </a:solidFill>
                <a:latin typeface="Carlito" pitchFamily="34" charset="0"/>
                <a:ea typeface="Carlito" pitchFamily="34" charset="-122"/>
                <a:cs typeface="Carlito" pitchFamily="34" charset="-120"/>
              </a:rPr>
              <a:t>Expanded university partnerships and competitive comp</a:t>
            </a:r>
            <a:endParaRPr lang="en-US" sz="844" dirty="0"/>
          </a:p>
        </p:txBody>
      </p:sp>
      <p:sp>
        <p:nvSpPr>
          <p:cNvPr id="26" name="Shape 23"/>
          <p:cNvSpPr/>
          <p:nvPr/>
        </p:nvSpPr>
        <p:spPr>
          <a:xfrm>
            <a:off x="464344" y="3513944"/>
            <a:ext cx="8215313" cy="0"/>
          </a:xfrm>
          <a:prstGeom prst="line">
            <a:avLst/>
          </a:prstGeom>
          <a:noFill/>
          <a:ln w="7144">
            <a:solidFill>
              <a:srgbClr val="A7B0CE"/>
            </a:solidFill>
            <a:prstDash val="solid"/>
          </a:ln>
        </p:spPr>
      </p:sp>
      <p:sp>
        <p:nvSpPr>
          <p:cNvPr id="27" name="Text 24"/>
          <p:cNvSpPr/>
          <p:nvPr/>
        </p:nvSpPr>
        <p:spPr>
          <a:xfrm>
            <a:off x="678656" y="3139567"/>
            <a:ext cx="142875" cy="142875"/>
          </a:xfrm>
          <a:prstGeom prst="rect">
            <a:avLst/>
          </a:prstGeom>
          <a:noFill/>
          <a:ln/>
        </p:spPr>
        <p:txBody>
          <a:bodyPr wrap="none" lIns="0" tIns="0" rIns="0" bIns="0" rtlCol="0" anchor="ctr"/>
          <a:lstStyle/>
          <a:p>
            <a:pPr algn="ctr" indent="0" marL="0">
              <a:buNone/>
            </a:pPr>
            <a:r>
              <a:rPr lang="en-US" sz="1406" dirty="0">
                <a:solidFill>
                  <a:srgbClr val="A7B0CE"/>
                </a:solidFill>
                <a:latin typeface="Segoe UI Symbol" pitchFamily="34" charset="0"/>
                <a:ea typeface="Segoe UI Symbol" pitchFamily="34" charset="-122"/>
                <a:cs typeface="Segoe UI Symbol" pitchFamily="34" charset="-120"/>
              </a:rPr>
              <a:t>⚖</a:t>
            </a:r>
            <a:endParaRPr lang="en-US" sz="1406" dirty="0"/>
          </a:p>
        </p:txBody>
      </p:sp>
      <p:sp>
        <p:nvSpPr>
          <p:cNvPr id="28" name="Text 25"/>
          <p:cNvSpPr/>
          <p:nvPr/>
        </p:nvSpPr>
        <p:spPr>
          <a:xfrm>
            <a:off x="907256" y="3119921"/>
            <a:ext cx="1914525" cy="196739"/>
          </a:xfrm>
          <a:prstGeom prst="rect">
            <a:avLst/>
          </a:prstGeom>
          <a:noFill/>
          <a:ln/>
        </p:spPr>
        <p:txBody>
          <a:bodyPr wrap="none" lIns="0" tIns="0" rIns="0" bIns="0" rtlCol="0" anchor="t"/>
          <a:lstStyle/>
          <a:p>
            <a:pPr algn="l" indent="0" marL="0">
              <a:lnSpc>
                <a:spcPts val="1434"/>
              </a:lnSpc>
              <a:buNone/>
            </a:pPr>
            <a:r>
              <a:rPr lang="en-US" sz="956" dirty="0">
                <a:solidFill>
                  <a:srgbClr val="EDEFF9"/>
                </a:solidFill>
                <a:latin typeface="Carlito" pitchFamily="34" charset="0"/>
                <a:ea typeface="Carlito" pitchFamily="34" charset="-122"/>
                <a:cs typeface="Carlito" pitchFamily="34" charset="-120"/>
              </a:rPr>
              <a:t>Regulatory Changes</a:t>
            </a:r>
            <a:endParaRPr lang="en-US" sz="956" dirty="0"/>
          </a:p>
        </p:txBody>
      </p:sp>
      <p:sp>
        <p:nvSpPr>
          <p:cNvPr id="29" name="Text 26"/>
          <p:cNvSpPr/>
          <p:nvPr/>
        </p:nvSpPr>
        <p:spPr>
          <a:xfrm>
            <a:off x="2970371" y="3088367"/>
            <a:ext cx="689774" cy="245274"/>
          </a:xfrm>
          <a:prstGeom prst="roundRect">
            <a:avLst>
              <a:gd name="adj" fmla="val 3879529"/>
            </a:avLst>
          </a:prstGeom>
          <a:solidFill>
            <a:srgbClr val="F59E0B">
              <a:alpha val="12000"/>
            </a:srgbClr>
          </a:solidFill>
          <a:ln w="7144">
            <a:solidFill>
              <a:srgbClr val="F59E0B"/>
            </a:solidFill>
            <a:prstDash val="solid"/>
          </a:ln>
        </p:spPr>
        <p:txBody>
          <a:bodyPr wrap="square" rtlCol="0" anchor="ctr"/>
          <a:lstStyle/>
          <a:p>
            <a:pPr indent="0" marL="0">
              <a:buNone/>
            </a:pPr>
            <a:endParaRPr lang="en-US" dirty="0"/>
          </a:p>
        </p:txBody>
      </p:sp>
      <p:sp>
        <p:nvSpPr>
          <p:cNvPr id="30" name="Text 27"/>
          <p:cNvSpPr/>
          <p:nvPr/>
        </p:nvSpPr>
        <p:spPr>
          <a:xfrm>
            <a:off x="3100388" y="3186001"/>
            <a:ext cx="50006" cy="50006"/>
          </a:xfrm>
          <a:prstGeom prst="roundRect">
            <a:avLst>
              <a:gd name="adj" fmla="val 66667"/>
            </a:avLst>
          </a:prstGeom>
          <a:solidFill>
            <a:srgbClr val="F59E0B"/>
          </a:solidFill>
          <a:ln/>
        </p:spPr>
        <p:txBody>
          <a:bodyPr wrap="square" rtlCol="0" anchor="ctr"/>
          <a:lstStyle/>
          <a:p>
            <a:pPr indent="0" marL="0">
              <a:buNone/>
            </a:pPr>
            <a:endParaRPr lang="en-US" dirty="0"/>
          </a:p>
        </p:txBody>
      </p:sp>
      <p:sp>
        <p:nvSpPr>
          <p:cNvPr id="31" name="Text 28"/>
          <p:cNvSpPr/>
          <p:nvPr/>
        </p:nvSpPr>
        <p:spPr>
          <a:xfrm>
            <a:off x="2993231" y="3101169"/>
            <a:ext cx="644054" cy="219670"/>
          </a:xfrm>
          <a:prstGeom prst="rect">
            <a:avLst/>
          </a:prstGeom>
          <a:noFill/>
          <a:ln/>
        </p:spPr>
        <p:txBody>
          <a:bodyPr wrap="none" lIns="0" tIns="0" rIns="0" bIns="0" rtlCol="0" anchor="ctr"/>
          <a:lstStyle/>
          <a:p>
            <a:pPr algn="ctr" indent="0" marL="0">
              <a:lnSpc>
                <a:spcPts val="1055"/>
              </a:lnSpc>
              <a:buNone/>
            </a:pPr>
            <a:r>
              <a:rPr lang="en-US" sz="800" dirty="0">
                <a:solidFill>
                  <a:srgbClr val="F59E0B"/>
                </a:solidFill>
                <a:latin typeface="Courier New" pitchFamily="34" charset="0"/>
                <a:ea typeface="Courier New" pitchFamily="34" charset="-122"/>
                <a:cs typeface="Courier New" pitchFamily="34" charset="-120"/>
              </a:rPr>
              <a:t>Medium</a:t>
            </a:r>
            <a:endParaRPr lang="en-US" sz="800" dirty="0"/>
          </a:p>
        </p:txBody>
      </p:sp>
      <p:sp>
        <p:nvSpPr>
          <p:cNvPr id="32" name="Text 29"/>
          <p:cNvSpPr/>
          <p:nvPr/>
        </p:nvSpPr>
        <p:spPr>
          <a:xfrm>
            <a:off x="4236244" y="3130637"/>
            <a:ext cx="4229100" cy="173593"/>
          </a:xfrm>
          <a:prstGeom prst="rect">
            <a:avLst/>
          </a:prstGeom>
          <a:noFill/>
          <a:ln/>
        </p:spPr>
        <p:txBody>
          <a:bodyPr wrap="square" lIns="0" tIns="0" rIns="0" bIns="0" rtlCol="0" anchor="t"/>
          <a:lstStyle/>
          <a:p>
            <a:pPr algn="l" indent="0" marL="0">
              <a:lnSpc>
                <a:spcPts val="1266"/>
              </a:lnSpc>
              <a:buNone/>
            </a:pPr>
            <a:r>
              <a:rPr lang="en-US" sz="844" dirty="0">
                <a:solidFill>
                  <a:srgbClr val="A7B0CE"/>
                </a:solidFill>
                <a:latin typeface="Carlito" pitchFamily="34" charset="0"/>
                <a:ea typeface="Carlito" pitchFamily="34" charset="-122"/>
                <a:cs typeface="Carlito" pitchFamily="34" charset="-120"/>
              </a:rPr>
              <a:t>Proactive compliance framework and dedicated legal team</a:t>
            </a:r>
            <a:endParaRPr lang="en-US" sz="844" dirty="0"/>
          </a:p>
        </p:txBody>
      </p:sp>
      <p:sp>
        <p:nvSpPr>
          <p:cNvPr id="33" name="Shape 30"/>
          <p:cNvSpPr/>
          <p:nvPr/>
        </p:nvSpPr>
        <p:spPr>
          <a:xfrm>
            <a:off x="464344" y="4119711"/>
            <a:ext cx="8215313" cy="0"/>
          </a:xfrm>
          <a:prstGeom prst="line">
            <a:avLst/>
          </a:prstGeom>
          <a:noFill/>
          <a:ln w="7144">
            <a:solidFill>
              <a:srgbClr val="A7B0CE"/>
            </a:solidFill>
            <a:prstDash val="solid"/>
          </a:ln>
        </p:spPr>
      </p:sp>
      <p:sp>
        <p:nvSpPr>
          <p:cNvPr id="34" name="Text 31"/>
          <p:cNvSpPr/>
          <p:nvPr/>
        </p:nvSpPr>
        <p:spPr>
          <a:xfrm>
            <a:off x="678656" y="3745334"/>
            <a:ext cx="142875" cy="142875"/>
          </a:xfrm>
          <a:prstGeom prst="rect">
            <a:avLst/>
          </a:prstGeom>
          <a:noFill/>
          <a:ln/>
        </p:spPr>
        <p:txBody>
          <a:bodyPr wrap="none" lIns="0" tIns="0" rIns="0" bIns="0" rtlCol="0" anchor="ctr"/>
          <a:lstStyle/>
          <a:p>
            <a:pPr algn="ctr" indent="0" marL="0">
              <a:buNone/>
            </a:pPr>
            <a:r>
              <a:rPr lang="en-US" sz="1406" dirty="0">
                <a:solidFill>
                  <a:srgbClr val="A7B0CE"/>
                </a:solidFill>
                <a:latin typeface="Segoe UI Symbol" pitchFamily="34" charset="0"/>
                <a:ea typeface="Segoe UI Symbol" pitchFamily="34" charset="-122"/>
                <a:cs typeface="Segoe UI Symbol" pitchFamily="34" charset="-120"/>
              </a:rPr>
              <a:t>↘</a:t>
            </a:r>
            <a:endParaRPr lang="en-US" sz="1406" dirty="0"/>
          </a:p>
        </p:txBody>
      </p:sp>
      <p:sp>
        <p:nvSpPr>
          <p:cNvPr id="35" name="Text 32"/>
          <p:cNvSpPr/>
          <p:nvPr/>
        </p:nvSpPr>
        <p:spPr>
          <a:xfrm>
            <a:off x="907256" y="3725689"/>
            <a:ext cx="1914525" cy="196739"/>
          </a:xfrm>
          <a:prstGeom prst="rect">
            <a:avLst/>
          </a:prstGeom>
          <a:noFill/>
          <a:ln/>
        </p:spPr>
        <p:txBody>
          <a:bodyPr wrap="none" lIns="0" tIns="0" rIns="0" bIns="0" rtlCol="0" anchor="t"/>
          <a:lstStyle/>
          <a:p>
            <a:pPr algn="l" indent="0" marL="0">
              <a:lnSpc>
                <a:spcPts val="1434"/>
              </a:lnSpc>
              <a:buNone/>
            </a:pPr>
            <a:r>
              <a:rPr lang="en-US" sz="956" dirty="0">
                <a:solidFill>
                  <a:srgbClr val="EDEFF9"/>
                </a:solidFill>
                <a:latin typeface="Carlito" pitchFamily="34" charset="0"/>
                <a:ea typeface="Carlito" pitchFamily="34" charset="-122"/>
                <a:cs typeface="Carlito" pitchFamily="34" charset="-120"/>
              </a:rPr>
              <a:t>Economic Downturn</a:t>
            </a:r>
            <a:endParaRPr lang="en-US" sz="956" dirty="0"/>
          </a:p>
        </p:txBody>
      </p:sp>
      <p:sp>
        <p:nvSpPr>
          <p:cNvPr id="36" name="Text 33"/>
          <p:cNvSpPr/>
          <p:nvPr/>
        </p:nvSpPr>
        <p:spPr>
          <a:xfrm>
            <a:off x="2973921" y="3694135"/>
            <a:ext cx="521382" cy="245274"/>
          </a:xfrm>
          <a:prstGeom prst="roundRect">
            <a:avLst>
              <a:gd name="adj" fmla="val 3879529"/>
            </a:avLst>
          </a:prstGeom>
          <a:solidFill>
            <a:srgbClr val="2DD4A7">
              <a:alpha val="14000"/>
            </a:srgbClr>
          </a:solidFill>
          <a:ln w="7144">
            <a:solidFill>
              <a:srgbClr val="2DD4A7"/>
            </a:solidFill>
            <a:prstDash val="solid"/>
          </a:ln>
        </p:spPr>
        <p:txBody>
          <a:bodyPr wrap="square" rtlCol="0" anchor="ctr"/>
          <a:lstStyle/>
          <a:p>
            <a:pPr indent="0" marL="0">
              <a:buNone/>
            </a:pPr>
            <a:endParaRPr lang="en-US" dirty="0"/>
          </a:p>
        </p:txBody>
      </p:sp>
      <p:sp>
        <p:nvSpPr>
          <p:cNvPr id="37" name="Text 34"/>
          <p:cNvSpPr/>
          <p:nvPr/>
        </p:nvSpPr>
        <p:spPr>
          <a:xfrm>
            <a:off x="3100388" y="3791769"/>
            <a:ext cx="50006" cy="50006"/>
          </a:xfrm>
          <a:prstGeom prst="roundRect">
            <a:avLst>
              <a:gd name="adj" fmla="val 66667"/>
            </a:avLst>
          </a:prstGeom>
          <a:solidFill>
            <a:srgbClr val="2DD4A7"/>
          </a:solidFill>
          <a:ln/>
        </p:spPr>
        <p:txBody>
          <a:bodyPr wrap="square" rtlCol="0" anchor="ctr"/>
          <a:lstStyle/>
          <a:p>
            <a:pPr indent="0" marL="0">
              <a:buNone/>
            </a:pPr>
            <a:endParaRPr lang="en-US" dirty="0"/>
          </a:p>
        </p:txBody>
      </p:sp>
      <p:sp>
        <p:nvSpPr>
          <p:cNvPr id="38" name="Text 35"/>
          <p:cNvSpPr/>
          <p:nvPr/>
        </p:nvSpPr>
        <p:spPr>
          <a:xfrm>
            <a:off x="2993231" y="3706937"/>
            <a:ext cx="482761" cy="219670"/>
          </a:xfrm>
          <a:prstGeom prst="rect">
            <a:avLst/>
          </a:prstGeom>
          <a:noFill/>
          <a:ln/>
        </p:spPr>
        <p:txBody>
          <a:bodyPr wrap="none" lIns="0" tIns="0" rIns="0" bIns="0" rtlCol="0" anchor="ctr"/>
          <a:lstStyle/>
          <a:p>
            <a:pPr algn="ctr" indent="0" marL="0">
              <a:lnSpc>
                <a:spcPts val="1055"/>
              </a:lnSpc>
              <a:buNone/>
            </a:pPr>
            <a:r>
              <a:rPr lang="en-US" sz="800" dirty="0">
                <a:solidFill>
                  <a:srgbClr val="2DD4A7"/>
                </a:solidFill>
                <a:latin typeface="Courier New" pitchFamily="34" charset="0"/>
                <a:ea typeface="Courier New" pitchFamily="34" charset="-122"/>
                <a:cs typeface="Courier New" pitchFamily="34" charset="-120"/>
              </a:rPr>
              <a:t>Low</a:t>
            </a:r>
            <a:endParaRPr lang="en-US" sz="800" dirty="0"/>
          </a:p>
        </p:txBody>
      </p:sp>
      <p:sp>
        <p:nvSpPr>
          <p:cNvPr id="39" name="Text 36"/>
          <p:cNvSpPr/>
          <p:nvPr/>
        </p:nvSpPr>
        <p:spPr>
          <a:xfrm>
            <a:off x="4236244" y="3736404"/>
            <a:ext cx="4229100" cy="173593"/>
          </a:xfrm>
          <a:prstGeom prst="rect">
            <a:avLst/>
          </a:prstGeom>
          <a:noFill/>
          <a:ln/>
        </p:spPr>
        <p:txBody>
          <a:bodyPr wrap="square" lIns="0" tIns="0" rIns="0" bIns="0" rtlCol="0" anchor="t"/>
          <a:lstStyle/>
          <a:p>
            <a:pPr algn="l" indent="0" marL="0">
              <a:lnSpc>
                <a:spcPts val="1266"/>
              </a:lnSpc>
              <a:buNone/>
            </a:pPr>
            <a:r>
              <a:rPr lang="en-US" sz="844" dirty="0">
                <a:solidFill>
                  <a:srgbClr val="A7B0CE"/>
                </a:solidFill>
                <a:latin typeface="Carlito" pitchFamily="34" charset="0"/>
                <a:ea typeface="Carlito" pitchFamily="34" charset="-122"/>
                <a:cs typeface="Carlito" pitchFamily="34" charset="-120"/>
              </a:rPr>
              <a:t>Diversified customer base and flexible pricing models</a:t>
            </a:r>
            <a:endParaRPr lang="en-US" sz="844" dirty="0"/>
          </a:p>
        </p:txBody>
      </p:sp>
      <p:sp>
        <p:nvSpPr>
          <p:cNvPr id="40" name="Text 37"/>
          <p:cNvSpPr/>
          <p:nvPr/>
        </p:nvSpPr>
        <p:spPr>
          <a:xfrm>
            <a:off x="678656" y="4351102"/>
            <a:ext cx="142875" cy="142875"/>
          </a:xfrm>
          <a:prstGeom prst="rect">
            <a:avLst/>
          </a:prstGeom>
          <a:noFill/>
          <a:ln/>
        </p:spPr>
        <p:txBody>
          <a:bodyPr wrap="none" lIns="0" tIns="0" rIns="0" bIns="0" rtlCol="0" anchor="ctr"/>
          <a:lstStyle/>
          <a:p>
            <a:pPr algn="ctr" indent="0" marL="0">
              <a:buNone/>
            </a:pPr>
            <a:r>
              <a:rPr lang="en-US" sz="1406" dirty="0">
                <a:solidFill>
                  <a:srgbClr val="A7B0CE"/>
                </a:solidFill>
                <a:latin typeface="Segoe UI Symbol" pitchFamily="34" charset="0"/>
                <a:ea typeface="Segoe UI Symbol" pitchFamily="34" charset="-122"/>
                <a:cs typeface="Segoe UI Symbol" pitchFamily="34" charset="-120"/>
              </a:rPr>
              <a:t>▦</a:t>
            </a:r>
            <a:endParaRPr lang="en-US" sz="1406" dirty="0"/>
          </a:p>
        </p:txBody>
      </p:sp>
      <p:sp>
        <p:nvSpPr>
          <p:cNvPr id="41" name="Text 38"/>
          <p:cNvSpPr/>
          <p:nvPr/>
        </p:nvSpPr>
        <p:spPr>
          <a:xfrm>
            <a:off x="907256" y="4331457"/>
            <a:ext cx="1914525" cy="196739"/>
          </a:xfrm>
          <a:prstGeom prst="rect">
            <a:avLst/>
          </a:prstGeom>
          <a:noFill/>
          <a:ln/>
        </p:spPr>
        <p:txBody>
          <a:bodyPr wrap="none" lIns="0" tIns="0" rIns="0" bIns="0" rtlCol="0" anchor="t"/>
          <a:lstStyle/>
          <a:p>
            <a:pPr algn="l" indent="0" marL="0">
              <a:lnSpc>
                <a:spcPts val="1434"/>
              </a:lnSpc>
              <a:buNone/>
            </a:pPr>
            <a:r>
              <a:rPr lang="en-US" sz="956" dirty="0">
                <a:solidFill>
                  <a:srgbClr val="EDEFF9"/>
                </a:solidFill>
                <a:latin typeface="Carlito" pitchFamily="34" charset="0"/>
                <a:ea typeface="Carlito" pitchFamily="34" charset="-122"/>
                <a:cs typeface="Carlito" pitchFamily="34" charset="-120"/>
              </a:rPr>
              <a:t>Technology Obsolescence</a:t>
            </a:r>
            <a:endParaRPr lang="en-US" sz="956" dirty="0"/>
          </a:p>
        </p:txBody>
      </p:sp>
      <p:sp>
        <p:nvSpPr>
          <p:cNvPr id="42" name="Text 39"/>
          <p:cNvSpPr/>
          <p:nvPr/>
        </p:nvSpPr>
        <p:spPr>
          <a:xfrm>
            <a:off x="2970371" y="4299903"/>
            <a:ext cx="689774" cy="245274"/>
          </a:xfrm>
          <a:prstGeom prst="roundRect">
            <a:avLst>
              <a:gd name="adj" fmla="val 3879529"/>
            </a:avLst>
          </a:prstGeom>
          <a:solidFill>
            <a:srgbClr val="F59E0B">
              <a:alpha val="12000"/>
            </a:srgbClr>
          </a:solidFill>
          <a:ln w="7144">
            <a:solidFill>
              <a:srgbClr val="F59E0B"/>
            </a:solidFill>
            <a:prstDash val="solid"/>
          </a:ln>
        </p:spPr>
        <p:txBody>
          <a:bodyPr wrap="square" rtlCol="0" anchor="ctr"/>
          <a:lstStyle/>
          <a:p>
            <a:pPr indent="0" marL="0">
              <a:buNone/>
            </a:pPr>
            <a:endParaRPr lang="en-US" dirty="0"/>
          </a:p>
        </p:txBody>
      </p:sp>
      <p:sp>
        <p:nvSpPr>
          <p:cNvPr id="43" name="Text 40"/>
          <p:cNvSpPr/>
          <p:nvPr/>
        </p:nvSpPr>
        <p:spPr>
          <a:xfrm>
            <a:off x="3100388" y="4397536"/>
            <a:ext cx="50006" cy="50006"/>
          </a:xfrm>
          <a:prstGeom prst="roundRect">
            <a:avLst>
              <a:gd name="adj" fmla="val 66667"/>
            </a:avLst>
          </a:prstGeom>
          <a:solidFill>
            <a:srgbClr val="F59E0B"/>
          </a:solidFill>
          <a:ln/>
        </p:spPr>
        <p:txBody>
          <a:bodyPr wrap="square" rtlCol="0" anchor="ctr"/>
          <a:lstStyle/>
          <a:p>
            <a:pPr indent="0" marL="0">
              <a:buNone/>
            </a:pPr>
            <a:endParaRPr lang="en-US" dirty="0"/>
          </a:p>
        </p:txBody>
      </p:sp>
      <p:sp>
        <p:nvSpPr>
          <p:cNvPr id="44" name="Text 41"/>
          <p:cNvSpPr/>
          <p:nvPr/>
        </p:nvSpPr>
        <p:spPr>
          <a:xfrm>
            <a:off x="2993231" y="4312704"/>
            <a:ext cx="644054" cy="219670"/>
          </a:xfrm>
          <a:prstGeom prst="rect">
            <a:avLst/>
          </a:prstGeom>
          <a:noFill/>
          <a:ln/>
        </p:spPr>
        <p:txBody>
          <a:bodyPr wrap="none" lIns="0" tIns="0" rIns="0" bIns="0" rtlCol="0" anchor="ctr"/>
          <a:lstStyle/>
          <a:p>
            <a:pPr algn="ctr" indent="0" marL="0">
              <a:lnSpc>
                <a:spcPts val="1055"/>
              </a:lnSpc>
              <a:buNone/>
            </a:pPr>
            <a:r>
              <a:rPr lang="en-US" sz="800" dirty="0">
                <a:solidFill>
                  <a:srgbClr val="F59E0B"/>
                </a:solidFill>
                <a:latin typeface="Courier New" pitchFamily="34" charset="0"/>
                <a:ea typeface="Courier New" pitchFamily="34" charset="-122"/>
                <a:cs typeface="Courier New" pitchFamily="34" charset="-120"/>
              </a:rPr>
              <a:t>Medium</a:t>
            </a:r>
            <a:endParaRPr lang="en-US" sz="800" dirty="0"/>
          </a:p>
        </p:txBody>
      </p:sp>
      <p:sp>
        <p:nvSpPr>
          <p:cNvPr id="45" name="Text 42"/>
          <p:cNvSpPr/>
          <p:nvPr/>
        </p:nvSpPr>
        <p:spPr>
          <a:xfrm>
            <a:off x="4236244" y="4342172"/>
            <a:ext cx="4229100" cy="173593"/>
          </a:xfrm>
          <a:prstGeom prst="rect">
            <a:avLst/>
          </a:prstGeom>
          <a:noFill/>
          <a:ln/>
        </p:spPr>
        <p:txBody>
          <a:bodyPr wrap="square" lIns="0" tIns="0" rIns="0" bIns="0" rtlCol="0" anchor="t"/>
          <a:lstStyle/>
          <a:p>
            <a:pPr algn="l" indent="0" marL="0">
              <a:lnSpc>
                <a:spcPts val="1266"/>
              </a:lnSpc>
              <a:buNone/>
            </a:pPr>
            <a:r>
              <a:rPr lang="en-US" sz="844" dirty="0">
                <a:solidFill>
                  <a:srgbClr val="A7B0CE"/>
                </a:solidFill>
                <a:latin typeface="Carlito" pitchFamily="34" charset="0"/>
                <a:ea typeface="Carlito" pitchFamily="34" charset="-122"/>
                <a:cs typeface="Carlito" pitchFamily="34" charset="-120"/>
              </a:rPr>
              <a:t>Continuous R&amp;D investment and modular architecture</a:t>
            </a:r>
            <a:endParaRPr lang="en-US" sz="844"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571625" y="-1714500"/>
            <a:ext cx="4429125" cy="4429125"/>
          </a:xfrm>
          <a:prstGeom prst="rect">
            <a:avLst/>
          </a:prstGeom>
        </p:spPr>
      </p:pic>
      <p:sp>
        <p:nvSpPr>
          <p:cNvPr id="3" name="Text 0"/>
          <p:cNvSpPr/>
          <p:nvPr/>
        </p:nvSpPr>
        <p:spPr>
          <a:xfrm>
            <a:off x="-1571625" y="-1714500"/>
            <a:ext cx="4429125" cy="4429125"/>
          </a:xfrm>
          <a:prstGeom prst="ellipse">
            <a:avLst/>
          </a:prstGeom>
          <a:solidFill>
            <a:srgbClr val="FFFFFF">
              <a:alpha val="0"/>
            </a:srgbClr>
          </a:solidFill>
          <a:ln/>
        </p:spPr>
        <p:txBody>
          <a:bodyPr wrap="square" rtlCol="0" anchor="ctr"/>
          <a:lstStyle/>
          <a:p>
            <a:pPr indent="0" marL="0">
              <a:buNone/>
            </a:pPr>
            <a:endParaRPr lang="en-US" dirty="0"/>
          </a:p>
        </p:txBody>
      </p:sp>
      <p:pic>
        <p:nvPicPr>
          <p:cNvPr id="4" name="Image 1" descr="preencoded.png">    </p:cNvPr>
          <p:cNvPicPr>
            <a:picLocks noChangeAspect="1"/>
          </p:cNvPicPr>
          <p:nvPr/>
        </p:nvPicPr>
        <p:blipFill>
          <a:blip r:embed="rId2"/>
          <a:stretch>
            <a:fillRect/>
          </a:stretch>
        </p:blipFill>
        <p:spPr>
          <a:xfrm>
            <a:off x="7000875" y="3571875"/>
            <a:ext cx="3286125" cy="3286125"/>
          </a:xfrm>
          <a:prstGeom prst="rect">
            <a:avLst/>
          </a:prstGeom>
        </p:spPr>
      </p:pic>
      <p:sp>
        <p:nvSpPr>
          <p:cNvPr id="5" name="Text 1"/>
          <p:cNvSpPr/>
          <p:nvPr/>
        </p:nvSpPr>
        <p:spPr>
          <a:xfrm>
            <a:off x="7000875" y="3571875"/>
            <a:ext cx="3286125" cy="3286125"/>
          </a:xfrm>
          <a:prstGeom prst="ellipse">
            <a:avLst/>
          </a:prstGeom>
          <a:solidFill>
            <a:srgbClr val="FFFFFF">
              <a:alpha val="0"/>
            </a:srgbClr>
          </a:solidFill>
          <a:ln/>
        </p:spPr>
        <p:txBody>
          <a:bodyPr wrap="square" rtlCol="0" anchor="ctr"/>
          <a:lstStyle/>
          <a:p>
            <a:pPr indent="0" marL="0">
              <a:buNone/>
            </a:pPr>
            <a:endParaRPr lang="en-US" dirty="0"/>
          </a:p>
        </p:txBody>
      </p:sp>
      <p:sp>
        <p:nvSpPr>
          <p:cNvPr id="6" name="Text 2"/>
          <p:cNvSpPr/>
          <p:nvPr/>
        </p:nvSpPr>
        <p:spPr>
          <a:xfrm>
            <a:off x="457200" y="400050"/>
            <a:ext cx="8636000" cy="164592"/>
          </a:xfrm>
          <a:prstGeom prst="rect">
            <a:avLst/>
          </a:prstGeom>
          <a:noFill/>
          <a:ln/>
        </p:spPr>
        <p:txBody>
          <a:bodyPr wrap="square" lIns="0" tIns="0" rIns="0" bIns="0" rtlCol="0" anchor="t"/>
          <a:lstStyle/>
          <a:p>
            <a:pPr algn="l" indent="0" marL="0">
              <a:lnSpc>
                <a:spcPts val="886"/>
              </a:lnSpc>
              <a:buNone/>
            </a:pPr>
            <a:r>
              <a:rPr lang="en-US" sz="800" spc="130" kern="0" dirty="0">
                <a:solidFill>
                  <a:srgbClr val="8B5CF6"/>
                </a:solidFill>
                <a:latin typeface="Courier New" pitchFamily="34" charset="0"/>
                <a:ea typeface="Courier New" pitchFamily="34" charset="-122"/>
                <a:cs typeface="Courier New" pitchFamily="34" charset="-120"/>
              </a:rPr>
              <a:t>INVESTMENT ASK &amp; NEXT STEPS</a:t>
            </a:r>
            <a:endParaRPr lang="en-US" sz="800" dirty="0"/>
          </a:p>
        </p:txBody>
      </p:sp>
      <p:sp>
        <p:nvSpPr>
          <p:cNvPr id="7" name="Text 3"/>
          <p:cNvSpPr/>
          <p:nvPr/>
        </p:nvSpPr>
        <p:spPr>
          <a:xfrm>
            <a:off x="457200" y="598289"/>
            <a:ext cx="8636000" cy="354902"/>
          </a:xfrm>
          <a:prstGeom prst="rect">
            <a:avLst/>
          </a:prstGeom>
          <a:noFill/>
          <a:ln/>
        </p:spPr>
        <p:txBody>
          <a:bodyPr wrap="none" lIns="0" tIns="0" rIns="0" bIns="0" rtlCol="0" anchor="t"/>
          <a:lstStyle/>
          <a:p>
            <a:pPr algn="l" indent="0" marL="0">
              <a:lnSpc>
                <a:spcPts val="2588"/>
              </a:lnSpc>
              <a:buNone/>
            </a:pPr>
            <a:r>
              <a:rPr lang="en-US" sz="2250" b="1" spc="-34" kern="0" dirty="0">
                <a:solidFill>
                  <a:srgbClr val="EDEFF9"/>
                </a:solidFill>
                <a:latin typeface="Carlito" pitchFamily="34" charset="0"/>
                <a:ea typeface="Carlito" pitchFamily="34" charset="-122"/>
                <a:cs typeface="Carlito" pitchFamily="34" charset="-120"/>
              </a:rPr>
              <a:t>Securing Growth Capital</a:t>
            </a:r>
            <a:endParaRPr lang="en-US" sz="2250" dirty="0"/>
          </a:p>
        </p:txBody>
      </p:sp>
      <p:sp>
        <p:nvSpPr>
          <p:cNvPr id="8" name="Text 4"/>
          <p:cNvSpPr/>
          <p:nvPr/>
        </p:nvSpPr>
        <p:spPr>
          <a:xfrm>
            <a:off x="457200" y="1098352"/>
            <a:ext cx="6717516" cy="156520"/>
          </a:xfrm>
          <a:prstGeom prst="rect">
            <a:avLst/>
          </a:prstGeom>
          <a:noFill/>
          <a:ln/>
        </p:spPr>
        <p:txBody>
          <a:bodyPr wrap="none" lIns="0" tIns="0" rIns="0" bIns="0" rtlCol="0" anchor="t">
            <a:normAutofit/>
          </a:bodyPr>
          <a:lstStyle/>
          <a:p>
            <a:pPr algn="l" indent="0" marL="0">
              <a:lnSpc>
                <a:spcPts val="886"/>
              </a:lnSpc>
              <a:buNone/>
            </a:pPr>
            <a:r>
              <a:rPr lang="en-US" sz="800" spc="118" kern="0" dirty="0">
                <a:solidFill>
                  <a:srgbClr val="A7B0CE"/>
                </a:solidFill>
                <a:latin typeface="Courier New" pitchFamily="34" charset="0"/>
                <a:ea typeface="Courier New" pitchFamily="34" charset="-122"/>
                <a:cs typeface="Courier New" pitchFamily="34" charset="-120"/>
              </a:rPr>
              <a:t>THE ASK</a:t>
            </a:r>
            <a:endParaRPr lang="en-US" sz="800" dirty="0"/>
          </a:p>
        </p:txBody>
      </p:sp>
      <p:sp>
        <p:nvSpPr>
          <p:cNvPr id="9" name="Text 5"/>
          <p:cNvSpPr/>
          <p:nvPr/>
        </p:nvSpPr>
        <p:spPr>
          <a:xfrm>
            <a:off x="457200" y="1282303"/>
            <a:ext cx="5514583" cy="632048"/>
          </a:xfrm>
          <a:prstGeom prst="rect">
            <a:avLst/>
          </a:prstGeom>
          <a:noFill/>
          <a:ln/>
        </p:spPr>
        <p:txBody>
          <a:bodyPr wrap="none" lIns="0" tIns="0" rIns="0" bIns="0" rtlCol="0" anchor="t"/>
          <a:lstStyle/>
          <a:p>
            <a:pPr algn="l" indent="0" marL="0">
              <a:lnSpc>
                <a:spcPts val="6912"/>
              </a:lnSpc>
              <a:buNone/>
            </a:pPr>
            <a:r>
              <a:rPr lang="en-US" sz="4608" b="1" spc="-138" kern="0" dirty="0">
                <a:solidFill>
                  <a:srgbClr val="EDEFF9"/>
                </a:solidFill>
                <a:latin typeface="Liberation Sans Narrow" pitchFamily="34" charset="0"/>
                <a:ea typeface="Liberation Sans Narrow" pitchFamily="34" charset="-122"/>
                <a:cs typeface="Liberation Sans Narrow" pitchFamily="34" charset="-120"/>
              </a:rPr>
              <a:t>$25M</a:t>
            </a:r>
            <a:pPr algn="l" indent="0" marL="0">
              <a:lnSpc>
                <a:spcPts val="6912"/>
              </a:lnSpc>
              <a:buNone/>
            </a:pPr>
            <a:r>
              <a:rPr lang="en-US" sz="844" dirty="0">
                <a:solidFill>
                  <a:srgbClr val="EDEFF9"/>
                </a:solidFill>
                <a:latin typeface="Carlito" pitchFamily="34" charset="0"/>
                <a:ea typeface="Carlito" pitchFamily="34" charset="-122"/>
                <a:cs typeface="Carlito" pitchFamily="34" charset="-120"/>
              </a:rPr>
              <a:t> </a:t>
            </a:r>
            <a:pPr algn="l" indent="0" marL="0">
              <a:lnSpc>
                <a:spcPts val="6912"/>
              </a:lnSpc>
              <a:buNone/>
            </a:pPr>
            <a:r>
              <a:rPr lang="en-US" sz="1463" dirty="0">
                <a:solidFill>
                  <a:srgbClr val="8B5CF6"/>
                </a:solidFill>
                <a:latin typeface="Carlito" pitchFamily="34" charset="0"/>
                <a:ea typeface="Carlito" pitchFamily="34" charset="-122"/>
                <a:cs typeface="Carlito" pitchFamily="34" charset="-120"/>
              </a:rPr>
              <a:t>Series C</a:t>
            </a:r>
            <a:endParaRPr lang="en-US" sz="844" dirty="0"/>
          </a:p>
        </p:txBody>
      </p:sp>
      <p:sp>
        <p:nvSpPr>
          <p:cNvPr id="10" name="Text 6"/>
          <p:cNvSpPr/>
          <p:nvPr/>
        </p:nvSpPr>
        <p:spPr>
          <a:xfrm>
            <a:off x="457200" y="2294930"/>
            <a:ext cx="6209346" cy="164592"/>
          </a:xfrm>
          <a:prstGeom prst="rect">
            <a:avLst/>
          </a:prstGeom>
          <a:noFill/>
          <a:ln/>
        </p:spPr>
        <p:txBody>
          <a:bodyPr wrap="none" lIns="0" tIns="0" rIns="0" bIns="0" rtlCol="0" anchor="t"/>
          <a:lstStyle/>
          <a:p>
            <a:pPr algn="l" indent="0" marL="0">
              <a:lnSpc>
                <a:spcPts val="886"/>
              </a:lnSpc>
              <a:buNone/>
            </a:pPr>
            <a:r>
              <a:rPr lang="en-US" sz="800" spc="118" kern="0" dirty="0">
                <a:solidFill>
                  <a:srgbClr val="A7B0CE"/>
                </a:solidFill>
                <a:latin typeface="Courier New" pitchFamily="34" charset="0"/>
                <a:ea typeface="Courier New" pitchFamily="34" charset="-122"/>
                <a:cs typeface="Courier New" pitchFamily="34" charset="-120"/>
              </a:rPr>
              <a:t>USE OF FUNDS</a:t>
            </a:r>
            <a:endParaRPr lang="en-US" sz="800" dirty="0"/>
          </a:p>
        </p:txBody>
      </p:sp>
      <p:sp>
        <p:nvSpPr>
          <p:cNvPr id="11" name="Text 7"/>
          <p:cNvSpPr/>
          <p:nvPr/>
        </p:nvSpPr>
        <p:spPr>
          <a:xfrm>
            <a:off x="457200" y="2536031"/>
            <a:ext cx="4458705" cy="173593"/>
          </a:xfrm>
          <a:prstGeom prst="rect">
            <a:avLst/>
          </a:prstGeom>
          <a:noFill/>
          <a:ln/>
        </p:spPr>
        <p:txBody>
          <a:bodyPr wrap="none" lIns="0" tIns="0" rIns="0" bIns="0" rtlCol="0" anchor="t"/>
          <a:lstStyle/>
          <a:p>
            <a:pPr algn="l" indent="0" marL="0">
              <a:lnSpc>
                <a:spcPts val="1266"/>
              </a:lnSpc>
              <a:buNone/>
            </a:pPr>
            <a:r>
              <a:rPr lang="en-US" sz="844" dirty="0">
                <a:solidFill>
                  <a:srgbClr val="EDEFF9"/>
                </a:solidFill>
                <a:latin typeface="Carlito" pitchFamily="34" charset="0"/>
                <a:ea typeface="Carlito" pitchFamily="34" charset="-122"/>
                <a:cs typeface="Carlito" pitchFamily="34" charset="-120"/>
              </a:rPr>
              <a:t>Product development</a:t>
            </a:r>
            <a:endParaRPr lang="en-US" sz="844" dirty="0"/>
          </a:p>
        </p:txBody>
      </p:sp>
      <p:sp>
        <p:nvSpPr>
          <p:cNvPr id="12" name="Text 8"/>
          <p:cNvSpPr/>
          <p:nvPr/>
        </p:nvSpPr>
        <p:spPr>
          <a:xfrm>
            <a:off x="4930192" y="2507456"/>
            <a:ext cx="371654" cy="208312"/>
          </a:xfrm>
          <a:prstGeom prst="rect">
            <a:avLst/>
          </a:prstGeom>
          <a:noFill/>
          <a:ln/>
        </p:spPr>
        <p:txBody>
          <a:bodyPr wrap="none" lIns="0" tIns="0" rIns="0" bIns="0" rtlCol="0" anchor="t"/>
          <a:lstStyle/>
          <a:p>
            <a:pPr algn="l" indent="0" marL="0">
              <a:lnSpc>
                <a:spcPts val="1519"/>
              </a:lnSpc>
              <a:buNone/>
            </a:pPr>
            <a:r>
              <a:rPr lang="en-US" sz="1013" dirty="0">
                <a:solidFill>
                  <a:srgbClr val="EDEFF9"/>
                </a:solidFill>
                <a:latin typeface="Liberation Sans Narrow" pitchFamily="34" charset="0"/>
                <a:ea typeface="Liberation Sans Narrow" pitchFamily="34" charset="-122"/>
                <a:cs typeface="Liberation Sans Narrow" pitchFamily="34" charset="-120"/>
              </a:rPr>
              <a:t>40%</a:t>
            </a:r>
            <a:endParaRPr lang="en-US" sz="1013" dirty="0"/>
          </a:p>
        </p:txBody>
      </p:sp>
      <p:sp>
        <p:nvSpPr>
          <p:cNvPr id="13" name="Text 9"/>
          <p:cNvSpPr/>
          <p:nvPr/>
        </p:nvSpPr>
        <p:spPr>
          <a:xfrm>
            <a:off x="457200" y="2750344"/>
            <a:ext cx="4705276" cy="57150"/>
          </a:xfrm>
          <a:prstGeom prst="roundRect">
            <a:avLst>
              <a:gd name="adj" fmla="val 16650000"/>
            </a:avLst>
          </a:prstGeom>
          <a:solidFill>
            <a:srgbClr val="1B2342"/>
          </a:solidFill>
          <a:ln/>
        </p:spPr>
        <p:txBody>
          <a:bodyPr wrap="square" rtlCol="0" anchor="ctr"/>
          <a:lstStyle/>
          <a:p>
            <a:pPr indent="0" marL="0">
              <a:buNone/>
            </a:pPr>
            <a:endParaRPr lang="en-US" dirty="0"/>
          </a:p>
        </p:txBody>
      </p:sp>
      <p:sp>
        <p:nvSpPr>
          <p:cNvPr id="14" name="Text 10"/>
          <p:cNvSpPr/>
          <p:nvPr/>
        </p:nvSpPr>
        <p:spPr>
          <a:xfrm>
            <a:off x="457200" y="2750344"/>
            <a:ext cx="1882043" cy="57150"/>
          </a:xfrm>
          <a:prstGeom prst="roundRect">
            <a:avLst>
              <a:gd name="adj" fmla="val 16650000"/>
            </a:avLst>
          </a:prstGeom>
          <a:solidFill>
            <a:srgbClr val="8B5CF6"/>
          </a:solidFill>
          <a:ln/>
        </p:spPr>
        <p:txBody>
          <a:bodyPr wrap="square" rtlCol="0" anchor="ctr"/>
          <a:lstStyle/>
          <a:p>
            <a:pPr indent="0" marL="0">
              <a:buNone/>
            </a:pPr>
            <a:endParaRPr lang="en-US" dirty="0"/>
          </a:p>
        </p:txBody>
      </p:sp>
      <p:sp>
        <p:nvSpPr>
          <p:cNvPr id="15" name="Text 11"/>
          <p:cNvSpPr/>
          <p:nvPr/>
        </p:nvSpPr>
        <p:spPr>
          <a:xfrm>
            <a:off x="457200" y="2928938"/>
            <a:ext cx="4458705" cy="173593"/>
          </a:xfrm>
          <a:prstGeom prst="rect">
            <a:avLst/>
          </a:prstGeom>
          <a:noFill/>
          <a:ln/>
        </p:spPr>
        <p:txBody>
          <a:bodyPr wrap="square" lIns="0" tIns="0" rIns="0" bIns="0" rtlCol="0" anchor="t"/>
          <a:lstStyle/>
          <a:p>
            <a:pPr algn="l" indent="0" marL="0">
              <a:lnSpc>
                <a:spcPts val="1266"/>
              </a:lnSpc>
              <a:buNone/>
            </a:pPr>
            <a:r>
              <a:rPr lang="en-US" sz="844" dirty="0">
                <a:solidFill>
                  <a:srgbClr val="EDEFF9"/>
                </a:solidFill>
                <a:latin typeface="Carlito" pitchFamily="34" charset="0"/>
                <a:ea typeface="Carlito" pitchFamily="34" charset="-122"/>
                <a:cs typeface="Carlito" pitchFamily="34" charset="-120"/>
              </a:rPr>
              <a:t>Sales &amp; marketing expansion</a:t>
            </a:r>
            <a:endParaRPr lang="en-US" sz="844" dirty="0"/>
          </a:p>
        </p:txBody>
      </p:sp>
      <p:sp>
        <p:nvSpPr>
          <p:cNvPr id="16" name="Text 12"/>
          <p:cNvSpPr/>
          <p:nvPr/>
        </p:nvSpPr>
        <p:spPr>
          <a:xfrm>
            <a:off x="4930192" y="2900363"/>
            <a:ext cx="371654" cy="208312"/>
          </a:xfrm>
          <a:prstGeom prst="rect">
            <a:avLst/>
          </a:prstGeom>
          <a:noFill/>
          <a:ln/>
        </p:spPr>
        <p:txBody>
          <a:bodyPr wrap="none" lIns="0" tIns="0" rIns="0" bIns="0" rtlCol="0" anchor="t"/>
          <a:lstStyle/>
          <a:p>
            <a:pPr algn="l" indent="0" marL="0">
              <a:lnSpc>
                <a:spcPts val="1519"/>
              </a:lnSpc>
              <a:buNone/>
            </a:pPr>
            <a:r>
              <a:rPr lang="en-US" sz="1013" dirty="0">
                <a:solidFill>
                  <a:srgbClr val="EDEFF9"/>
                </a:solidFill>
                <a:latin typeface="Liberation Sans Narrow" pitchFamily="34" charset="0"/>
                <a:ea typeface="Liberation Sans Narrow" pitchFamily="34" charset="-122"/>
                <a:cs typeface="Liberation Sans Narrow" pitchFamily="34" charset="-120"/>
              </a:rPr>
              <a:t>35%</a:t>
            </a:r>
            <a:endParaRPr lang="en-US" sz="1013" dirty="0"/>
          </a:p>
        </p:txBody>
      </p:sp>
      <p:sp>
        <p:nvSpPr>
          <p:cNvPr id="17" name="Text 13"/>
          <p:cNvSpPr/>
          <p:nvPr/>
        </p:nvSpPr>
        <p:spPr>
          <a:xfrm>
            <a:off x="457200" y="3143250"/>
            <a:ext cx="4705276" cy="57150"/>
          </a:xfrm>
          <a:prstGeom prst="roundRect">
            <a:avLst>
              <a:gd name="adj" fmla="val 16650000"/>
            </a:avLst>
          </a:prstGeom>
          <a:solidFill>
            <a:srgbClr val="1B2342"/>
          </a:solidFill>
          <a:ln/>
        </p:spPr>
        <p:txBody>
          <a:bodyPr wrap="square" rtlCol="0" anchor="ctr"/>
          <a:lstStyle/>
          <a:p>
            <a:pPr indent="0" marL="0">
              <a:buNone/>
            </a:pPr>
            <a:endParaRPr lang="en-US" dirty="0"/>
          </a:p>
        </p:txBody>
      </p:sp>
      <p:sp>
        <p:nvSpPr>
          <p:cNvPr id="18" name="Text 14"/>
          <p:cNvSpPr/>
          <p:nvPr/>
        </p:nvSpPr>
        <p:spPr>
          <a:xfrm>
            <a:off x="457200" y="3143250"/>
            <a:ext cx="1646746" cy="57150"/>
          </a:xfrm>
          <a:prstGeom prst="roundRect">
            <a:avLst>
              <a:gd name="adj" fmla="val 16650000"/>
            </a:avLst>
          </a:prstGeom>
          <a:solidFill>
            <a:srgbClr val="8B5CF6"/>
          </a:solidFill>
          <a:ln/>
        </p:spPr>
        <p:txBody>
          <a:bodyPr wrap="square" rtlCol="0" anchor="ctr"/>
          <a:lstStyle/>
          <a:p>
            <a:pPr indent="0" marL="0">
              <a:buNone/>
            </a:pPr>
            <a:endParaRPr lang="en-US" dirty="0"/>
          </a:p>
        </p:txBody>
      </p:sp>
      <p:sp>
        <p:nvSpPr>
          <p:cNvPr id="19" name="Text 15"/>
          <p:cNvSpPr/>
          <p:nvPr/>
        </p:nvSpPr>
        <p:spPr>
          <a:xfrm>
            <a:off x="457200" y="3321844"/>
            <a:ext cx="4458705" cy="173593"/>
          </a:xfrm>
          <a:prstGeom prst="rect">
            <a:avLst/>
          </a:prstGeom>
          <a:noFill/>
          <a:ln/>
        </p:spPr>
        <p:txBody>
          <a:bodyPr wrap="none" lIns="0" tIns="0" rIns="0" bIns="0" rtlCol="0" anchor="t"/>
          <a:lstStyle/>
          <a:p>
            <a:pPr algn="l" indent="0" marL="0">
              <a:lnSpc>
                <a:spcPts val="1266"/>
              </a:lnSpc>
              <a:buNone/>
            </a:pPr>
            <a:r>
              <a:rPr lang="en-US" sz="844" dirty="0">
                <a:solidFill>
                  <a:srgbClr val="EDEFF9"/>
                </a:solidFill>
                <a:latin typeface="Carlito" pitchFamily="34" charset="0"/>
                <a:ea typeface="Carlito" pitchFamily="34" charset="-122"/>
                <a:cs typeface="Carlito" pitchFamily="34" charset="-120"/>
              </a:rPr>
              <a:t>International expansion</a:t>
            </a:r>
            <a:endParaRPr lang="en-US" sz="844" dirty="0"/>
          </a:p>
        </p:txBody>
      </p:sp>
      <p:sp>
        <p:nvSpPr>
          <p:cNvPr id="20" name="Text 16"/>
          <p:cNvSpPr/>
          <p:nvPr/>
        </p:nvSpPr>
        <p:spPr>
          <a:xfrm>
            <a:off x="4930192" y="3293269"/>
            <a:ext cx="371654" cy="208312"/>
          </a:xfrm>
          <a:prstGeom prst="rect">
            <a:avLst/>
          </a:prstGeom>
          <a:noFill/>
          <a:ln/>
        </p:spPr>
        <p:txBody>
          <a:bodyPr wrap="none" lIns="0" tIns="0" rIns="0" bIns="0" rtlCol="0" anchor="t"/>
          <a:lstStyle/>
          <a:p>
            <a:pPr algn="l" indent="0" marL="0">
              <a:lnSpc>
                <a:spcPts val="1519"/>
              </a:lnSpc>
              <a:buNone/>
            </a:pPr>
            <a:r>
              <a:rPr lang="en-US" sz="1013" dirty="0">
                <a:solidFill>
                  <a:srgbClr val="EDEFF9"/>
                </a:solidFill>
                <a:latin typeface="Liberation Sans Narrow" pitchFamily="34" charset="0"/>
                <a:ea typeface="Liberation Sans Narrow" pitchFamily="34" charset="-122"/>
                <a:cs typeface="Liberation Sans Narrow" pitchFamily="34" charset="-120"/>
              </a:rPr>
              <a:t>15%</a:t>
            </a:r>
            <a:endParaRPr lang="en-US" sz="1013" dirty="0"/>
          </a:p>
        </p:txBody>
      </p:sp>
      <p:sp>
        <p:nvSpPr>
          <p:cNvPr id="21" name="Text 17"/>
          <p:cNvSpPr/>
          <p:nvPr/>
        </p:nvSpPr>
        <p:spPr>
          <a:xfrm>
            <a:off x="457200" y="3536156"/>
            <a:ext cx="4705276" cy="57150"/>
          </a:xfrm>
          <a:prstGeom prst="roundRect">
            <a:avLst>
              <a:gd name="adj" fmla="val 16650000"/>
            </a:avLst>
          </a:prstGeom>
          <a:solidFill>
            <a:srgbClr val="1B2342"/>
          </a:solidFill>
          <a:ln/>
        </p:spPr>
        <p:txBody>
          <a:bodyPr wrap="square" rtlCol="0" anchor="ctr"/>
          <a:lstStyle/>
          <a:p>
            <a:pPr indent="0" marL="0">
              <a:buNone/>
            </a:pPr>
            <a:endParaRPr lang="en-US" dirty="0"/>
          </a:p>
        </p:txBody>
      </p:sp>
      <p:sp>
        <p:nvSpPr>
          <p:cNvPr id="22" name="Text 18"/>
          <p:cNvSpPr/>
          <p:nvPr/>
        </p:nvSpPr>
        <p:spPr>
          <a:xfrm>
            <a:off x="457200" y="3536156"/>
            <a:ext cx="705780" cy="57150"/>
          </a:xfrm>
          <a:prstGeom prst="roundRect">
            <a:avLst>
              <a:gd name="adj" fmla="val 16650000"/>
            </a:avLst>
          </a:prstGeom>
          <a:solidFill>
            <a:srgbClr val="8B5CF6"/>
          </a:solidFill>
          <a:ln/>
        </p:spPr>
        <p:txBody>
          <a:bodyPr wrap="square" rtlCol="0" anchor="ctr"/>
          <a:lstStyle/>
          <a:p>
            <a:pPr indent="0" marL="0">
              <a:buNone/>
            </a:pPr>
            <a:endParaRPr lang="en-US" dirty="0"/>
          </a:p>
        </p:txBody>
      </p:sp>
      <p:sp>
        <p:nvSpPr>
          <p:cNvPr id="23" name="Text 19"/>
          <p:cNvSpPr/>
          <p:nvPr/>
        </p:nvSpPr>
        <p:spPr>
          <a:xfrm>
            <a:off x="457200" y="3714750"/>
            <a:ext cx="4458705" cy="173593"/>
          </a:xfrm>
          <a:prstGeom prst="rect">
            <a:avLst/>
          </a:prstGeom>
          <a:noFill/>
          <a:ln/>
        </p:spPr>
        <p:txBody>
          <a:bodyPr wrap="square" lIns="0" tIns="0" rIns="0" bIns="0" rtlCol="0" anchor="t"/>
          <a:lstStyle/>
          <a:p>
            <a:pPr algn="l" indent="0" marL="0">
              <a:lnSpc>
                <a:spcPts val="1266"/>
              </a:lnSpc>
              <a:buNone/>
            </a:pPr>
            <a:r>
              <a:rPr lang="en-US" sz="844" dirty="0">
                <a:solidFill>
                  <a:srgbClr val="EDEFF9"/>
                </a:solidFill>
                <a:latin typeface="Carlito" pitchFamily="34" charset="0"/>
                <a:ea typeface="Carlito" pitchFamily="34" charset="-122"/>
                <a:cs typeface="Carlito" pitchFamily="34" charset="-120"/>
              </a:rPr>
              <a:t>Talent acquisition</a:t>
            </a:r>
            <a:endParaRPr lang="en-US" sz="844" dirty="0"/>
          </a:p>
        </p:txBody>
      </p:sp>
      <p:sp>
        <p:nvSpPr>
          <p:cNvPr id="24" name="Text 20"/>
          <p:cNvSpPr/>
          <p:nvPr/>
        </p:nvSpPr>
        <p:spPr>
          <a:xfrm>
            <a:off x="4930192" y="3686175"/>
            <a:ext cx="371654" cy="208312"/>
          </a:xfrm>
          <a:prstGeom prst="rect">
            <a:avLst/>
          </a:prstGeom>
          <a:noFill/>
          <a:ln/>
        </p:spPr>
        <p:txBody>
          <a:bodyPr wrap="none" lIns="0" tIns="0" rIns="0" bIns="0" rtlCol="0" anchor="t"/>
          <a:lstStyle/>
          <a:p>
            <a:pPr algn="l" indent="0" marL="0">
              <a:lnSpc>
                <a:spcPts val="1519"/>
              </a:lnSpc>
              <a:buNone/>
            </a:pPr>
            <a:r>
              <a:rPr lang="en-US" sz="1013" dirty="0">
                <a:solidFill>
                  <a:srgbClr val="EDEFF9"/>
                </a:solidFill>
                <a:latin typeface="Liberation Sans Narrow" pitchFamily="34" charset="0"/>
                <a:ea typeface="Liberation Sans Narrow" pitchFamily="34" charset="-122"/>
                <a:cs typeface="Liberation Sans Narrow" pitchFamily="34" charset="-120"/>
              </a:rPr>
              <a:t>10%</a:t>
            </a:r>
            <a:endParaRPr lang="en-US" sz="1013" dirty="0"/>
          </a:p>
        </p:txBody>
      </p:sp>
      <p:sp>
        <p:nvSpPr>
          <p:cNvPr id="25" name="Text 21"/>
          <p:cNvSpPr/>
          <p:nvPr/>
        </p:nvSpPr>
        <p:spPr>
          <a:xfrm>
            <a:off x="457200" y="3929063"/>
            <a:ext cx="4705276" cy="57150"/>
          </a:xfrm>
          <a:prstGeom prst="roundRect">
            <a:avLst>
              <a:gd name="adj" fmla="val 16650000"/>
            </a:avLst>
          </a:prstGeom>
          <a:solidFill>
            <a:srgbClr val="1B2342"/>
          </a:solidFill>
          <a:ln/>
        </p:spPr>
        <p:txBody>
          <a:bodyPr wrap="square" rtlCol="0" anchor="ctr"/>
          <a:lstStyle/>
          <a:p>
            <a:pPr indent="0" marL="0">
              <a:buNone/>
            </a:pPr>
            <a:endParaRPr lang="en-US" dirty="0"/>
          </a:p>
        </p:txBody>
      </p:sp>
      <p:sp>
        <p:nvSpPr>
          <p:cNvPr id="26" name="Text 22"/>
          <p:cNvSpPr/>
          <p:nvPr/>
        </p:nvSpPr>
        <p:spPr>
          <a:xfrm>
            <a:off x="457200" y="3929063"/>
            <a:ext cx="470483" cy="57150"/>
          </a:xfrm>
          <a:prstGeom prst="roundRect">
            <a:avLst>
              <a:gd name="adj" fmla="val 16650000"/>
            </a:avLst>
          </a:prstGeom>
          <a:solidFill>
            <a:srgbClr val="8B5CF6"/>
          </a:solidFill>
          <a:ln/>
        </p:spPr>
        <p:txBody>
          <a:bodyPr wrap="square" rtlCol="0" anchor="ctr"/>
          <a:lstStyle/>
          <a:p>
            <a:pPr indent="0" marL="0">
              <a:buNone/>
            </a:pPr>
            <a:endParaRPr lang="en-US" dirty="0"/>
          </a:p>
        </p:txBody>
      </p:sp>
      <p:sp>
        <p:nvSpPr>
          <p:cNvPr id="27" name="Text 23"/>
          <p:cNvSpPr/>
          <p:nvPr/>
        </p:nvSpPr>
        <p:spPr>
          <a:xfrm>
            <a:off x="5391076" y="1098352"/>
            <a:ext cx="3295613" cy="2887861"/>
          </a:xfrm>
          <a:prstGeom prst="roundRect">
            <a:avLst>
              <a:gd name="adj" fmla="val 4618"/>
            </a:avLst>
          </a:prstGeom>
          <a:solidFill>
            <a:srgbClr val="151C36"/>
          </a:solidFill>
          <a:ln/>
        </p:spPr>
        <p:txBody>
          <a:bodyPr wrap="square" rtlCol="0" anchor="ctr"/>
          <a:lstStyle/>
          <a:p>
            <a:pPr indent="0" marL="0">
              <a:buNone/>
            </a:pPr>
            <a:endParaRPr lang="en-US" dirty="0"/>
          </a:p>
        </p:txBody>
      </p:sp>
      <p:sp>
        <p:nvSpPr>
          <p:cNvPr id="28" name="Shape 24"/>
          <p:cNvSpPr/>
          <p:nvPr/>
        </p:nvSpPr>
        <p:spPr>
          <a:xfrm>
            <a:off x="5391076" y="1101923"/>
            <a:ext cx="3295613" cy="0"/>
          </a:xfrm>
          <a:prstGeom prst="line">
            <a:avLst/>
          </a:prstGeom>
          <a:noFill/>
          <a:ln w="7144">
            <a:solidFill>
              <a:srgbClr val="A7B0CE"/>
            </a:solidFill>
            <a:prstDash val="solid"/>
          </a:ln>
        </p:spPr>
      </p:sp>
      <p:sp>
        <p:nvSpPr>
          <p:cNvPr id="29" name="Shape 25"/>
          <p:cNvSpPr/>
          <p:nvPr/>
        </p:nvSpPr>
        <p:spPr>
          <a:xfrm>
            <a:off x="8683117" y="1098352"/>
            <a:ext cx="0" cy="2887861"/>
          </a:xfrm>
          <a:prstGeom prst="line">
            <a:avLst/>
          </a:prstGeom>
          <a:noFill/>
          <a:ln w="7144">
            <a:solidFill>
              <a:srgbClr val="A7B0CE"/>
            </a:solidFill>
            <a:prstDash val="solid"/>
          </a:ln>
        </p:spPr>
      </p:sp>
      <p:sp>
        <p:nvSpPr>
          <p:cNvPr id="30" name="Shape 26"/>
          <p:cNvSpPr/>
          <p:nvPr/>
        </p:nvSpPr>
        <p:spPr>
          <a:xfrm>
            <a:off x="5391076" y="3982641"/>
            <a:ext cx="3295613" cy="0"/>
          </a:xfrm>
          <a:prstGeom prst="line">
            <a:avLst/>
          </a:prstGeom>
          <a:noFill/>
          <a:ln w="7144">
            <a:solidFill>
              <a:srgbClr val="A7B0CE"/>
            </a:solidFill>
            <a:prstDash val="solid"/>
          </a:ln>
        </p:spPr>
      </p:sp>
      <p:sp>
        <p:nvSpPr>
          <p:cNvPr id="31" name="Shape 27"/>
          <p:cNvSpPr/>
          <p:nvPr/>
        </p:nvSpPr>
        <p:spPr>
          <a:xfrm>
            <a:off x="5401791" y="1098352"/>
            <a:ext cx="0" cy="2887861"/>
          </a:xfrm>
          <a:prstGeom prst="line">
            <a:avLst/>
          </a:prstGeom>
          <a:noFill/>
          <a:ln w="21431">
            <a:solidFill>
              <a:srgbClr val="8B5CF6"/>
            </a:solidFill>
            <a:prstDash val="solid"/>
          </a:ln>
        </p:spPr>
      </p:sp>
      <p:sp>
        <p:nvSpPr>
          <p:cNvPr id="32" name="Text 28"/>
          <p:cNvSpPr/>
          <p:nvPr/>
        </p:nvSpPr>
        <p:spPr>
          <a:xfrm>
            <a:off x="5598244" y="1276945"/>
            <a:ext cx="2895563" cy="142232"/>
          </a:xfrm>
          <a:prstGeom prst="rect">
            <a:avLst/>
          </a:prstGeom>
          <a:noFill/>
          <a:ln/>
        </p:spPr>
        <p:txBody>
          <a:bodyPr wrap="none" lIns="0" tIns="0" rIns="0" bIns="0" rtlCol="0" anchor="t">
            <a:normAutofit/>
          </a:bodyPr>
          <a:lstStyle/>
          <a:p>
            <a:pPr algn="l" indent="0" marL="0">
              <a:lnSpc>
                <a:spcPts val="886"/>
              </a:lnSpc>
              <a:buNone/>
            </a:pPr>
            <a:r>
              <a:rPr lang="en-US" sz="800" spc="118" kern="0" dirty="0">
                <a:solidFill>
                  <a:srgbClr val="A7B0CE"/>
                </a:solidFill>
                <a:latin typeface="Courier New" pitchFamily="34" charset="0"/>
                <a:ea typeface="Courier New" pitchFamily="34" charset="-122"/>
                <a:cs typeface="Courier New" pitchFamily="34" charset="-120"/>
              </a:rPr>
              <a:t>TARGET OUTCOMES</a:t>
            </a:r>
            <a:endParaRPr lang="en-US" sz="800" dirty="0"/>
          </a:p>
        </p:txBody>
      </p:sp>
      <p:sp>
        <p:nvSpPr>
          <p:cNvPr id="33" name="Text 29"/>
          <p:cNvSpPr/>
          <p:nvPr/>
        </p:nvSpPr>
        <p:spPr>
          <a:xfrm>
            <a:off x="5598244" y="1679563"/>
            <a:ext cx="157163" cy="157163"/>
          </a:xfrm>
          <a:prstGeom prst="rect">
            <a:avLst/>
          </a:prstGeom>
          <a:noFill/>
          <a:ln/>
        </p:spPr>
        <p:txBody>
          <a:bodyPr wrap="none" lIns="0" tIns="0" rIns="0" bIns="0" rtlCol="0" anchor="ctr"/>
          <a:lstStyle/>
          <a:p>
            <a:pPr algn="ctr" indent="0" marL="0">
              <a:buNone/>
            </a:pPr>
            <a:r>
              <a:rPr lang="en-US" sz="1547" dirty="0">
                <a:solidFill>
                  <a:srgbClr val="2DD4A7"/>
                </a:solidFill>
                <a:latin typeface="Segoe UI Symbol" pitchFamily="34" charset="0"/>
                <a:ea typeface="Segoe UI Symbol" pitchFamily="34" charset="-122"/>
                <a:cs typeface="Segoe UI Symbol" pitchFamily="34" charset="-120"/>
              </a:rPr>
              <a:t>✓</a:t>
            </a:r>
            <a:endParaRPr lang="en-US" sz="1547" dirty="0"/>
          </a:p>
        </p:txBody>
      </p:sp>
      <p:sp>
        <p:nvSpPr>
          <p:cNvPr id="34" name="Text 30"/>
          <p:cNvSpPr/>
          <p:nvPr/>
        </p:nvSpPr>
        <p:spPr>
          <a:xfrm>
            <a:off x="5855419" y="1672419"/>
            <a:ext cx="1942917" cy="169133"/>
          </a:xfrm>
          <a:prstGeom prst="rect">
            <a:avLst/>
          </a:prstGeom>
          <a:noFill/>
          <a:ln/>
        </p:spPr>
        <p:txBody>
          <a:bodyPr wrap="square" lIns="0" tIns="0" rIns="0" bIns="0" rtlCol="0" anchor="t">
            <a:normAutofit/>
          </a:bodyPr>
          <a:lstStyle/>
          <a:p>
            <a:pPr algn="l" indent="0" marL="0">
              <a:lnSpc>
                <a:spcPts val="1323"/>
              </a:lnSpc>
              <a:buNone/>
            </a:pPr>
            <a:r>
              <a:rPr lang="en-US" sz="900" dirty="0">
                <a:solidFill>
                  <a:srgbClr val="EDEFF9"/>
                </a:solidFill>
                <a:latin typeface="Carlito" pitchFamily="34" charset="0"/>
                <a:ea typeface="Carlito" pitchFamily="34" charset="-122"/>
                <a:cs typeface="Carlito" pitchFamily="34" charset="-120"/>
              </a:rPr>
              <a:t>Reach </a:t>
            </a:r>
            <a:pPr algn="l" indent="0" marL="0">
              <a:lnSpc>
                <a:spcPts val="1323"/>
              </a:lnSpc>
              <a:buNone/>
            </a:pPr>
            <a:r>
              <a:rPr lang="en-US" sz="945" dirty="0">
                <a:solidFill>
                  <a:srgbClr val="EDEFF9"/>
                </a:solidFill>
                <a:latin typeface="Liberation Sans Narrow" pitchFamily="34" charset="0"/>
                <a:ea typeface="Liberation Sans Narrow" pitchFamily="34" charset="-122"/>
                <a:cs typeface="Liberation Sans Narrow" pitchFamily="34" charset="-120"/>
              </a:rPr>
              <a:t>$25M</a:t>
            </a:r>
            <a:pPr algn="l" indent="0" marL="0">
              <a:lnSpc>
                <a:spcPts val="1323"/>
              </a:lnSpc>
              <a:buNone/>
            </a:pPr>
            <a:r>
              <a:rPr lang="en-US" sz="900" dirty="0">
                <a:solidFill>
                  <a:srgbClr val="EDEFF9"/>
                </a:solidFill>
                <a:latin typeface="Carlito" pitchFamily="34" charset="0"/>
                <a:ea typeface="Carlito" pitchFamily="34" charset="-122"/>
                <a:cs typeface="Carlito" pitchFamily="34" charset="-120"/>
              </a:rPr>
              <a:t> ARR by end of </a:t>
            </a:r>
            <a:pPr algn="l" indent="0" marL="0">
              <a:lnSpc>
                <a:spcPts val="1323"/>
              </a:lnSpc>
              <a:buNone/>
            </a:pPr>
            <a:r>
              <a:rPr lang="en-US" sz="945" dirty="0">
                <a:solidFill>
                  <a:srgbClr val="EDEFF9"/>
                </a:solidFill>
                <a:latin typeface="Liberation Sans Narrow" pitchFamily="34" charset="0"/>
                <a:ea typeface="Liberation Sans Narrow" pitchFamily="34" charset="-122"/>
                <a:cs typeface="Liberation Sans Narrow" pitchFamily="34" charset="-120"/>
              </a:rPr>
              <a:t>2024</a:t>
            </a:r>
            <a:endParaRPr lang="en-US" sz="900" dirty="0"/>
          </a:p>
        </p:txBody>
      </p:sp>
      <p:sp>
        <p:nvSpPr>
          <p:cNvPr id="35" name="Text 31"/>
          <p:cNvSpPr/>
          <p:nvPr/>
        </p:nvSpPr>
        <p:spPr>
          <a:xfrm>
            <a:off x="5855419" y="1868984"/>
            <a:ext cx="1942917" cy="164592"/>
          </a:xfrm>
          <a:prstGeom prst="rect">
            <a:avLst/>
          </a:prstGeom>
          <a:noFill/>
          <a:ln/>
        </p:spPr>
        <p:txBody>
          <a:bodyPr wrap="square" lIns="0" tIns="0" rIns="0" bIns="0" rtlCol="0" anchor="t"/>
          <a:lstStyle/>
          <a:p>
            <a:pPr algn="l" indent="0" marL="0">
              <a:lnSpc>
                <a:spcPts val="1055"/>
              </a:lnSpc>
              <a:buNone/>
            </a:pPr>
            <a:r>
              <a:rPr lang="en-US" sz="703" dirty="0">
                <a:solidFill>
                  <a:srgbClr val="A7B0CE"/>
                </a:solidFill>
                <a:latin typeface="Carlito" pitchFamily="34" charset="0"/>
                <a:ea typeface="Carlito" pitchFamily="34" charset="-122"/>
                <a:cs typeface="Carlito" pitchFamily="34" charset="-120"/>
              </a:rPr>
              <a:t>100% ARR growth over the next 18 months</a:t>
            </a:r>
            <a:endParaRPr lang="en-US" sz="703" dirty="0"/>
          </a:p>
        </p:txBody>
      </p:sp>
      <p:sp>
        <p:nvSpPr>
          <p:cNvPr id="36" name="Text 32"/>
          <p:cNvSpPr/>
          <p:nvPr/>
        </p:nvSpPr>
        <p:spPr>
          <a:xfrm>
            <a:off x="5598244" y="2228738"/>
            <a:ext cx="2895563" cy="7144"/>
          </a:xfrm>
          <a:prstGeom prst="rect">
            <a:avLst/>
          </a:prstGeom>
          <a:solidFill>
            <a:srgbClr val="A7B0CE">
              <a:alpha val="18000"/>
            </a:srgbClr>
          </a:solidFill>
          <a:ln/>
        </p:spPr>
        <p:txBody>
          <a:bodyPr wrap="square" rtlCol="0" anchor="ctr"/>
          <a:lstStyle/>
          <a:p>
            <a:pPr indent="0" marL="0">
              <a:buNone/>
            </a:pPr>
            <a:endParaRPr lang="en-US" dirty="0"/>
          </a:p>
        </p:txBody>
      </p:sp>
      <p:sp>
        <p:nvSpPr>
          <p:cNvPr id="37" name="Text 33"/>
          <p:cNvSpPr/>
          <p:nvPr/>
        </p:nvSpPr>
        <p:spPr>
          <a:xfrm>
            <a:off x="5598244" y="2468835"/>
            <a:ext cx="157163" cy="157163"/>
          </a:xfrm>
          <a:prstGeom prst="rect">
            <a:avLst/>
          </a:prstGeom>
          <a:noFill/>
          <a:ln/>
        </p:spPr>
        <p:txBody>
          <a:bodyPr wrap="none" lIns="0" tIns="0" rIns="0" bIns="0" rtlCol="0" anchor="ctr"/>
          <a:lstStyle/>
          <a:p>
            <a:pPr algn="ctr" indent="0" marL="0">
              <a:buNone/>
            </a:pPr>
            <a:r>
              <a:rPr lang="en-US" sz="1547" dirty="0">
                <a:solidFill>
                  <a:srgbClr val="2DD4A7"/>
                </a:solidFill>
                <a:latin typeface="Segoe UI Symbol" pitchFamily="34" charset="0"/>
                <a:ea typeface="Segoe UI Symbol" pitchFamily="34" charset="-122"/>
                <a:cs typeface="Segoe UI Symbol" pitchFamily="34" charset="-120"/>
              </a:rPr>
              <a:t>✓</a:t>
            </a:r>
            <a:endParaRPr lang="en-US" sz="1547" dirty="0"/>
          </a:p>
        </p:txBody>
      </p:sp>
      <p:sp>
        <p:nvSpPr>
          <p:cNvPr id="38" name="Text 34"/>
          <p:cNvSpPr/>
          <p:nvPr/>
        </p:nvSpPr>
        <p:spPr>
          <a:xfrm>
            <a:off x="5855419" y="2461692"/>
            <a:ext cx="2232721" cy="169133"/>
          </a:xfrm>
          <a:prstGeom prst="rect">
            <a:avLst/>
          </a:prstGeom>
          <a:noFill/>
          <a:ln/>
        </p:spPr>
        <p:txBody>
          <a:bodyPr wrap="square" lIns="0" tIns="0" rIns="0" bIns="0" rtlCol="0" anchor="t">
            <a:normAutofit/>
          </a:bodyPr>
          <a:lstStyle/>
          <a:p>
            <a:pPr algn="l" indent="0" marL="0">
              <a:lnSpc>
                <a:spcPts val="1323"/>
              </a:lnSpc>
              <a:buNone/>
            </a:pPr>
            <a:r>
              <a:rPr lang="en-US" sz="900" dirty="0">
                <a:solidFill>
                  <a:srgbClr val="EDEFF9"/>
                </a:solidFill>
                <a:latin typeface="Carlito" pitchFamily="34" charset="0"/>
                <a:ea typeface="Carlito" pitchFamily="34" charset="-122"/>
                <a:cs typeface="Carlito" pitchFamily="34" charset="-120"/>
              </a:rPr>
              <a:t>Expand to </a:t>
            </a:r>
            <a:pPr algn="l" indent="0" marL="0">
              <a:lnSpc>
                <a:spcPts val="1323"/>
              </a:lnSpc>
              <a:buNone/>
            </a:pPr>
            <a:r>
              <a:rPr lang="en-US" sz="945" dirty="0">
                <a:solidFill>
                  <a:srgbClr val="EDEFF9"/>
                </a:solidFill>
                <a:latin typeface="Liberation Sans Narrow" pitchFamily="34" charset="0"/>
                <a:ea typeface="Liberation Sans Narrow" pitchFamily="34" charset="-122"/>
                <a:cs typeface="Liberation Sans Narrow" pitchFamily="34" charset="-120"/>
              </a:rPr>
              <a:t>500+</a:t>
            </a:r>
            <a:pPr algn="l" indent="0" marL="0">
              <a:lnSpc>
                <a:spcPts val="1323"/>
              </a:lnSpc>
              <a:buNone/>
            </a:pPr>
            <a:r>
              <a:rPr lang="en-US" sz="900" dirty="0">
                <a:solidFill>
                  <a:srgbClr val="EDEFF9"/>
                </a:solidFill>
                <a:latin typeface="Carlito" pitchFamily="34" charset="0"/>
                <a:ea typeface="Carlito" pitchFamily="34" charset="-122"/>
                <a:cs typeface="Carlito" pitchFamily="34" charset="-120"/>
              </a:rPr>
              <a:t> enterprise customers</a:t>
            </a:r>
            <a:endParaRPr lang="en-US" sz="900" dirty="0"/>
          </a:p>
        </p:txBody>
      </p:sp>
      <p:sp>
        <p:nvSpPr>
          <p:cNvPr id="39" name="Text 35"/>
          <p:cNvSpPr/>
          <p:nvPr/>
        </p:nvSpPr>
        <p:spPr>
          <a:xfrm>
            <a:off x="5855419" y="2658256"/>
            <a:ext cx="2170701" cy="164592"/>
          </a:xfrm>
          <a:prstGeom prst="rect">
            <a:avLst/>
          </a:prstGeom>
          <a:noFill/>
          <a:ln/>
        </p:spPr>
        <p:txBody>
          <a:bodyPr wrap="none" lIns="0" tIns="0" rIns="0" bIns="0" rtlCol="0" anchor="t"/>
          <a:lstStyle/>
          <a:p>
            <a:pPr algn="l" indent="0" marL="0">
              <a:lnSpc>
                <a:spcPts val="1055"/>
              </a:lnSpc>
              <a:buNone/>
            </a:pPr>
            <a:r>
              <a:rPr lang="en-US" sz="800" dirty="0">
                <a:solidFill>
                  <a:srgbClr val="A7B0CE"/>
                </a:solidFill>
                <a:latin typeface="Liberation Sans Narrow" pitchFamily="34" charset="0"/>
                <a:ea typeface="Liberation Sans Narrow" pitchFamily="34" charset="-122"/>
                <a:cs typeface="Liberation Sans Narrow" pitchFamily="34" charset="-120"/>
              </a:rPr>
              <a:t>Up from 342 today</a:t>
            </a:r>
            <a:endParaRPr lang="en-US" sz="800" dirty="0"/>
          </a:p>
        </p:txBody>
      </p:sp>
      <p:sp>
        <p:nvSpPr>
          <p:cNvPr id="40" name="Text 36"/>
          <p:cNvSpPr/>
          <p:nvPr/>
        </p:nvSpPr>
        <p:spPr>
          <a:xfrm>
            <a:off x="5598244" y="3018011"/>
            <a:ext cx="2895563" cy="7144"/>
          </a:xfrm>
          <a:prstGeom prst="rect">
            <a:avLst/>
          </a:prstGeom>
          <a:solidFill>
            <a:srgbClr val="A7B0CE">
              <a:alpha val="18000"/>
            </a:srgbClr>
          </a:solidFill>
          <a:ln/>
        </p:spPr>
        <p:txBody>
          <a:bodyPr wrap="square" rtlCol="0" anchor="ctr"/>
          <a:lstStyle/>
          <a:p>
            <a:pPr indent="0" marL="0">
              <a:buNone/>
            </a:pPr>
            <a:endParaRPr lang="en-US" dirty="0"/>
          </a:p>
        </p:txBody>
      </p:sp>
      <p:sp>
        <p:nvSpPr>
          <p:cNvPr id="41" name="Text 37"/>
          <p:cNvSpPr/>
          <p:nvPr/>
        </p:nvSpPr>
        <p:spPr>
          <a:xfrm>
            <a:off x="5598244" y="3258108"/>
            <a:ext cx="157163" cy="157163"/>
          </a:xfrm>
          <a:prstGeom prst="rect">
            <a:avLst/>
          </a:prstGeom>
          <a:noFill/>
          <a:ln/>
        </p:spPr>
        <p:txBody>
          <a:bodyPr wrap="none" lIns="0" tIns="0" rIns="0" bIns="0" rtlCol="0" anchor="ctr"/>
          <a:lstStyle/>
          <a:p>
            <a:pPr algn="ctr" indent="0" marL="0">
              <a:buNone/>
            </a:pPr>
            <a:r>
              <a:rPr lang="en-US" sz="1547" dirty="0">
                <a:solidFill>
                  <a:srgbClr val="2DD4A7"/>
                </a:solidFill>
                <a:latin typeface="Segoe UI Symbol" pitchFamily="34" charset="0"/>
                <a:ea typeface="Segoe UI Symbol" pitchFamily="34" charset="-122"/>
                <a:cs typeface="Segoe UI Symbol" pitchFamily="34" charset="-120"/>
              </a:rPr>
              <a:t>✓</a:t>
            </a:r>
            <a:endParaRPr lang="en-US" sz="1547" dirty="0"/>
          </a:p>
        </p:txBody>
      </p:sp>
      <p:sp>
        <p:nvSpPr>
          <p:cNvPr id="42" name="Text 38"/>
          <p:cNvSpPr/>
          <p:nvPr/>
        </p:nvSpPr>
        <p:spPr>
          <a:xfrm>
            <a:off x="5855419" y="3250964"/>
            <a:ext cx="1938215" cy="169133"/>
          </a:xfrm>
          <a:prstGeom prst="rect">
            <a:avLst/>
          </a:prstGeom>
          <a:noFill/>
          <a:ln/>
        </p:spPr>
        <p:txBody>
          <a:bodyPr wrap="square" lIns="0" tIns="0" rIns="0" bIns="0" rtlCol="0" anchor="t">
            <a:normAutofit/>
          </a:bodyPr>
          <a:lstStyle/>
          <a:p>
            <a:pPr algn="l" indent="0" marL="0">
              <a:lnSpc>
                <a:spcPts val="1323"/>
              </a:lnSpc>
              <a:buNone/>
            </a:pPr>
            <a:r>
              <a:rPr lang="en-US" sz="900" dirty="0">
                <a:solidFill>
                  <a:srgbClr val="EDEFF9"/>
                </a:solidFill>
                <a:latin typeface="Carlito" pitchFamily="34" charset="0"/>
                <a:ea typeface="Carlito" pitchFamily="34" charset="-122"/>
                <a:cs typeface="Carlito" pitchFamily="34" charset="-120"/>
              </a:rPr>
              <a:t>Achieve profitability by </a:t>
            </a:r>
            <a:pPr algn="l" indent="0" marL="0">
              <a:lnSpc>
                <a:spcPts val="1323"/>
              </a:lnSpc>
              <a:buNone/>
            </a:pPr>
            <a:r>
              <a:rPr lang="en-US" sz="945" dirty="0">
                <a:solidFill>
                  <a:srgbClr val="EDEFF9"/>
                </a:solidFill>
                <a:latin typeface="Liberation Sans Narrow" pitchFamily="34" charset="0"/>
                <a:ea typeface="Liberation Sans Narrow" pitchFamily="34" charset="-122"/>
                <a:cs typeface="Liberation Sans Narrow" pitchFamily="34" charset="-120"/>
              </a:rPr>
              <a:t>Q1 2025</a:t>
            </a:r>
            <a:endParaRPr lang="en-US" sz="900" dirty="0"/>
          </a:p>
        </p:txBody>
      </p:sp>
      <p:sp>
        <p:nvSpPr>
          <p:cNvPr id="43" name="Text 39"/>
          <p:cNvSpPr/>
          <p:nvPr/>
        </p:nvSpPr>
        <p:spPr>
          <a:xfrm>
            <a:off x="5855419" y="3447529"/>
            <a:ext cx="1884376" cy="164592"/>
          </a:xfrm>
          <a:prstGeom prst="rect">
            <a:avLst/>
          </a:prstGeom>
          <a:noFill/>
          <a:ln/>
        </p:spPr>
        <p:txBody>
          <a:bodyPr wrap="none" lIns="0" tIns="0" rIns="0" bIns="0" rtlCol="0" anchor="t"/>
          <a:lstStyle/>
          <a:p>
            <a:pPr algn="l" indent="0" marL="0">
              <a:lnSpc>
                <a:spcPts val="1055"/>
              </a:lnSpc>
              <a:buNone/>
            </a:pPr>
            <a:r>
              <a:rPr lang="en-US" sz="800" dirty="0">
                <a:solidFill>
                  <a:srgbClr val="A7B0CE"/>
                </a:solidFill>
                <a:latin typeface="Carlito" pitchFamily="34" charset="0"/>
                <a:ea typeface="Carlito" pitchFamily="34" charset="-122"/>
                <a:cs typeface="Carlito" pitchFamily="34" charset="-120"/>
              </a:rPr>
              <a:t>Ahead of schedule</a:t>
            </a:r>
            <a:endParaRPr lang="en-US" sz="800" dirty="0"/>
          </a:p>
        </p:txBody>
      </p:sp>
      <p:sp>
        <p:nvSpPr>
          <p:cNvPr id="44" name="Text 40"/>
          <p:cNvSpPr/>
          <p:nvPr/>
        </p:nvSpPr>
        <p:spPr>
          <a:xfrm>
            <a:off x="457200" y="4143375"/>
            <a:ext cx="8229600" cy="614363"/>
          </a:xfrm>
          <a:prstGeom prst="roundRect">
            <a:avLst>
              <a:gd name="adj" fmla="val 21705"/>
            </a:avLst>
          </a:prstGeom>
          <a:solidFill>
            <a:srgbClr val="151C36"/>
          </a:solidFill>
          <a:ln/>
        </p:spPr>
        <p:txBody>
          <a:bodyPr wrap="square" rtlCol="0" anchor="ctr"/>
          <a:lstStyle/>
          <a:p>
            <a:pPr indent="0" marL="0">
              <a:buNone/>
            </a:pPr>
            <a:endParaRPr lang="en-US" dirty="0"/>
          </a:p>
        </p:txBody>
      </p:sp>
      <p:sp>
        <p:nvSpPr>
          <p:cNvPr id="45" name="Shape 41"/>
          <p:cNvSpPr/>
          <p:nvPr/>
        </p:nvSpPr>
        <p:spPr>
          <a:xfrm>
            <a:off x="457200" y="4146947"/>
            <a:ext cx="8229600" cy="0"/>
          </a:xfrm>
          <a:prstGeom prst="line">
            <a:avLst/>
          </a:prstGeom>
          <a:noFill/>
          <a:ln w="7144">
            <a:solidFill>
              <a:srgbClr val="A7B0CE"/>
            </a:solidFill>
            <a:prstDash val="solid"/>
          </a:ln>
        </p:spPr>
      </p:sp>
      <p:sp>
        <p:nvSpPr>
          <p:cNvPr id="46" name="Shape 42"/>
          <p:cNvSpPr/>
          <p:nvPr/>
        </p:nvSpPr>
        <p:spPr>
          <a:xfrm>
            <a:off x="8683228" y="4143375"/>
            <a:ext cx="0" cy="614363"/>
          </a:xfrm>
          <a:prstGeom prst="line">
            <a:avLst/>
          </a:prstGeom>
          <a:noFill/>
          <a:ln w="7144">
            <a:solidFill>
              <a:srgbClr val="A7B0CE"/>
            </a:solidFill>
            <a:prstDash val="solid"/>
          </a:ln>
        </p:spPr>
      </p:sp>
      <p:sp>
        <p:nvSpPr>
          <p:cNvPr id="47" name="Shape 43"/>
          <p:cNvSpPr/>
          <p:nvPr/>
        </p:nvSpPr>
        <p:spPr>
          <a:xfrm>
            <a:off x="457200" y="4754166"/>
            <a:ext cx="8229600" cy="0"/>
          </a:xfrm>
          <a:prstGeom prst="line">
            <a:avLst/>
          </a:prstGeom>
          <a:noFill/>
          <a:ln w="7144">
            <a:solidFill>
              <a:srgbClr val="A7B0CE"/>
            </a:solidFill>
            <a:prstDash val="solid"/>
          </a:ln>
        </p:spPr>
      </p:sp>
      <p:sp>
        <p:nvSpPr>
          <p:cNvPr id="48" name="Shape 44"/>
          <p:cNvSpPr/>
          <p:nvPr/>
        </p:nvSpPr>
        <p:spPr>
          <a:xfrm>
            <a:off x="467916" y="4143375"/>
            <a:ext cx="0" cy="614363"/>
          </a:xfrm>
          <a:prstGeom prst="line">
            <a:avLst/>
          </a:prstGeom>
          <a:noFill/>
          <a:ln w="21431">
            <a:solidFill>
              <a:srgbClr val="8B5CF6"/>
            </a:solidFill>
            <a:prstDash val="solid"/>
          </a:ln>
        </p:spPr>
      </p:sp>
      <p:sp>
        <p:nvSpPr>
          <p:cNvPr id="49" name="Text 45"/>
          <p:cNvSpPr/>
          <p:nvPr/>
        </p:nvSpPr>
        <p:spPr>
          <a:xfrm>
            <a:off x="664369" y="4350544"/>
            <a:ext cx="200025" cy="200025"/>
          </a:xfrm>
          <a:prstGeom prst="rect">
            <a:avLst/>
          </a:prstGeom>
          <a:noFill/>
          <a:ln/>
        </p:spPr>
        <p:txBody>
          <a:bodyPr wrap="none" lIns="0" tIns="0" rIns="0" bIns="0" rtlCol="0" anchor="ctr"/>
          <a:lstStyle/>
          <a:p>
            <a:pPr algn="ctr" indent="0" marL="0">
              <a:buNone/>
            </a:pPr>
            <a:r>
              <a:rPr lang="en-US" sz="1969" dirty="0">
                <a:solidFill>
                  <a:srgbClr val="8B5CF6"/>
                </a:solidFill>
                <a:latin typeface="Segoe UI Symbol" pitchFamily="34" charset="0"/>
                <a:ea typeface="Segoe UI Symbol" pitchFamily="34" charset="-122"/>
                <a:cs typeface="Segoe UI Symbol" pitchFamily="34" charset="-120"/>
              </a:rPr>
              <a:t>“</a:t>
            </a:r>
            <a:endParaRPr lang="en-US" sz="1969" dirty="0"/>
          </a:p>
        </p:txBody>
      </p:sp>
      <p:sp>
        <p:nvSpPr>
          <p:cNvPr id="50" name="Text 46"/>
          <p:cNvSpPr/>
          <p:nvPr/>
        </p:nvSpPr>
        <p:spPr>
          <a:xfrm>
            <a:off x="978694" y="4279106"/>
            <a:ext cx="7515225" cy="342900"/>
          </a:xfrm>
          <a:prstGeom prst="rect">
            <a:avLst/>
          </a:prstGeom>
          <a:noFill/>
          <a:ln/>
        </p:spPr>
        <p:txBody>
          <a:bodyPr wrap="square" lIns="0" tIns="0" rIns="0" bIns="0" rtlCol="0" anchor="t"/>
          <a:lstStyle/>
          <a:p>
            <a:pPr algn="l" indent="0" marL="0">
              <a:lnSpc>
                <a:spcPts val="1350"/>
              </a:lnSpc>
              <a:buNone/>
            </a:pPr>
            <a:r>
              <a:rPr lang="en-US" sz="900" dirty="0">
                <a:solidFill>
                  <a:srgbClr val="EDEFF9"/>
                </a:solidFill>
                <a:latin typeface="Carlito" pitchFamily="34" charset="0"/>
                <a:ea typeface="Carlito" pitchFamily="34" charset="-122"/>
                <a:cs typeface="Carlito" pitchFamily="34" charset="-120"/>
              </a:rPr>
              <a:t>We invite you to join us in shaping the future of enterprise AI. Let’s schedule a follow-up discussion to explore how this investment can create substantial returns together.</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2026-10-26T18:57:45Z</dcterms:created>
  <dcterms:modified xsi:type="dcterms:W3CDTF">2026-10-26T18:57:45Z</dcterms:modified>
</cp:coreProperties>
</file>